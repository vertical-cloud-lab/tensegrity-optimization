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114" r:id="rId19"/>
    <p:sldId id="7115" r:id="rId18"/>
    <p:sldId id="7116" r:id="rId17"/>
    <p:sldId id="7018" r:id="rId23"/>
    <p:sldId id="7102" r:id="rId24"/>
    <p:sldId id="7103" r:id="rId25"/>
    <p:sldId id="7104" r:id="rId26"/>
    <p:sldId id="7105" r:id="rId27"/>
    <p:sldId id="7106" r:id="rId28"/>
    <p:sldId id="7107" r:id="rId29"/>
    <p:sldId id="7108" r:id="rId30"/>
    <p:sldId id="7109" r:id="rId31"/>
    <p:sldId id="7110" r:id="rId32"/>
    <p:sldId id="6494" r:id="rId35"/>
    <p:sldId id="7117" r:id="rId16"/>
    <p:sldId id="7118" r:id="rId15"/>
    <p:sldId id="7119" r:id="rId14"/>
    <p:sldId id="7120" r:id="rId33"/>
    <p:sldId id="7121" r:id="rId34"/>
    <p:sldId id="7122" r:id="rId13"/>
    <p:sldId id="7123" r:id="rId36"/>
    <p:sldId id="7124" r:id="rId37"/>
    <p:sldId id="7125"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23.xml"/><Relationship Id="rId14" Type="http://schemas.openxmlformats.org/officeDocument/2006/relationships/slide" Target="slides/slide20.xml"/><Relationship Id="rId15" Type="http://schemas.openxmlformats.org/officeDocument/2006/relationships/slide" Target="slides/slide19.xml"/><Relationship Id="rId16" Type="http://schemas.openxmlformats.org/officeDocument/2006/relationships/slide" Target="slides/slide18.xml"/><Relationship Id="rId17" Type="http://schemas.openxmlformats.org/officeDocument/2006/relationships/slide" Target="slides/slide17.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14.xml"/><Relationship Id="rId21" Type="http://schemas.openxmlformats.org/officeDocument/2006/relationships/slide" Target="slides/slide13.xml"/><Relationship Id="rId22" Type="http://schemas.openxmlformats.org/officeDocument/2006/relationships/slide" Target="slides/slide12.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1.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for the FEA-veteran persona: two independent measurements of the same millisecond. e* ~ 0.46 is the rebound coefficient; it is also a free reusability metric.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montage left to right in one sentence: entry, contact, turnaround, rebound, brake catch. Contact to turnaround is one millisecond — that is why 120 fps was never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The checkerboard is the whole reason the video is quantitative and not decorative.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teaching model is the fastest way to make the mechanism obvious: push it, it springs back, nothing is glued. Say out loud that load paths are tension-only in the 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Sterling Baird, Ph.D.</a:t>
            </a:r>
            <a:br>
              <a:rPr lang="en-CA" sz="2000" dirty="0"/>
            </a:br>
            <a:r>
              <a:rPr lang="en-CA" sz="2000" dirty="0"/>
              <a:t>Assistant Professor, Mech Eng</a:t>
            </a:r>
          </a:p>
          <a:p>
            <a:pPr algn="ctr"/>
            <a:endParaRPr lang="en-CA" sz="2000" dirty="0"/>
          </a:p>
          <a:p>
            <a:pPr algn="ctr"/>
            <a:endParaRPr lang="en-CA" sz="2000" dirty="0"/>
          </a:p>
          <a:p>
            <a:pPr algn="ctr"/>
            <a:endParaRPr lang="en-CA" sz="2000" dirty="0"/>
          </a:p>
          <a:p>
            <a:pPr algn="ctr"/>
            <a:endParaRPr lang="en-CA" sz="2000" dirty="0"/>
          </a:p>
          <a:p>
            <a:pPr algn="ctr"/>
            <a:r>
              <a:rPr lang="en-CA" sz="2000" dirty="0"/>
              <a:t>EMC</a:t>
            </a:r>
            <a:br>
              <a:rPr lang="en-CA" sz="2000" dirty="0"/>
            </a:br>
            <a:r>
              <a:rPr lang="en-CA" sz="2000" dirty="0">
                <a:solidFill>
                  <a:schemeClr val="bg1">
                    <a:lumMod val="50000"/>
                  </a:schemeClr>
                </a:solidFill>
              </a:rPr>
              <a:t>June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discover high-performing alloys</a:t>
            </a:r>
            <a:br>
              <a:rPr lang="en-CA" b="0" dirty="0"/>
            </a:br>
            <a:r>
              <a:rPr lang="en-CA" b="0" dirty="0"/>
              <a:t>	10x faster with AI at a tenth of the cost</a:t>
            </a:r>
            <a:br>
              <a:rPr lang="en-CA" b="0" dirty="0"/>
            </a:br>
            <a:r>
              <a:rPr lang="en-CA" b="0" dirty="0"/>
              <a:t>	</a:t>
            </a:r>
            <a:r>
              <a:rPr lang="en-CA" b="0" dirty="0">
                <a:solidFill>
                  <a:schemeClr val="bg1">
                    <a:lumMod val="50000"/>
                  </a:schemeClr>
                </a:solidFill>
              </a:rPr>
              <a:t>+ vertical cloud labs and frugal twins</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3.jpg"/><Relationship Id="rId5"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7–17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rigid struts that never touch each other, held apart by cables in pure tension.</a:t>
            </a:r>
          </a:p>
        </p:txBody>
      </p:sp>
      <p:pic>
        <p:nvPicPr>
          <p:cNvPr id="3" name="clip-tensegrity-2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1108" y="1737360"/>
            <a:ext cx="813930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18 s excerpt,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impact lasts about 1.6 ms, so we film every drop at 960 frames per second.</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331720"/>
            <a:ext cx="5760720" cy="3291840"/>
          </a:xfrm>
          <a:prstGeom prst="rect">
            <a:avLst/>
          </a:prstGeom>
          <a:noFill/>
        </p:spPr>
        <p:txBody>
          <a:bodyPr wrap="square">
            <a:spAutoFit/>
          </a:bodyPr>
          <a:lstStyle/>
          <a:p>
            <a:pPr algn="l">
              <a:spcAft>
                <a:spcPts val="2200"/>
              </a:spcAft>
            </a:pPr>
            <a:r>
              <a:rPr sz="2600" b="0">
                <a:solidFill>
                  <a:srgbClr val="0E2841"/>
                </a:solidFill>
              </a:rPr>
              <a:t>Sony RX100 IV at 959 fps</a:t>
            </a:r>
          </a:p>
          <a:p>
            <a:pPr algn="l">
              <a:spcAft>
                <a:spcPts val="2200"/>
              </a:spcAft>
            </a:pPr>
            <a:r>
              <a:rPr sz="2600" b="0">
                <a:solidFill>
                  <a:srgbClr val="0E2841"/>
                </a:solidFill>
              </a:rPr>
              <a:t>A 20 mm checkerboard turns pixels into millimetres</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Correlation tracking time-stamps every phase of the impact, from contact to rebound.</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 frames labelled in real milliseconds from turnaround (959.04 fps).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Camera and accelerometer agree: 5.3 m/s in, a ~1 ms pulse, and 46% of the speed comes back.</a:t>
            </a:r>
          </a:p>
        </p:txBody>
      </p:sp>
      <p:pic>
        <p:nvPicPr>
          <p:cNvPr id="3" name="Picture 2" descr="fig-video-velocity-drop1.png"/>
          <p:cNvPicPr>
            <a:picLocks noChangeAspect="1"/>
          </p:cNvPicPr>
          <p:nvPr/>
        </p:nvPicPr>
        <p:blipFill>
          <a:blip r:embed="rId2"/>
          <a:stretch>
            <a:fillRect/>
          </a:stretch>
        </p:blipFill>
        <p:spPr>
          <a:xfrm>
            <a:off x="2806776" y="1783080"/>
            <a:ext cx="6547968" cy="448056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Specimen velocity tracked from the 959 fps footage; the DAQ measured a 1.6 ms pulse on the same drop.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TP4 DAQ · Dytran 3133A4 accelerometers</a:t>
            </a:r>
          </a:p>
          <a:p>
            <a:pPr algn="l">
              <a:spcAft>
                <a:spcPts val="1600"/>
              </a:spcAft>
            </a:pPr>
            <a:r>
              <a:rPr sz="2600" b="0">
                <a:solidFill>
                  <a:srgbClr val="0E2841"/>
                </a:solidFill>
              </a:rPr>
              <a:t>Key-seat mounting on the payload, felt stack on the anvil</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(24)</a:t>
            </a:r>
          </a:p>
          <a:p>
            <a:pPr algn="l">
              <a:spcAft>
                <a:spcPts val="800"/>
              </a:spcAft>
            </a:pPr>
            <a:r>
              <a:rPr sz="2000" b="0">
                <a:solidFill>
                  <a:srgbClr val="0E2841"/>
                </a:solidFill>
              </a:rPr>
              <a:t>Channel clipping at high drops → headroom check → spoken on slide 22</a:t>
            </a:r>
          </a:p>
          <a:p>
            <a:pPr algn="l">
              <a:spcAft>
                <a:spcPts val="800"/>
              </a:spcAft>
            </a:pPr>
            <a:r>
              <a:rPr sz="2000" b="0">
                <a:solidFill>
                  <a:srgbClr val="0E2841"/>
                </a:solidFill>
              </a:rPr>
              <a:t>120 fps too slow → 960 fps study → spoken on slide 19</a:t>
            </a:r>
          </a:p>
          <a:p>
            <a:pPr algn="l">
              <a:spcAft>
                <a:spcPts val="800"/>
              </a:spcAft>
            </a:pPr>
            <a:r>
              <a:rPr sz="2000" b="0">
                <a:solidFill>
                  <a:srgbClr val="0E2841"/>
                </a:solidFill>
              </a:rPr>
              <a:t>Felt stack drifts with use → replace on schedule → spoken on slide 22</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2000" b="0">
                <a:solidFill>
                  <a:srgbClr val="0E2841"/>
                </a:solidFill>
              </a:rPr>
              <a:t>EMBEDDED HERE: Titan descent · 2D tensegrity · SUPERball drop · our 960 fps drop</a:t>
            </a:r>
          </a:p>
          <a:p>
            <a:pPr algn="l">
              <a:spcAft>
                <a:spcPts val="1000"/>
              </a:spcAft>
            </a:pPr>
            <a:r>
              <a:rPr sz="2000" b="0">
                <a:solidFill>
                  <a:srgbClr val="0E2841"/>
                </a:solidFill>
              </a:rPr>
              <a:t>ONLINE: print timelapses on YouTube — Insert ▸ Video ▸ Online Video; keep a local copy as backup</a:t>
            </a:r>
          </a:p>
          <a:p>
            <a:pPr algn="l">
              <a:spcAft>
                <a:spcPts val="1000"/>
              </a:spcAft>
            </a:pPr>
            <a:r>
              <a:rPr sz="2000" b="0">
                <a:solidFill>
                  <a:srgbClr val="0E2841"/>
                </a:solidFill>
              </a:rPr>
              <a:t>STILL NEEDED: drop-tower photo, printer bed shot, campaign ledger and Pareto-front figures</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