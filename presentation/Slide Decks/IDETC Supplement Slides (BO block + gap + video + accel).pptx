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11" r:id="rId22"/>
    <p:sldId id="7112" r:id="rId21"/>
    <p:sldId id="7113" r:id="rId20"/>
    <p:sldId id="7114" r:id="rId19"/>
    <p:sldId id="7115" r:id="rId18"/>
    <p:sldId id="7116" r:id="rId17"/>
    <p:sldId id="7117" r:id="rId16"/>
    <p:sldId id="7018" r:id="rId23"/>
    <p:sldId id="7102" r:id="rId24"/>
    <p:sldId id="7103" r:id="rId25"/>
    <p:sldId id="7104" r:id="rId26"/>
    <p:sldId id="7105" r:id="rId27"/>
    <p:sldId id="7106" r:id="rId28"/>
    <p:sldId id="7107" r:id="rId29"/>
    <p:sldId id="7108" r:id="rId30"/>
    <p:sldId id="7109" r:id="rId31"/>
    <p:sldId id="7110" r:id="rId32"/>
    <p:sldId id="6494" r:id="rId35"/>
    <p:sldId id="7118" r:id="rId15"/>
    <p:sldId id="7119" r:id="rId14"/>
    <p:sldId id="7120" r:id="rId33"/>
    <p:sldId id="7121" r:id="rId34"/>
    <p:sldId id="7122" r:id="rId13"/>
    <p:sldId id="7123" r:id="rId36"/>
    <p:sldId id="7124" r:id="rId37"/>
    <p:sldId id="7125" r:id="rId38"/>
    <p:sldId id="7126" r:id="rId39"/>
    <p:sldId id="7127" r:id="rId40"/>
    <p:sldId id="7128" r:id="rId41"/>
    <p:sldId id="7129" r:id="rId42"/>
    <p:sldId id="7130" r:id="rId43"/>
    <p:sldId id="7131" r:id="rId44"/>
    <p:sldId id="7132" r:id="rId45"/>
    <p:sldId id="7133" r:id="rId46"/>
    <p:sldId id="7134" r:id="rId47"/>
    <p:sldId id="7135" r:id="rId48"/>
    <p:sldId id="7136"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23.xml"/><Relationship Id="rId14" Type="http://schemas.openxmlformats.org/officeDocument/2006/relationships/slide" Target="slides/slide20.xml"/><Relationship Id="rId15" Type="http://schemas.openxmlformats.org/officeDocument/2006/relationships/slide" Target="slides/slide19.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2.xml"/><Relationship Id="rId22" Type="http://schemas.openxmlformats.org/officeDocument/2006/relationships/slide" Target="slides/slide1.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8.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with sound. Roughly eight times slower than real time (1.6 s of descent for a fall that takes under 0.26 s), which is the usual 240 fps phone mode. This is the cheap instrument and it earned its place: phone slow-mo is how we caught the specimen lifting off the base plate on the bungee-assisted tower, and how we caught the accelerometer coming loose. It sets up the next two slides, which say what the fast camera is and is not for.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WITH SOUND ON. Seven seconds, real time, whole room. The bang is the point: it tells the audience how violent a millisecond-scale event this is before any plot appears. Then say the standard condition out loud — 60 in onto the same felt stack every time, repeated per specimen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slide, ten seconds. Say the mitigation out loud: painted manual supports and a 0.4 mm tip cut removal time, and automating this step is exactly what stands between us and a self-driving lab. Do not over-dwell; it is a caveat,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clip opens the background addendum; keep whichever copy survives into the final deck, not both. Spoken line: twenty-odd minutes of printing and no assembly step is what makes a design-per-day loop possible at all. Play it once, silently.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the moment multi-material printing appears — do not let the audience discover it in Q&amp;A. Pair it with the path forward (issue #87 pre-tensioning) so it reads as scope,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talk slide. Built by presentation/build_supplement_deck.py.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Play the clip silently, say nothing for the first five seconds. Then the scope line: a printed PLA-TPU T3 prism is our proxy for developing the workflow, not flight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2D teaching model is the fastest way to make the mechanism obvious: push it, it springs back, nothing is glued. Say out loud that load paths are tension-only in the 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ONE WITH SOUND — the audio is the slide. He holds a tensegrity baby toy, says they are made as baby toys because they are almost impossible to break, throws it at the floor, and lands on “hey, that's a landing robot.” Say nothing over it; pick up with our own version of that idea. He reaches “planetary landers” verbatim a few seconds later in the source video if you ever want the longer cut (24.5-31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it once, silently. Say the honest thing out loud: 960 fps cannot resolve a 1.6 ms pulse — one frame is 1.04 ms. The accelerometer owns the pulse; the camera owns everything after it, and everything after it is slow. Resolving specimen compression *during* the pulse would need &gt;=5000 fps DIC (docs/drop-test-prc1kn-video-analysis.md, section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claim made with our own data instead of NASA's, and it is squarely in the post-pulse regime the previous slide said the camera owns. Snap-back at ~0.7x impact speed with visibly intact specimens is in the 60in-5felts video writeup. Say it plainly: a crushable absorber would not do this, and it is why one specimen can serve many drops in the campaign.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in one sentence: entry, contact, turnaround, rebound, brake catch, hold. Do not claim the montage resolves the pulse — contact and turnaround are adjacent frames. What it does prove is rig physics and specimen integrity: one shock per drop, no plastic deformation, and the anti-rebound brake catching 150 mm above the stack.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works by conceding the limit rather than hiding it. Point at the step: there are no camera samples inside the pulse, only on either side of it. That is why the accelerometer, not the video, produces the objectives. The camera's own deliverable is the scale-free coefficient of restitution (0.45) — a free reusability metric — plus rig physics and specimen integrity. Do not say the two instruments 'agree on the same drop': the prc1kn videos were shot ~5.5 h before that DAQ campaign, so drop-level pairing is not possible (docs/drop-test-prc1kn-video-analysis.md).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photo of the tower here before the talk if one is available; the text is a stand-in, not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explain the filter classes. Say: raw data ring at mounting resonance, the standard filter removes it, and what survives is the objective function.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issue #94 directly: this is the black box opened. Four steps, one sentence each. The only judgement calls are step 2 and step 3 — and both of them bit us, which is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issue #94. CFC-180 is a 300 Hz corner, CFC-1000 is 1650 Hz — the number in the class name times 1.65. Neither is more correct; CFC-180 is the automotive-crash convention for what a body feels, CFC-1000 keeps the structural ringing we need to hear the specimen. That is why our tables report both, and why moving between them changed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version of the answer to Sterling's question in #94. We did not abandon CFC-180; we stopped using it as the only band, because at a 300 Hz corner the specimen's own mode is filtered away and every design looks alike. If asked which one feeds the optimizer: the constraint is CFC-180, the discrimination diagnostics are CFC-1000.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challenge slide Sterling asked to intersperse. It buys enormous credibility: we found our own error, and the cross-check is now routine.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is the direct answer to issue #94's “we would like to spot-check you.” Deliver it without drama: we asked for the analysis to be attacked, four of our grounds fell, we marked the document superseded rather than quietly patching it. If a reviewer asks what else it touched: two sibling analyses share the baseline, both flagged for re-run.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Q&amp;A, and the place to put the Colab link once the tutorial notebook from issue #94 exists. The spoken version is one sentence: nothing here is a black box you have to take on trust.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Marcus Madsen</a:t>
            </a:r>
            <a:br>
              <a:rPr lang="en-CA" sz="2000" dirty="0"/>
            </a:br>
            <a:r>
              <a:rPr lang="en-CA" sz="2000" dirty="0"/>
              <a:t>Research Assistant</a:t>
            </a:r>
          </a:p>
          <a:p>
            <a:pPr algn="ctr"/>
            <a:endParaRPr lang="en-CA" sz="2000" dirty="0"/>
          </a:p>
          <a:p>
            <a:pPr algn="ctr"/>
            <a:endParaRPr lang="en-CA" sz="2000" dirty="0"/>
          </a:p>
          <a:p>
            <a:pPr algn="ctr"/>
            <a:endParaRPr lang="en-CA" sz="2000" dirty="0"/>
          </a:p>
          <a:p>
            <a:pPr algn="ctr"/>
            <a:endParaRPr lang="en-CA" sz="2000" dirty="0"/>
          </a:p>
          <a:p>
            <a:pPr algn="ctr"/>
            <a:r>
              <a:rPr lang="en-CA" sz="2000" dirty="0"/>
              <a:t>ASME IDETC-CIE 2026</a:t>
            </a:r>
            <a:br>
              <a:rPr lang="en-CA" sz="2000" dirty="0"/>
            </a:br>
            <a:r>
              <a:rPr lang="en-CA" sz="2000" dirty="0">
                <a:solidFill>
                  <a:schemeClr val="bg1">
                    <a:lumMod val="50000"/>
                  </a:schemeClr>
                </a:solidFill>
              </a:rPr>
              <a:t>August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build better tensegrity structures</a:t>
            </a:r>
            <a:br>
              <a:rPr lang="en-CA" b="0" dirty="0"/>
            </a:br>
            <a:r>
              <a:rPr lang="en-CA" b="0" dirty="0"/>
              <a:t>	faster, using real drop-test data</a:t>
            </a:r>
            <a:br>
              <a:rPr lang="en-CA" b="0" dirty="0"/>
            </a:br>
            <a:r>
              <a:rPr lang="en-CA" b="0" dirty="0"/>
              <a:t>	</a:t>
            </a:r>
            <a:r>
              <a:rPr lang="en-CA" b="0" dirty="0">
                <a:solidFill>
                  <a:schemeClr val="bg1">
                    <a:lumMod val="50000"/>
                  </a:schemeClr>
                </a:solidFill>
              </a:rPr>
              <a:t>+ closed-loop BO and multi-material printing</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4.jpg"/><Relationship Id="rId5"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5.jpg"/><Relationship Id="rId5"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7.jpg"/><Relationship Id="rId5"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8.jpg"/><Relationship Id="rId5"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19.jpg"/><Relationship Id="rId5"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20.jpg"/><Relationship Id="rId5"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How to use this supplement (delete before the talk)</a:t>
            </a:r>
          </a:p>
        </p:txBody>
      </p:sp>
      <p:sp>
        <p:nvSpPr>
          <p:cNvPr id="3" name="TextBox 2"/>
          <p:cNvSpPr txBox="1"/>
          <p:nvPr/>
        </p:nvSpPr>
        <p:spPr>
          <a:xfrm>
            <a:off x="502920" y="1737360"/>
            <a:ext cx="11185855" cy="4023360"/>
          </a:xfrm>
          <a:prstGeom prst="rect">
            <a:avLst/>
          </a:prstGeom>
          <a:noFill/>
        </p:spPr>
        <p:txBody>
          <a:bodyPr wrap="square">
            <a:spAutoFit/>
          </a:bodyPr>
          <a:lstStyle/>
          <a:p>
            <a:pPr algn="l">
              <a:spcAft>
                <a:spcPts val="1000"/>
              </a:spcAft>
            </a:pPr>
            <a:r>
              <a:rPr sz="2200" b="0">
                <a:solidFill>
                  <a:srgbClr val="0E2841"/>
                </a:solidFill>
              </a:rPr>
              <a:t>Slides 8–18 are Sterling's EMC 2026 originals — animations intact. Copy with “Keep Source Formatting.”</a:t>
            </a:r>
          </a:p>
          <a:p>
            <a:pPr algn="l">
              <a:spcAft>
                <a:spcPts val="1000"/>
              </a:spcAft>
            </a:pPr>
            <a:r>
              <a:rPr sz="2200" b="0">
                <a:solidFill>
                  <a:srgbClr val="0E2841"/>
                </a:solidFill>
              </a:rPr>
              <a:t>Every video on these slides is a real embedded clip; click to play, no internet needed.</a:t>
            </a:r>
          </a:p>
          <a:p>
            <a:pPr algn="l">
              <a:spcAft>
                <a:spcPts val="1000"/>
              </a:spcAft>
            </a:pPr>
            <a:r>
              <a:rPr sz="2200" b="0">
                <a:solidFill>
                  <a:srgbClr val="0E2841"/>
                </a:solidFill>
              </a:rPr>
              <a:t>Working slides (this one, and the last two) are planning aids, not talk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lander can hit the ground at highway speed, bounce, and still get up.</a:t>
            </a:r>
          </a:p>
        </p:txBody>
      </p:sp>
      <p:pic>
        <p:nvPicPr>
          <p:cNvPr id="3" name="clip-titan-descen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NASA Super Ball Bot / NIAC Titan mission concept — 20 s excerpt.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rigid struts that never touch each other, held apart by cables in pure tension.</a:t>
            </a:r>
          </a:p>
        </p:txBody>
      </p:sp>
      <p:pic>
        <p:nvPicPr>
          <p:cNvPr id="3" name="clip-tensegrity-2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1108" y="1737360"/>
            <a:ext cx="813930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Steve Mould, “Tensegrity Explained” (youtube.com/watch?v=0onncd0_0-o) — 18 s excerpt, used with on-screen credit.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NASA's idea started with a baby toy: throw it at the floor, nothing breaks — that is a landing robot.</a:t>
            </a:r>
          </a:p>
        </p:txBody>
      </p:sp>
      <p:pic>
        <p:nvPicPr>
          <p:cNvPr id="3" name="clip-nasa-toy-land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Adrian Agogino, NASA Ames — “NASA 360 Talks: Super Ball Bot” (youtube.com/watch?v=0eC4A2PXM-U), first 16 s.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Honest caveat, in the same breath: as printed, these are tensegrity-inspired, not true tensegrity.</a:t>
            </a:r>
          </a:p>
        </p:txBody>
      </p:sp>
      <p:sp>
        <p:nvSpPr>
          <p:cNvPr id="3" name="TextBox 2"/>
          <p:cNvSpPr txBox="1"/>
          <p:nvPr/>
        </p:nvSpPr>
        <p:spPr>
          <a:xfrm>
            <a:off x="502920" y="2148840"/>
            <a:ext cx="6766560" cy="3474720"/>
          </a:xfrm>
          <a:prstGeom prst="rect">
            <a:avLst/>
          </a:prstGeom>
          <a:noFill/>
        </p:spPr>
        <p:txBody>
          <a:bodyPr wrap="square">
            <a:spAutoFit/>
          </a:bodyPr>
          <a:lstStyle/>
          <a:p>
            <a:pPr algn="l">
              <a:spcAft>
                <a:spcPts val="2600"/>
              </a:spcAft>
            </a:pPr>
            <a:r>
              <a:rPr sz="2600" b="0">
                <a:solidFill>
                  <a:srgbClr val="0E2841"/>
                </a:solidFill>
              </a:rPr>
              <a:t>The black TPU members are not pre-tensioned — and they stretch.</a:t>
            </a:r>
          </a:p>
          <a:p>
            <a:pPr algn="l">
              <a:spcAft>
                <a:spcPts val="2600"/>
              </a:spcAft>
            </a:pPr>
            <a:r>
              <a:rPr sz="2600" b="0">
                <a:solidFill>
                  <a:srgbClr val="0E2841"/>
                </a:solidFill>
              </a:rPr>
              <a:t>Next: pre-tensioned prints, plus hand-built true-tensegrity validation specimens.</a:t>
            </a:r>
          </a:p>
        </p:txBody>
      </p:sp>
      <p:pic>
        <p:nvPicPr>
          <p:cNvPr id="4" name="Picture 3" descr="photo-specimen.jpg"/>
          <p:cNvPicPr>
            <a:picLocks noChangeAspect="1"/>
          </p:cNvPicPr>
          <p:nvPr/>
        </p:nvPicPr>
        <p:blipFill>
          <a:blip r:embed="rId2"/>
          <a:stretch>
            <a:fillRect/>
          </a:stretch>
        </p:blipFill>
        <p:spPr>
          <a:xfrm>
            <a:off x="7635240" y="2170497"/>
            <a:ext cx="4023360" cy="3705726"/>
          </a:xfrm>
          <a:prstGeom prst="rect">
            <a:avLst/>
          </a:prstGeom>
        </p:spPr>
      </p:pic>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Printed PLA–TPU T3 prism, prc1kn — frame from our own 959 fps drop footage.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machine lays down the rigid struts and the stretchy cables in a single build.</a:t>
            </a:r>
          </a:p>
        </p:txBody>
      </p:sp>
      <p:pic>
        <p:nvPicPr>
          <p:cNvPr id="3" name="clip-print-timelaps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806440" y="2127613"/>
            <a:ext cx="5897880" cy="3791494"/>
          </a:xfrm>
          <a:prstGeom prst="rect">
            <a:avLst/>
          </a:prstGeom>
        </p:spPr>
      </p:pic>
      <p:sp>
        <p:nvSpPr>
          <p:cNvPr id="4" name="TextBox 3"/>
          <p:cNvSpPr txBox="1"/>
          <p:nvPr/>
        </p:nvSpPr>
        <p:spPr>
          <a:xfrm>
            <a:off x="502920" y="2331720"/>
            <a:ext cx="5029200" cy="3474720"/>
          </a:xfrm>
          <a:prstGeom prst="rect">
            <a:avLst/>
          </a:prstGeom>
          <a:noFill/>
        </p:spPr>
        <p:txBody>
          <a:bodyPr wrap="square">
            <a:spAutoFit/>
          </a:bodyPr>
          <a:lstStyle/>
          <a:p>
            <a:pPr algn="l">
              <a:spcAft>
                <a:spcPts val="2600"/>
              </a:spcAft>
            </a:pPr>
            <a:r>
              <a:rPr sz="2600" b="0">
                <a:solidFill>
                  <a:srgbClr val="0E2841"/>
                </a:solidFill>
              </a:rPr>
              <a:t>Bambu Lab H2D, two materials: PLA struts, TPU cables</a:t>
            </a:r>
          </a:p>
          <a:p>
            <a:pPr algn="l">
              <a:spcAft>
                <a:spcPts val="2600"/>
              </a:spcAft>
            </a:pPr>
            <a:r>
              <a:rPr sz="2600" b="0">
                <a:solidFill>
                  <a:srgbClr val="0E2841"/>
                </a:solidFill>
              </a:rPr>
              <a:t>No jig, no knots, no post-assembly step</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print timelapse, TT3_01 — 16 s excerpt (youtube.com/watch?v=nQNmi-NiL5I, BYU Vertical Cloud Lab).</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Printing it in one build is not the same as getting it out clean — supports still come off by hand.</a:t>
            </a:r>
          </a:p>
        </p:txBody>
      </p:sp>
      <p:pic>
        <p:nvPicPr>
          <p:cNvPr id="3" name="clip-support-remova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3825238" y="1828800"/>
            <a:ext cx="7802880" cy="4389120"/>
          </a:xfrm>
          <a:prstGeom prst="rect">
            <a:avLst/>
          </a:prstGeom>
        </p:spPr>
      </p:pic>
      <p:sp>
        <p:nvSpPr>
          <p:cNvPr id="4" name="TextBox 3"/>
          <p:cNvSpPr txBox="1"/>
          <p:nvPr/>
        </p:nvSpPr>
        <p:spPr>
          <a:xfrm>
            <a:off x="502920" y="2377440"/>
            <a:ext cx="3017520" cy="3108960"/>
          </a:xfrm>
          <a:prstGeom prst="rect">
            <a:avLst/>
          </a:prstGeom>
          <a:noFill/>
        </p:spPr>
        <p:txBody>
          <a:bodyPr wrap="square">
            <a:spAutoFit/>
          </a:bodyPr>
          <a:lstStyle/>
          <a:p>
            <a:pPr algn="l">
              <a:spcAft>
                <a:spcPts val="1000"/>
              </a:spcAft>
            </a:pPr>
            <a:r>
              <a:rPr sz="2400" b="0">
                <a:solidFill>
                  <a:srgbClr val="595959"/>
                </a:solidFill>
              </a:rPr>
              <a:t>The honest bottleneck in the loop today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manual support removal on a T3 prism (PR #35, 2026-06-09).</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whole experiment takes a quarter of a second — here it is in real time.</a:t>
            </a:r>
          </a:p>
        </p:txBody>
      </p:sp>
      <p:pic>
        <p:nvPicPr>
          <p:cNvPr id="3" name="clip-drop-afa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drop tower, BYU Smart Materials lab. Play with sound.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phone in slow motion is enough to see the drop — and to hear the impact.</a:t>
            </a:r>
          </a:p>
        </p:txBody>
      </p:sp>
      <p:pic>
        <p:nvPicPr>
          <p:cNvPr id="3" name="clip-drop-phone-audi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119586" y="1691640"/>
            <a:ext cx="2597467" cy="4617720"/>
          </a:xfrm>
          <a:prstGeom prst="rect">
            <a:avLst/>
          </a:prstGeom>
        </p:spPr>
      </p:pic>
      <p:sp>
        <p:nvSpPr>
          <p:cNvPr id="4" name="TextBox 3"/>
          <p:cNvSpPr txBox="1"/>
          <p:nvPr/>
        </p:nvSpPr>
        <p:spPr>
          <a:xfrm>
            <a:off x="502920" y="2240280"/>
            <a:ext cx="6309360" cy="3566160"/>
          </a:xfrm>
          <a:prstGeom prst="rect">
            <a:avLst/>
          </a:prstGeom>
          <a:noFill/>
        </p:spPr>
        <p:txBody>
          <a:bodyPr wrap="square">
            <a:spAutoFit/>
          </a:bodyPr>
          <a:lstStyle/>
          <a:p>
            <a:pPr algn="l">
              <a:spcAft>
                <a:spcPts val="2400"/>
              </a:spcAft>
            </a:pPr>
            <a:r>
              <a:rPr sz="2500" b="0">
                <a:solidFill>
                  <a:srgbClr val="0E2841"/>
                </a:solidFill>
              </a:rPr>
              <a:t>Free, instant, and good enough to catch setup mistakes</a:t>
            </a:r>
          </a:p>
          <a:p>
            <a:pPr algn="l">
              <a:spcAft>
                <a:spcPts val="2400"/>
              </a:spcAft>
            </a:pPr>
            <a:r>
              <a:rPr sz="2500" b="0">
                <a:solidFill>
                  <a:srgbClr val="0E2841"/>
                </a:solidFill>
              </a:rPr>
              <a:t>No camera we have resolves the pulse itself — that is the DAQ's job</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 specimen n0jdwk, 13 in drop (PR #67). Play with sound.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At 960 fps one frame is 1.04 ms — so the camera is not here for the impact.</a:t>
            </a:r>
          </a:p>
        </p:txBody>
      </p:sp>
      <p:pic>
        <p:nvPicPr>
          <p:cNvPr id="3" name="clip-our-slomo-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903720" y="1737360"/>
            <a:ext cx="4572000" cy="4572000"/>
          </a:xfrm>
          <a:prstGeom prst="rect">
            <a:avLst/>
          </a:prstGeom>
        </p:spPr>
      </p:pic>
      <p:sp>
        <p:nvSpPr>
          <p:cNvPr id="4" name="TextBox 3"/>
          <p:cNvSpPr txBox="1"/>
          <p:nvPr/>
        </p:nvSpPr>
        <p:spPr>
          <a:xfrm>
            <a:off x="502920" y="2148840"/>
            <a:ext cx="5760720" cy="4023360"/>
          </a:xfrm>
          <a:prstGeom prst="rect">
            <a:avLst/>
          </a:prstGeom>
          <a:noFill/>
        </p:spPr>
        <p:txBody>
          <a:bodyPr wrap="square">
            <a:spAutoFit/>
          </a:bodyPr>
          <a:lstStyle/>
          <a:p>
            <a:pPr algn="l">
              <a:spcAft>
                <a:spcPts val="4000"/>
              </a:spcAft>
            </a:pPr>
            <a:r>
              <a:rPr sz="2600" b="0">
                <a:solidFill>
                  <a:srgbClr val="0E2841"/>
                </a:solidFill>
              </a:rPr>
              <a:t>Sony RX100 IV, 959 fps</a:t>
            </a:r>
          </a:p>
          <a:p>
            <a:pPr algn="l">
              <a:spcAft>
                <a:spcPts val="4000"/>
              </a:spcAft>
            </a:pPr>
            <a:r>
              <a:rPr sz="2600" b="0">
                <a:solidFill>
                  <a:srgbClr val="0E2841"/>
                </a:solidFill>
              </a:rPr>
              <a:t>It is here for the 150 ms after: rebound, sag, recovery</a:t>
            </a:r>
          </a:p>
          <a:p>
            <a:pPr algn="l">
              <a:spcAft>
                <a:spcPts val="4000"/>
              </a:spcAft>
            </a:pPr>
            <a:r>
              <a:rPr sz="2600" b="0">
                <a:solidFill>
                  <a:srgbClr val="0E2841"/>
                </a:solidFill>
              </a:rPr>
              <a:t>All of that lives below 100 Hz</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prc1kn specimen, 60 in drop, 5-felt input (data/drop-tests/prc1kn-60in-5felt/video/).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What it is here for: the top vertex leaves the impact at 0.7 times the speed it arrived.</a:t>
            </a:r>
          </a:p>
        </p:txBody>
      </p:sp>
      <p:pic>
        <p:nvPicPr>
          <p:cNvPr id="3" name="clip-drop-highspee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850123" y="1737360"/>
            <a:ext cx="3319272" cy="4526280"/>
          </a:xfrm>
          <a:prstGeom prst="rect">
            <a:avLst/>
          </a:prstGeom>
        </p:spPr>
      </p:pic>
      <p:sp>
        <p:nvSpPr>
          <p:cNvPr id="4" name="TextBox 3"/>
          <p:cNvSpPr txBox="1"/>
          <p:nvPr/>
        </p:nvSpPr>
        <p:spPr>
          <a:xfrm>
            <a:off x="502920" y="2240280"/>
            <a:ext cx="6492240" cy="3566160"/>
          </a:xfrm>
          <a:prstGeom prst="rect">
            <a:avLst/>
          </a:prstGeom>
          <a:noFill/>
        </p:spPr>
        <p:txBody>
          <a:bodyPr wrap="square">
            <a:spAutoFit/>
          </a:bodyPr>
          <a:lstStyle/>
          <a:p>
            <a:pPr algn="l">
              <a:spcAft>
                <a:spcPts val="2400"/>
              </a:spcAft>
            </a:pPr>
            <a:r>
              <a:rPr sz="2500" b="0">
                <a:solidFill>
                  <a:srgbClr val="0E2841"/>
                </a:solidFill>
              </a:rPr>
              <a:t>Elastic re-extension, not permanent collapse</a:t>
            </a:r>
          </a:p>
          <a:p>
            <a:pPr algn="l">
              <a:spcAft>
                <a:spcPts val="2400"/>
              </a:spcAft>
            </a:pPr>
            <a:r>
              <a:rPr sz="2500" b="0">
                <a:solidFill>
                  <a:srgbClr val="0E2841"/>
                </a:solidFill>
              </a:rPr>
              <a:t>Measured on both validation specimens; both intact afterwards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960 fps footage — specimen 7xadt6, 60 in / 5-felt validation campaign (PR #86 branch).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clean shock, an elastic rebound, and the brake catches the carriage 79 ms later.</a:t>
            </a:r>
          </a:p>
        </p:txBody>
      </p:sp>
      <p:pic>
        <p:nvPicPr>
          <p:cNvPr id="3" name="Picture 2" descr="fig-video-montage.png"/>
          <p:cNvPicPr>
            <a:picLocks noChangeAspect="1"/>
          </p:cNvPicPr>
          <p:nvPr/>
        </p:nvPicPr>
        <p:blipFill>
          <a:blip r:embed="rId2"/>
          <a:stretch>
            <a:fillRect/>
          </a:stretch>
        </p:blipFill>
        <p:spPr>
          <a:xfrm>
            <a:off x="502920" y="2024214"/>
            <a:ext cx="11185855" cy="3998291"/>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959.04 fps — contact and turnaround are consecutive frames, 1.04 ms apart.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camera brackets the pulse in one frame; the DAQ puts 190 samples inside it.</a:t>
            </a:r>
          </a:p>
        </p:txBody>
      </p:sp>
      <p:pic>
        <p:nvPicPr>
          <p:cNvPr id="3" name="Picture 2" descr="fig-video-impact-zoom.png"/>
          <p:cNvPicPr>
            <a:picLocks noChangeAspect="1"/>
          </p:cNvPicPr>
          <p:nvPr/>
        </p:nvPicPr>
        <p:blipFill>
          <a:blip r:embed="rId2"/>
          <a:stretch>
            <a:fillRect/>
          </a:stretch>
        </p:blipFill>
        <p:spPr>
          <a:xfrm>
            <a:off x="623672" y="1828800"/>
            <a:ext cx="6616495" cy="4434840"/>
          </a:xfrm>
          <a:prstGeom prst="rect">
            <a:avLst/>
          </a:prstGeom>
        </p:spPr>
      </p:pic>
      <p:sp>
        <p:nvSpPr>
          <p:cNvPr id="4" name="TextBox 3"/>
          <p:cNvSpPr txBox="1"/>
          <p:nvPr/>
        </p:nvSpPr>
        <p:spPr>
          <a:xfrm>
            <a:off x="7635240" y="2148840"/>
            <a:ext cx="4023360" cy="3931920"/>
          </a:xfrm>
          <a:prstGeom prst="rect">
            <a:avLst/>
          </a:prstGeom>
          <a:noFill/>
        </p:spPr>
        <p:txBody>
          <a:bodyPr wrap="square">
            <a:spAutoFit/>
          </a:bodyPr>
          <a:lstStyle/>
          <a:p>
            <a:pPr algn="l">
              <a:spcAft>
                <a:spcPts val="2400"/>
              </a:spcAft>
            </a:pPr>
            <a:r>
              <a:rPr sz="2500" b="0">
                <a:solidFill>
                  <a:srgbClr val="0E2841"/>
                </a:solidFill>
              </a:rPr>
              <a:t>Camera: 1.04 ms per frame</a:t>
            </a:r>
          </a:p>
          <a:p>
            <a:pPr algn="l">
              <a:spcAft>
                <a:spcPts val="2400"/>
              </a:spcAft>
            </a:pPr>
            <a:r>
              <a:rPr sz="2500" b="0">
                <a:solidFill>
                  <a:srgbClr val="0E2841"/>
                </a:solidFill>
              </a:rPr>
              <a:t>DAQ: 8 µs per sample, 1.57 ms pulse</a:t>
            </a:r>
          </a:p>
          <a:p>
            <a:pPr algn="l">
              <a:spcAft>
                <a:spcPts val="2400"/>
              </a:spcAft>
            </a:pPr>
            <a:r>
              <a:rPr sz="2500" b="0">
                <a:solidFill>
                  <a:srgbClr val="0E2841"/>
                </a:solidFill>
              </a:rPr>
              <a:t>Camera still earns its keep: e* = 0.45 and a 79 ms brake catch</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 fps — the entire deceleration is the single step at t = 0; the TP4 samples at 125 kHz.</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drop tower with an instrumented payload measures the force that actually reaches the payload.</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600" b="0">
                <a:solidFill>
                  <a:srgbClr val="0E2841"/>
                </a:solidFill>
              </a:rPr>
              <a:t>Lansmont M23 tower · Dytran 3133A4 accelerometers</a:t>
            </a:r>
          </a:p>
          <a:p>
            <a:pPr algn="l">
              <a:spcAft>
                <a:spcPts val="1600"/>
              </a:spcAft>
            </a:pPr>
            <a:r>
              <a:rPr sz="2600" b="0">
                <a:solidFill>
                  <a:srgbClr val="0E2841"/>
                </a:solidFill>
              </a:rPr>
              <a:t>TP4 DAQ at 125 kHz — this is the instrument that sees the pulse</a:t>
            </a:r>
          </a:p>
          <a:p>
            <a:pPr algn="l">
              <a:spcAft>
                <a:spcPts val="1600"/>
              </a:spcAft>
            </a:pPr>
            <a:r>
              <a:rPr sz="2600" b="0">
                <a:solidFill>
                  <a:srgbClr val="0E2841"/>
                </a:solidFill>
              </a:rPr>
              <a:t>Standard test: 60 in drop onto 5 felts, repeated per specimen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Setup and standard conditions per the drop-test protocol (PR #86 branch); 25 kHz is the measured floor for the current pipeline (issue #89 sample-rate study).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filtering turns raw ringing into the three numbers the optimizer actually uses.</a:t>
            </a:r>
          </a:p>
        </p:txBody>
      </p:sp>
      <p:pic>
        <p:nvPicPr>
          <p:cNvPr id="3" name="Picture 2" descr="fig-impact-zoom-cfc.png"/>
          <p:cNvPicPr>
            <a:picLocks noChangeAspect="1"/>
          </p:cNvPicPr>
          <p:nvPr/>
        </p:nvPicPr>
        <p:blipFill>
          <a:blip r:embed="rId2"/>
          <a:stretch>
            <a:fillRect/>
          </a:stretch>
        </p:blipFill>
        <p:spPr>
          <a:xfrm>
            <a:off x="502920" y="1795938"/>
            <a:ext cx="11185855" cy="2443163"/>
          </a:xfrm>
          <a:prstGeom prst="rect">
            <a:avLst/>
          </a:prstGeom>
        </p:spPr>
      </p:pic>
      <p:sp>
        <p:nvSpPr>
          <p:cNvPr id="4" name="TextBox 3"/>
          <p:cNvSpPr txBox="1"/>
          <p:nvPr/>
        </p:nvSpPr>
        <p:spPr>
          <a:xfrm>
            <a:off x="502920" y="4526280"/>
            <a:ext cx="11155680" cy="1737360"/>
          </a:xfrm>
          <a:prstGeom prst="rect">
            <a:avLst/>
          </a:prstGeom>
          <a:noFill/>
        </p:spPr>
        <p:txBody>
          <a:bodyPr wrap="square">
            <a:spAutoFit/>
          </a:bodyPr>
          <a:lstStyle/>
          <a:p>
            <a:pPr algn="l">
              <a:spcAft>
                <a:spcPts val="1000"/>
              </a:spcAft>
            </a:pPr>
            <a:r>
              <a:rPr sz="2600" b="0">
                <a:solidFill>
                  <a:srgbClr val="156082"/>
                </a:solidFill>
              </a:rPr>
              <a:t>Peak transmitted force  ·  specific energy absorbed  ·  compaction efficiency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Raw vs. CFC-1000 vs. CFC-180 on the same impact window.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drop becomes one row of data: three numbers and the scatter around them.</a:t>
            </a:r>
          </a:p>
        </p:txBody>
      </p:sp>
      <p:sp>
        <p:nvSpPr>
          <p:cNvPr id="3" name="Rounded Rectangle 2"/>
          <p:cNvSpPr/>
          <p:nvPr/>
        </p:nvSpPr>
        <p:spPr>
          <a:xfrm>
            <a:off x="502920"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Raw</a:t>
            </a:r>
          </a:p>
          <a:p>
            <a:r>
              <a:rPr sz="1600"/>
              <a:t>1.25 MHz</a:t>
            </a:r>
            <a:br/>
            <a:r>
              <a:rPr sz="1600"/>
              <a:t>4 channels</a:t>
            </a:r>
          </a:p>
        </p:txBody>
      </p:sp>
      <p:sp>
        <p:nvSpPr>
          <p:cNvPr id="4" name="Right Arrow 3"/>
          <p:cNvSpPr/>
          <p:nvPr/>
        </p:nvSpPr>
        <p:spPr>
          <a:xfrm>
            <a:off x="3020088"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310128"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Baseline</a:t>
            </a:r>
          </a:p>
          <a:p>
            <a:r>
              <a:rPr sz="1600"/>
              <a:t>pre-trigger</a:t>
            </a:r>
            <a:br/>
            <a:r>
              <a:rPr sz="1600"/>
              <a:t>median</a:t>
            </a:r>
          </a:p>
        </p:txBody>
      </p:sp>
      <p:sp>
        <p:nvSpPr>
          <p:cNvPr id="6" name="Right Arrow 5"/>
          <p:cNvSpPr/>
          <p:nvPr/>
        </p:nvSpPr>
        <p:spPr>
          <a:xfrm>
            <a:off x="5827296"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17336" y="2331720"/>
            <a:ext cx="2487168" cy="169164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J211 filter</a:t>
            </a:r>
          </a:p>
          <a:p>
            <a:r>
              <a:rPr sz="1600"/>
              <a:t>CFC-180</a:t>
            </a:r>
            <a:br/>
            <a:r>
              <a:rPr sz="1600"/>
              <a:t>and CFC-1000</a:t>
            </a:r>
          </a:p>
        </p:txBody>
      </p:sp>
      <p:sp>
        <p:nvSpPr>
          <p:cNvPr id="8" name="Right Arrow 7"/>
          <p:cNvSpPr/>
          <p:nvPr/>
        </p:nvSpPr>
        <p:spPr>
          <a:xfrm>
            <a:off x="8634504" y="2971800"/>
            <a:ext cx="26004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924544" y="2331720"/>
            <a:ext cx="2487168" cy="169164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400" b="1"/>
              <a:t>Metrics</a:t>
            </a:r>
          </a:p>
          <a:p>
            <a:r>
              <a:rPr sz="1600"/>
              <a:t>peak force, SEA,</a:t>
            </a:r>
            <a:br/>
            <a:r>
              <a:rPr sz="1600"/>
              <a:t>compaction</a:t>
            </a:r>
          </a:p>
        </p:txBody>
      </p:sp>
      <p:sp>
        <p:nvSpPr>
          <p:cNvPr id="10" name="TextBox 9"/>
          <p:cNvSpPr txBox="1"/>
          <p:nvPr/>
        </p:nvSpPr>
        <p:spPr>
          <a:xfrm>
            <a:off x="502920" y="4526280"/>
            <a:ext cx="11155680" cy="1645920"/>
          </a:xfrm>
          <a:prstGeom prst="rect">
            <a:avLst/>
          </a:prstGeom>
          <a:noFill/>
        </p:spPr>
        <p:txBody>
          <a:bodyPr wrap="square">
            <a:spAutoFit/>
          </a:bodyPr>
          <a:lstStyle/>
          <a:p>
            <a:pPr algn="l">
              <a:spcAft>
                <a:spcPts val="1000"/>
              </a:spcAft>
            </a:pPr>
            <a:r>
              <a:rPr sz="2400" b="0">
                <a:solidFill>
                  <a:srgbClr val="0E2841"/>
                </a:solidFill>
              </a:rPr>
              <a:t>Replicate drops give the noise model the optimizer needs — a single drop is never one point.</a:t>
            </a:r>
          </a:p>
        </p:txBody>
      </p:sp>
      <p:sp>
        <p:nvSpPr>
          <p:cNvPr id="11" name="TextBox 10"/>
          <p:cNvSpPr txBox="1"/>
          <p:nvPr/>
        </p:nvSpPr>
        <p:spPr>
          <a:xfrm>
            <a:off x="502920" y="6419088"/>
            <a:ext cx="11185855" cy="310896"/>
          </a:xfrm>
          <a:prstGeom prst="rect">
            <a:avLst/>
          </a:prstGeom>
          <a:noFill/>
        </p:spPr>
        <p:txBody>
          <a:bodyPr wrap="square">
            <a:spAutoFit/>
          </a:bodyPr>
          <a:lstStyle/>
          <a:p>
            <a:r>
              <a:rPr sz="1200" i="1">
                <a:solidFill>
                  <a:srgbClr val="595959"/>
                </a:solidFill>
              </a:rPr>
              <a:t>scripts/analysis/drop_test_*_analysis.py on the PR #86 branch; raw CSVs committed next to every campaign.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sets the filter, not us — and the class you pick changes the peak by a factor of two.</a:t>
            </a:r>
          </a:p>
        </p:txBody>
      </p:sp>
      <p:pic>
        <p:nvPicPr>
          <p:cNvPr id="3" name="Picture 2" descr="fig-baseline-and-cfc.png"/>
          <p:cNvPicPr>
            <a:picLocks noChangeAspect="1"/>
          </p:cNvPicPr>
          <p:nvPr/>
        </p:nvPicPr>
        <p:blipFill>
          <a:blip r:embed="rId2"/>
          <a:stretch>
            <a:fillRect/>
          </a:stretch>
        </p:blipFill>
        <p:spPr>
          <a:xfrm>
            <a:off x="502920" y="1769987"/>
            <a:ext cx="11185855" cy="3775226"/>
          </a:xfrm>
          <a:prstGeom prst="rect">
            <a:avLst/>
          </a:prstGeom>
        </p:spPr>
      </p:pic>
      <p:sp>
        <p:nvSpPr>
          <p:cNvPr id="4" name="TextBox 3"/>
          <p:cNvSpPr txBox="1"/>
          <p:nvPr/>
        </p:nvSpPr>
        <p:spPr>
          <a:xfrm>
            <a:off x="502920" y="5715000"/>
            <a:ext cx="11155680" cy="640080"/>
          </a:xfrm>
          <a:prstGeom prst="rect">
            <a:avLst/>
          </a:prstGeom>
          <a:noFill/>
        </p:spPr>
        <p:txBody>
          <a:bodyPr wrap="square">
            <a:spAutoFit/>
          </a:bodyPr>
          <a:lstStyle/>
          <a:p>
            <a:pPr algn="l">
              <a:spcAft>
                <a:spcPts val="1000"/>
              </a:spcAft>
            </a:pPr>
            <a:r>
              <a:rPr sz="2400" b="0">
                <a:solidFill>
                  <a:srgbClr val="156082"/>
                </a:solidFill>
              </a:rPr>
              <a:t>Same drop, same sensor: raw 567 G · CFC-1000 344 G · CFC-180 245 G</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bpx68c, Signal 11 (data/drop-tests/pu-configs/). Two-pole Butterworth, forward and backward, per SAE J211-1.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We report both bands because they answer two different questions.</a:t>
            </a:r>
          </a:p>
        </p:txBody>
      </p:sp>
      <p:sp>
        <p:nvSpPr>
          <p:cNvPr id="3" name="TextBox 2"/>
          <p:cNvSpPr txBox="1"/>
          <p:nvPr/>
        </p:nvSpPr>
        <p:spPr>
          <a:xfrm>
            <a:off x="502920" y="1920240"/>
            <a:ext cx="5486400" cy="3931920"/>
          </a:xfrm>
          <a:prstGeom prst="rect">
            <a:avLst/>
          </a:prstGeom>
          <a:noFill/>
        </p:spPr>
        <p:txBody>
          <a:bodyPr wrap="square">
            <a:spAutoFit/>
          </a:bodyPr>
          <a:lstStyle/>
          <a:p>
            <a:pPr algn="l">
              <a:spcAft>
                <a:spcPts val="1800"/>
              </a:spcAft>
            </a:pPr>
            <a:r>
              <a:rPr sz="2500" b="1">
                <a:solidFill>
                  <a:srgbClr val="156082"/>
                </a:solidFill>
              </a:rPr>
              <a:t>CFC-180 · 300 Hz</a:t>
            </a:r>
          </a:p>
          <a:p>
            <a:pPr algn="l">
              <a:spcAft>
                <a:spcPts val="1800"/>
              </a:spcAft>
            </a:pPr>
            <a:r>
              <a:rPr sz="2500" b="0">
                <a:solidFill>
                  <a:srgbClr val="156082"/>
                </a:solidFill>
              </a:rPr>
              <a:t>“What does the payload feel?”</a:t>
            </a:r>
          </a:p>
          <a:p>
            <a:pPr algn="l">
              <a:spcAft>
                <a:spcPts val="1800"/>
              </a:spcAft>
            </a:pPr>
            <a:r>
              <a:rPr sz="2500" b="0">
                <a:solidFill>
                  <a:srgbClr val="156082"/>
                </a:solidFill>
              </a:rPr>
              <a:t>Smooth pulse, stable peak, the number that goes in the force constraint</a:t>
            </a:r>
          </a:p>
        </p:txBody>
      </p:sp>
      <p:sp>
        <p:nvSpPr>
          <p:cNvPr id="4" name="TextBox 3"/>
          <p:cNvSpPr txBox="1"/>
          <p:nvPr/>
        </p:nvSpPr>
        <p:spPr>
          <a:xfrm>
            <a:off x="6400800" y="1920240"/>
            <a:ext cx="5212080" cy="3931920"/>
          </a:xfrm>
          <a:prstGeom prst="rect">
            <a:avLst/>
          </a:prstGeom>
          <a:noFill/>
        </p:spPr>
        <p:txBody>
          <a:bodyPr wrap="square">
            <a:spAutoFit/>
          </a:bodyPr>
          <a:lstStyle/>
          <a:p>
            <a:pPr algn="l">
              <a:spcAft>
                <a:spcPts val="1800"/>
              </a:spcAft>
            </a:pPr>
            <a:r>
              <a:rPr sz="2500" b="1">
                <a:solidFill>
                  <a:srgbClr val="E97132"/>
                </a:solidFill>
              </a:rPr>
              <a:t>CFC-1000 · 1650 Hz</a:t>
            </a:r>
          </a:p>
          <a:p>
            <a:pPr algn="l">
              <a:spcAft>
                <a:spcPts val="1800"/>
              </a:spcAft>
            </a:pPr>
            <a:r>
              <a:rPr sz="2500" b="0">
                <a:solidFill>
                  <a:srgbClr val="E97132"/>
                </a:solidFill>
              </a:rPr>
              <a:t>“What is the structure doing?”</a:t>
            </a:r>
          </a:p>
          <a:p>
            <a:pPr algn="l">
              <a:spcAft>
                <a:spcPts val="1800"/>
              </a:spcAft>
            </a:pPr>
            <a:r>
              <a:rPr sz="2500" b="0">
                <a:solidFill>
                  <a:srgbClr val="E97132"/>
                </a:solidFill>
              </a:rPr>
              <a:t>Keeps the 500–550 Hz specimen mode — the part that actually differs between designs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first mode measured at 519–549 Hz across the ringdown analyses in this repo.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Our sensors lied to us first — cross-calibration caught a 5% error before it reached the optimizer.</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500" b="0">
                <a:solidFill>
                  <a:srgbClr val="0E2841"/>
                </a:solidFill>
              </a:rPr>
              <a:t>A mis-entered sensitivity made channel 5 read 0.953× channel 4.</a:t>
            </a:r>
          </a:p>
          <a:p>
            <a:pPr algn="l">
              <a:spcAft>
                <a:spcPts val="1600"/>
              </a:spcAft>
            </a:pPr>
            <a:r>
              <a:rPr sz="2500" b="0">
                <a:solidFill>
                  <a:srgbClr val="0E2841"/>
                </a:solidFill>
              </a:rPr>
              <a:t>Channel 1 was clipping at the highest drops and we could not see it.</a:t>
            </a:r>
          </a:p>
          <a:p>
            <a:pPr algn="l">
              <a:spcAft>
                <a:spcPts val="1600"/>
              </a:spcAft>
            </a:pPr>
            <a:r>
              <a:rPr sz="2500" b="0">
                <a:solidFill>
                  <a:srgbClr val="0E2841"/>
                </a:solidFill>
              </a:rPr>
              <a:t>Fix: regress every channel against every other, every campaign.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Calibration story documented in PR #74.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We paid an adversary to break our own analysis, and it broke it.</a:t>
            </a:r>
          </a:p>
        </p:txBody>
      </p:sp>
      <p:sp>
        <p:nvSpPr>
          <p:cNvPr id="3" name="TextBox 2"/>
          <p:cNvSpPr txBox="1"/>
          <p:nvPr/>
        </p:nvSpPr>
        <p:spPr>
          <a:xfrm>
            <a:off x="502920" y="1600200"/>
            <a:ext cx="11155680" cy="1371600"/>
          </a:xfrm>
          <a:prstGeom prst="rect">
            <a:avLst/>
          </a:prstGeom>
          <a:noFill/>
        </p:spPr>
        <p:txBody>
          <a:bodyPr wrap="square">
            <a:spAutoFit/>
          </a:bodyPr>
          <a:lstStyle/>
          <a:p>
            <a:pPr algn="l">
              <a:spcAft>
                <a:spcPts val="600"/>
              </a:spcAft>
            </a:pPr>
            <a:r>
              <a:rPr sz="2400" b="0">
                <a:solidFill>
                  <a:srgbClr val="0E2841"/>
                </a:solidFill>
              </a:rPr>
              <a:t>Our script assumed the record began at the trigger. It does not — 0.41 ms of it is pre-impact.</a:t>
            </a:r>
          </a:p>
        </p:txBody>
      </p:sp>
      <p:pic>
        <p:nvPicPr>
          <p:cNvPr id="4" name="Picture 3" descr="fig-baseline-flip.png"/>
          <p:cNvPicPr>
            <a:picLocks noChangeAspect="1"/>
          </p:cNvPicPr>
          <p:nvPr/>
        </p:nvPicPr>
        <p:blipFill>
          <a:blip r:embed="rId2"/>
          <a:stretch>
            <a:fillRect/>
          </a:stretch>
        </p:blipFill>
        <p:spPr>
          <a:xfrm>
            <a:off x="2251710" y="2514600"/>
            <a:ext cx="7658100" cy="3063240"/>
          </a:xfrm>
          <a:prstGeom prst="rect">
            <a:avLst/>
          </a:prstGeom>
        </p:spPr>
      </p:pic>
      <p:sp>
        <p:nvSpPr>
          <p:cNvPr id="5" name="TextBox 4"/>
          <p:cNvSpPr txBox="1"/>
          <p:nvPr/>
        </p:nvSpPr>
        <p:spPr>
          <a:xfrm>
            <a:off x="502920" y="5650992"/>
            <a:ext cx="11155680" cy="685800"/>
          </a:xfrm>
          <a:prstGeom prst="rect">
            <a:avLst/>
          </a:prstGeom>
          <a:noFill/>
        </p:spPr>
        <p:txBody>
          <a:bodyPr wrap="square">
            <a:spAutoFit/>
          </a:bodyPr>
          <a:lstStyle/>
          <a:p>
            <a:pPr algn="l">
              <a:spcAft>
                <a:spcPts val="1000"/>
              </a:spcAft>
            </a:pPr>
            <a:r>
              <a:rPr sz="2400" b="0">
                <a:solidFill>
                  <a:srgbClr val="156082"/>
                </a:solidFill>
              </a:rPr>
              <a:t>Verdict we adopted: none of the four — that sweep could not decide.</a:t>
            </a:r>
          </a:p>
        </p:txBody>
      </p:sp>
      <p:sp>
        <p:nvSpPr>
          <p:cNvPr id="6" name="TextBox 5"/>
          <p:cNvSpPr txBox="1"/>
          <p:nvPr/>
        </p:nvSpPr>
        <p:spPr>
          <a:xfrm>
            <a:off x="502920" y="6419088"/>
            <a:ext cx="11185855" cy="310896"/>
          </a:xfrm>
          <a:prstGeom prst="rect">
            <a:avLst/>
          </a:prstGeom>
          <a:noFill/>
        </p:spPr>
        <p:txBody>
          <a:bodyPr wrap="square">
            <a:spAutoFit/>
          </a:bodyPr>
          <a:lstStyle/>
          <a:p>
            <a:r>
              <a:rPr sz="1200" i="1">
                <a:solidFill>
                  <a:srgbClr val="595959"/>
                </a:solidFill>
              </a:rPr>
              <a:t>Edison Scientific adversarial review, task d9092c5a; recomputation reproduced independently in-repo.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Every number on these slides can be re-derived from committed raw data.</a:t>
            </a:r>
          </a:p>
        </p:txBody>
      </p:sp>
      <p:sp>
        <p:nvSpPr>
          <p:cNvPr id="3" name="TextBox 2"/>
          <p:cNvSpPr txBox="1"/>
          <p:nvPr/>
        </p:nvSpPr>
        <p:spPr>
          <a:xfrm>
            <a:off x="502920" y="1737360"/>
            <a:ext cx="11155680" cy="4023360"/>
          </a:xfrm>
          <a:prstGeom prst="rect">
            <a:avLst/>
          </a:prstGeom>
          <a:noFill/>
        </p:spPr>
        <p:txBody>
          <a:bodyPr wrap="square">
            <a:spAutoFit/>
          </a:bodyPr>
          <a:lstStyle/>
          <a:p>
            <a:pPr algn="l">
              <a:spcAft>
                <a:spcPts val="1800"/>
              </a:spcAft>
            </a:pPr>
            <a:r>
              <a:rPr sz="2500" b="0">
                <a:solidFill>
                  <a:srgbClr val="0E2841"/>
                </a:solidFill>
              </a:rPr>
              <a:t>Raw CSVs and the analysis script live beside each campaign in the repo</a:t>
            </a:r>
          </a:p>
          <a:p>
            <a:pPr algn="l">
              <a:spcAft>
                <a:spcPts val="1800"/>
              </a:spcAft>
            </a:pPr>
            <a:r>
              <a:rPr sz="2500" b="0">
                <a:solidFill>
                  <a:srgbClr val="0E2841"/>
                </a:solidFill>
              </a:rPr>
              <a:t>The filter is a published standard: SAE J211-1 / ISO 6487, channel class × 1.65 Hz</a:t>
            </a:r>
          </a:p>
          <a:p>
            <a:pPr algn="l">
              <a:spcAft>
                <a:spcPts val="1800"/>
              </a:spcAft>
            </a:pPr>
            <a:r>
              <a:rPr sz="2500" b="0">
                <a:solidFill>
                  <a:srgbClr val="0E2841"/>
                </a:solidFill>
              </a:rPr>
              <a:t>The adversarial re-analysis, its recomputed tables, and its notebook are committed too</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Backup slide: repo paths and the tutorial notebook for issue #94 are listed in presentation/issue-94-analysis-slides.md.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challenges and where each one gets told</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800"/>
              </a:spcAft>
            </a:pPr>
            <a:r>
              <a:rPr sz="2000" b="0">
                <a:solidFill>
                  <a:srgbClr val="0E2841"/>
                </a:solidFill>
              </a:rPr>
              <a:t>Sensor sensitivity error → cross-calibration → own slide (33)</a:t>
            </a:r>
          </a:p>
          <a:p>
            <a:pPr algn="l">
              <a:spcAft>
                <a:spcPts val="800"/>
              </a:spcAft>
            </a:pPr>
            <a:r>
              <a:rPr sz="2000" b="0">
                <a:solidFill>
                  <a:srgbClr val="0E2841"/>
                </a:solidFill>
              </a:rPr>
              <a:t>Wrong baseline window → adversarial re-analysis → own slide (34)</a:t>
            </a:r>
          </a:p>
          <a:p>
            <a:pPr algn="l">
              <a:spcAft>
                <a:spcPts val="800"/>
              </a:spcAft>
            </a:pPr>
            <a:r>
              <a:rPr sz="2000" b="0">
                <a:solidFill>
                  <a:srgbClr val="0E2841"/>
                </a:solidFill>
              </a:rPr>
              <a:t>No camera resolves the 1.6 ms pulse → DAQ owns it → slides 24, 27</a:t>
            </a:r>
          </a:p>
          <a:p>
            <a:pPr algn="l">
              <a:spcAft>
                <a:spcPts val="800"/>
              </a:spcAft>
            </a:pPr>
            <a:r>
              <a:rPr sz="2000" b="0">
                <a:solidFill>
                  <a:srgbClr val="0E2841"/>
                </a:solidFill>
              </a:rPr>
              <a:t>Supports still removed by hand → painted supports → slide 21</a:t>
            </a:r>
          </a:p>
          <a:p>
            <a:pPr algn="l">
              <a:spcAft>
                <a:spcPts val="800"/>
              </a:spcAft>
            </a:pPr>
            <a:r>
              <a:rPr sz="2000" b="0">
                <a:solidFill>
                  <a:srgbClr val="0E2841"/>
                </a:solidFill>
              </a:rPr>
              <a:t>Channel clipping at high drops → headroom check → spoken on slide 28</a:t>
            </a:r>
          </a:p>
          <a:p>
            <a:pPr algn="l">
              <a:spcAft>
                <a:spcPts val="800"/>
              </a:spcAft>
            </a:pPr>
            <a:r>
              <a:rPr sz="2000" b="0">
                <a:solidFill>
                  <a:srgbClr val="0E2841"/>
                </a:solidFill>
              </a:rPr>
              <a:t>Print defects confound specimens → replicates → Q&amp;A backup</a:t>
            </a:r>
          </a:p>
          <a:p>
            <a:pPr algn="l">
              <a:spcAft>
                <a:spcPts val="800"/>
              </a:spcAft>
            </a:pPr>
            <a:r>
              <a:rPr sz="2000" b="0">
                <a:solidFill>
                  <a:srgbClr val="0E2841"/>
                </a:solidFill>
              </a:rPr>
              <a:t>Cables not in tension → pre-tensioned prints → slide 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media inventory and what still needs shooting</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1000"/>
              </a:spcAft>
            </a:pPr>
            <a:r>
              <a:rPr sz="1900" b="0">
                <a:solidFill>
                  <a:srgbClr val="0E2841"/>
                </a:solidFill>
              </a:rPr>
              <a:t>EXTERNAL, EMBEDDED: Titan descent · 2D tensegrity · NASA toy-to-lander (sound) · SUPERball drop</a:t>
            </a:r>
          </a:p>
          <a:p>
            <a:pPr algn="l">
              <a:spcAft>
                <a:spcPts val="1000"/>
              </a:spcAft>
            </a:pPr>
            <a:r>
              <a:rPr sz="1900" b="0">
                <a:solidFill>
                  <a:srgbClr val="0E2841"/>
                </a:solidFill>
              </a:rPr>
              <a:t>OURS, EMBEDDED: print timelapse · support removal · whole-room drop (sound) · phone slow-mo (sound) · 960 fps drop · 7xadt6 snap-back</a:t>
            </a:r>
          </a:p>
          <a:p>
            <a:pPr algn="l">
              <a:spcAft>
                <a:spcPts val="1000"/>
              </a:spcAft>
            </a:pPr>
            <a:r>
              <a:rPr sz="1900" b="0">
                <a:solidFill>
                  <a:srgbClr val="0E2841"/>
                </a:solidFill>
              </a:rPr>
              <a:t>DUPLICATE: the print timelapse also opens the background addendum — keep one copy, not both</a:t>
            </a:r>
          </a:p>
          <a:p>
            <a:pPr algn="l">
              <a:spcAft>
                <a:spcPts val="1000"/>
              </a:spcAft>
            </a:pPr>
            <a:r>
              <a:rPr sz="1900" b="0">
                <a:solidFill>
                  <a:srgbClr val="0E2841"/>
                </a:solidFill>
              </a:rPr>
              <a:t>STILL NEEDED: drop-tower photo, campaign ledger and Pareto-front figures, Colab link for issue #94</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