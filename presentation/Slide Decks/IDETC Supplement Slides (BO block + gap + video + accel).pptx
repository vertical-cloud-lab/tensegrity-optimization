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018" r:id="rId23"/>
    <p:sldId id="7102" r:id="rId24"/>
    <p:sldId id="7103" r:id="rId25"/>
    <p:sldId id="7104" r:id="rId26"/>
    <p:sldId id="7105" r:id="rId27"/>
    <p:sldId id="7106" r:id="rId28"/>
    <p:sldId id="7107" r:id="rId29"/>
    <p:sldId id="7108" r:id="rId30"/>
    <p:sldId id="7109" r:id="rId31"/>
    <p:sldId id="7110" r:id="rId32"/>
    <p:sldId id="6494" r:id="rId35"/>
    <p:sldId id="7114" r:id="rId19"/>
    <p:sldId id="7115" r:id="rId18"/>
    <p:sldId id="7116" r:id="rId17"/>
    <p:sldId id="7117" r:id="rId16"/>
    <p:sldId id="7118" r:id="rId15"/>
    <p:sldId id="7119" r:id="rId14"/>
    <p:sldId id="7120" r:id="rId33"/>
    <p:sldId id="712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slide" Target="slides/slide20.xml"/><Relationship Id="rId15" Type="http://schemas.openxmlformats.org/officeDocument/2006/relationships/slide" Target="slides/slide19.xml"/><Relationship Id="rId16" Type="http://schemas.openxmlformats.org/officeDocument/2006/relationships/slide" Target="slides/slide18.xml"/><Relationship Id="rId17" Type="http://schemas.openxmlformats.org/officeDocument/2006/relationships/slide" Target="slides/slide17.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14.xml"/><Relationship Id="rId21" Type="http://schemas.openxmlformats.org/officeDocument/2006/relationships/slide" Target="slides/slide13.xml"/><Relationship Id="rId22" Type="http://schemas.openxmlformats.org/officeDocument/2006/relationships/slide" Target="slides/slide12.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1.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SLIDE — do not present; it drives media placement in Draft 2. Box folder with trimmed snips: byu.box.com/s/g719ao0glalis8l6l2plkq2ztvvh48s4. Online-video embeds need internet in the session room — keep local copies of the Box snips on the presenting laptop as fallback. Sterling’s note for later: repo credentials could enable auto-downloading our own YouTube videos.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for interspersing challenges (Sterling’s request), not necessarily a slide to present — pick one challenge per destination slide as a spoken aside, and keep this as a backup "lessons learned" slide for Q&amp;A (audiences love these). Evidence links per row are all in presentation/data-catalogue.md: rows 1–3 → PR #35/#48/#63–#66; row 4 → PR #35/#67; row 5 → issue #71 + PR #74; row 6 → PR #82 + issue #88.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ACCELEROMETER SLIDE 3 of 3 — the "challenges interspersed" slide for the testing section. All four stories have committed evidence: PR #74 (calibration figures + Dytran 3133A4 spec), issue #71 (origin), PR #82 (felt saturation sweep + TP4 overload), issue #88 (PU pad decision + footprint measurement figure on claude/issue-88-20260725-0916). If time is tight, keep bullet 1 spoken and move the rest to a backup slide — but audiences reward honest failure-and-fix stories.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ACCELEROMETER SLIDE 2 of 3. Keep numbers consistent with bo/tensegrity_campaign.py (PR #30 branch): F_peak ≤ 2500 N, SEA ≥ 0.05 J/g, η ≥ 0.20, qNEHVI — this also resolves the "6 variables vs 7" spec conflict the Edison mock audience flagged: quote the campaign file, not memory, before slide freeze. Trace figures: data/drop-tests/felt-sheet/figures/03_ch5_impact_traces.png (PR #82 branch), vertex-acrylic/figures/02_cfc180_peak_bars.png (PR #67 branch). CFC-180 choice is also what the simulation study used for parity (PR #33 Edison simulation-bo-value), so sim and experiment are compared like-for-like.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ACCELEROMETER SLIDE 1 of 3 — pairs with Draft 1 slide 9. Assets: tower stills issue #36; harvested drop-tower.jpg on PR #20 branch figures/photos/; M23 + TP4 documentation (PR #28 branch equipment/, TP4 manuals attached to issues #36/#89). The printed key-seat sensor pocket is itself a nice AM story: early hot-glue and wax mounts fell off mid-campaign (videos in PR #67); the pocket dimensions were tuned empirically to 6.1 mm (PR #35 OnShape). Say it in one sentence — "the structure prints its own sensor mount."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VIDEO-ANALYSIS SLIDE 2 of 2. Figures: data/drop-tests/key-mounted/video-figures/01_centroid_descent_overlay.png (branch copilot/get-video-drop-test-data); 05_video_kinematics.png, 06_video_impact_zoom.png, grid-parallax figure (branch copilot/add-drop-test-protocol-again). Scripts in scripts/analysis/. Challenge worth one sentence: GitHub/phone pipelines re-encode HFR video to 30 fps containers — resolved by keeping raw camera files (drop5.mp4 on the PR #67 branch settled it) and archiving raw footage on Box. The early fixture-artifact videos (issue #36: specimen separating from plate; bungee/clip iterations in PR #67) make good one-frame examples of video catching problems.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Delete this slide before presenting. Asset index: presentation/data-catalogue.md on the PR #84 branch.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MISSING GAP SLIDE, part 1 (insert after Draft 1 slide 4 "Need"). Fixes "no prior work is mentioned". Sources: SUPERball v2 — Vespignani et al. 2018 (IEEE RA-L / IROS; video snip in Box folder); Davami et al. 2025 PDF — issue #57 attachment, archived on PR #58 branch (literature/davami2025-dynamic-am-tensegrity.pdf) with analysis MD; engine disagreement — PR #33 branch simulations/outputs/ (engine ladder + Sobol tier comparisons); Gu &amp; Dotov — arXiv:2605.02710 (PR #41). Verify citation details against manuscript/references.bib (813-entry master bib on PR #76 branch) before slide freeze.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MISSING GAP SLIDE, part 2 — completes motivation → gap → solution. Spoken transition into the next (BO) block: "...so we built that loop. The first ingredient is Bayesian optimization — and rather than reinvent this explanation, here is the short version." Then Sterling’s EMC slides run. Keep this slide sparse; the contrast columns carry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this caveat lands "basically within the same breath" as multi-material printing is introduced — attach to Draft 1 slide 8 or immediately after it, and repeat one line in Q&amp;A prep. Matches the manuscript’s "tensegrity-inspired" framing (PR #2 Edison review) and pre-empts the sharpest expert objection from the Edison mock audience. Assets: specimen photos PR #35 comments; anchor-bulb DOE CAD renders PR #52; pre-tension routes literature note on branch claude/issue-87-20260723-1655.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VIDEO-ANALYSIS SLIDE 1 of 2 — insert into the testing section (with Draft 1 slide 9). Figures ready on branch copilot/add-drop-test-protocol-again: 60in-5felts-validation/video/figures/ + prc1kn-60in-5felt/video/figures/ (montages, kinematics, impact zoom). Frame-rate/DAQ studies: analysis/issue-89-* on the four claude/issue-89-* branches. Raw footage Box: byu.box.com/s/kkhmvnj9ni19b57dryk3gdroqrp5uf0b and .../ncvfn5shhg1ignoibg1c3wd03p31p6c2. Challenge to mention here (Sterling’s "intersperse challenges"): consumer cameras top out near 1000 fps — our analysis shows that is adequate for this pulse; a high-speed RPi camera was evaluated as an upgrade path (issue #89).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Sterling Baird, Ph.D.</a:t>
            </a:r>
            <a:br>
              <a:rPr lang="en-CA" sz="2000" dirty="0"/>
            </a:br>
            <a:r>
              <a:rPr lang="en-CA" sz="2000" dirty="0"/>
              <a:t>Assistant Professor, Mech Eng</a:t>
            </a:r>
          </a:p>
          <a:p>
            <a:pPr algn="ctr"/>
            <a:endParaRPr lang="en-CA" sz="2000" dirty="0"/>
          </a:p>
          <a:p>
            <a:pPr algn="ctr"/>
            <a:endParaRPr lang="en-CA" sz="2000" dirty="0"/>
          </a:p>
          <a:p>
            <a:pPr algn="ctr"/>
            <a:endParaRPr lang="en-CA" sz="2000" dirty="0"/>
          </a:p>
          <a:p>
            <a:pPr algn="ctr"/>
            <a:endParaRPr lang="en-CA" sz="2000" dirty="0"/>
          </a:p>
          <a:p>
            <a:pPr algn="ctr"/>
            <a:r>
              <a:rPr lang="en-CA" sz="2000" dirty="0"/>
              <a:t>EMC</a:t>
            </a:r>
            <a:br>
              <a:rPr lang="en-CA" sz="2000" dirty="0"/>
            </a:br>
            <a:r>
              <a:rPr lang="en-CA" sz="2000" dirty="0">
                <a:solidFill>
                  <a:schemeClr val="bg1">
                    <a:lumMod val="50000"/>
                  </a:schemeClr>
                </a:solidFill>
              </a:rPr>
              <a:t>June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discover high-performing alloys</a:t>
            </a:r>
            <a:br>
              <a:rPr lang="en-CA" b="0" dirty="0"/>
            </a:br>
            <a:r>
              <a:rPr lang="en-CA" b="0" dirty="0"/>
              <a:t>	10x faster with AI at a tenth of the cost</a:t>
            </a:r>
            <a:br>
              <a:rPr lang="en-CA" b="0" dirty="0"/>
            </a:br>
            <a:r>
              <a:rPr lang="en-CA" b="0" dirty="0"/>
              <a:t>	</a:t>
            </a:r>
            <a:r>
              <a:rPr lang="en-CA" b="0" dirty="0">
                <a:solidFill>
                  <a:schemeClr val="bg1">
                    <a:lumMod val="50000"/>
                  </a:schemeClr>
                </a:solidFill>
              </a:rPr>
              <a:t>+ vertical cloud labs and frugal twins</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spcAft>
                <a:spcPts val="600"/>
              </a:spcAft>
            </a:pPr>
            <a:r>
              <a:rPr sz="2800" b="1">
                <a:solidFill>
                  <a:srgbClr val="156082"/>
                </a:solidFill>
              </a:rPr>
              <a:t>HOW TO USE THIS SUPPLEMENT (not a talk slide)</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pPr>
            <a:r>
              <a:rPr sz="1700">
                <a:solidFill>
                  <a:srgbClr val="0E2841"/>
                </a:solidFill>
              </a:rPr>
              <a:t>Building blocks to merge into the next draft of "IDETC Tensegrity Slides". Copy slides into the main deck with "Keep Source Formatting" so the theme and animations survive.</a:t>
            </a:r>
          </a:p>
          <a:p>
            <a:pPr>
              <a:spcAft>
                <a:spcPts val="600"/>
              </a:spcAft>
            </a:pPr>
            <a:r>
              <a:rPr sz="1700">
                <a:solidFill>
                  <a:srgbClr val="0E2841"/>
                </a:solidFill>
              </a:rPr>
              <a:t>Slides 4–14 are Sterling’s EMC 2026 BO intro block, extracted verbatim — the "more than vanilla" build and the Honegumi slide keep their click-through PPT animations.</a:t>
            </a:r>
          </a:p>
          <a:p>
            <a:pPr>
              <a:spcAft>
                <a:spcPts val="600"/>
              </a:spcAft>
            </a:pPr>
            <a:r>
              <a:rPr sz="1700">
                <a:solidFill>
                  <a:srgbClr val="0E2841"/>
                </a:solidFill>
              </a:rPr>
              <a:t>Dashed gray boxes are placeholders that name the exact existing repo asset to drop in. The presenter notes on every slide say where that asset lives.</a:t>
            </a:r>
          </a:p>
          <a:p>
            <a:pPr>
              <a:spcAft>
                <a:spcPts val="600"/>
              </a:spcAft>
            </a:pPr>
            <a:r>
              <a:rPr sz="1700">
                <a:solidFill>
                  <a:srgbClr val="0E2841"/>
                </a:solidFill>
              </a:rPr>
              <a:t>Full asset index: presentation/data-catalogue.md (every issue, PR, and branch swept for data).</a:t>
            </a:r>
          </a:p>
          <a:p>
            <a:pPr>
              <a:spcAft>
                <a:spcPts val="600"/>
              </a:spcAft>
            </a:pPr>
            <a:r>
              <a:rPr sz="1700">
                <a:solidFill>
                  <a:srgbClr val="0E2841"/>
                </a:solidFill>
              </a:rPr>
              <a:t>Each slide’s notes also say where it slots into Draft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700"/>
              <a:t>Tensegrity impact structures exist — but they are hand-designed or trusted to idealized simulation</a:t>
            </a:r>
          </a:p>
        </p:txBody>
      </p:sp>
      <p:sp>
        <p:nvSpPr>
          <p:cNvPr id="3" name="TextBox 2"/>
          <p:cNvSpPr txBox="1"/>
          <p:nvPr/>
        </p:nvSpPr>
        <p:spPr>
          <a:xfrm>
            <a:off x="548640" y="1600200"/>
            <a:ext cx="6766560" cy="4754880"/>
          </a:xfrm>
          <a:prstGeom prst="rect">
            <a:avLst/>
          </a:prstGeom>
          <a:noFill/>
        </p:spPr>
        <p:txBody>
          <a:bodyPr wrap="square">
            <a:spAutoFit/>
          </a:bodyPr>
          <a:lstStyle/>
          <a:p>
            <a:pPr>
              <a:spcAft>
                <a:spcPts val="600"/>
              </a:spcAft>
            </a:pPr>
            <a:r>
              <a:rPr sz="1500">
                <a:solidFill>
                  <a:srgbClr val="0E2841"/>
                </a:solidFill>
              </a:rPr>
              <a:t>NASA Super Ball Bot / SUPERball v2 (Vespignani et al., 2018): hand-designed geometry; the research effort went into actuation and locomotion — not into optimizing the structure for energy absorption</a:t>
            </a:r>
          </a:p>
          <a:p>
            <a:pPr>
              <a:spcAft>
                <a:spcPts val="600"/>
              </a:spcAft>
            </a:pPr>
            <a:r>
              <a:rPr sz="1500">
                <a:solidFill>
                  <a:srgbClr val="0E2841"/>
                </a:solidFill>
              </a:rPr>
              <a:t>Additively manufactured tensegrity (Davami et al., 2025, Int. J. Impact Eng.): printing + dynamic characterization demonstrated — but one-off designs, no design optimization</a:t>
            </a:r>
          </a:p>
          <a:p>
            <a:pPr>
              <a:spcAft>
                <a:spcPts val="600"/>
              </a:spcAft>
            </a:pPr>
            <a:r>
              <a:rPr sz="1500">
                <a:solidFill>
                  <a:srgbClr val="0E2841"/>
                </a:solidFill>
              </a:rPr>
              <a:t>Simulation-driven design (form-finding, dynamic relaxation, physics engines): our own 6-engine comparison shows engines disagree on millisecond-scale peak shock — exactly the quantity a lander cares about</a:t>
            </a:r>
          </a:p>
          <a:p>
            <a:pPr>
              <a:spcAft>
                <a:spcPts val="600"/>
              </a:spcAft>
            </a:pPr>
            <a:r>
              <a:rPr sz="1500">
                <a:solidFill>
                  <a:srgbClr val="0E2841"/>
                </a:solidFill>
              </a:rPr>
              <a:t>Growing application pull (e.g., tensegrity crutch tip, Gu &amp; Dotov 2026) — but the design method is still manual</a:t>
            </a:r>
          </a:p>
        </p:txBody>
      </p:sp>
      <p:sp>
        <p:nvSpPr>
          <p:cNvPr id="4" name="Rectangle 3"/>
          <p:cNvSpPr/>
          <p:nvPr/>
        </p:nvSpPr>
        <p:spPr>
          <a:xfrm>
            <a:off x="7543800" y="1737360"/>
            <a:ext cx="4114800" cy="420624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Prior-work strip:</a:t>
            </a:r>
          </a:p>
          <a:p>
            <a:pPr algn="ctr"/>
            <a:r>
              <a:rPr sz="1100" i="1">
                <a:solidFill>
                  <a:srgbClr val="595959"/>
                </a:solidFill>
              </a:rPr>
              <a:t>SUPERball photo (video-snips / PR #22 STL render)</a:t>
            </a:r>
          </a:p>
          <a:p>
            <a:pPr algn="ctr"/>
            <a:r>
              <a:rPr sz="1100" i="1">
                <a:solidFill>
                  <a:srgbClr val="595959"/>
                </a:solidFill>
              </a:rPr>
              <a:t>Davami et al. figure (PDF in repo)</a:t>
            </a:r>
          </a:p>
          <a:p>
            <a:pPr algn="ctr"/>
            <a:r>
              <a:rPr sz="1100" i="1">
                <a:solidFill>
                  <a:srgbClr val="595959"/>
                </a:solidFill>
              </a:rPr>
              <a:t>sim engine-ladder figure</a:t>
            </a:r>
          </a:p>
          <a:p>
            <a:pPr algn="ctr"/>
            <a:r>
              <a:rPr sz="1100" i="1">
                <a:solidFill>
                  <a:srgbClr val="595959"/>
                </a:solidFill>
              </a:rPr>
              <a:t>(simulations/outputs/sobol_t3_engine_ladder.png, PR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a:t>The gap: no one closes the loop between printing a tensegrity structure and optimizing it on real, measured impacts</a:t>
            </a:r>
          </a:p>
        </p:txBody>
      </p:sp>
      <p:sp>
        <p:nvSpPr>
          <p:cNvPr id="3" name="TextBox 2"/>
          <p:cNvSpPr txBox="1"/>
          <p:nvPr/>
        </p:nvSpPr>
        <p:spPr>
          <a:xfrm>
            <a:off x="548640" y="1828800"/>
            <a:ext cx="5394960" cy="3931920"/>
          </a:xfrm>
          <a:prstGeom prst="rect">
            <a:avLst/>
          </a:prstGeom>
          <a:noFill/>
        </p:spPr>
        <p:txBody>
          <a:bodyPr wrap="square">
            <a:spAutoFit/>
          </a:bodyPr>
          <a:lstStyle/>
          <a:p>
            <a:pPr>
              <a:spcAft>
                <a:spcPts val="600"/>
              </a:spcAft>
            </a:pPr>
            <a:r>
              <a:rPr sz="1700" b="1">
                <a:solidFill>
                  <a:srgbClr val="595959"/>
                </a:solidFill>
              </a:rPr>
              <a:t>What exists</a:t>
            </a:r>
          </a:p>
          <a:p>
            <a:pPr lvl="1">
              <a:spcAft>
                <a:spcPts val="600"/>
              </a:spcAft>
            </a:pPr>
            <a:r>
              <a:rPr sz="1600">
                <a:solidFill>
                  <a:srgbClr val="595959"/>
                </a:solidFill>
              </a:rPr>
              <a:t>hand design + heroic manual assembly</a:t>
            </a:r>
          </a:p>
          <a:p>
            <a:pPr lvl="1">
              <a:spcAft>
                <a:spcPts val="600"/>
              </a:spcAft>
            </a:pPr>
            <a:r>
              <a:rPr sz="1600">
                <a:solidFill>
                  <a:srgbClr val="595959"/>
                </a:solidFill>
              </a:rPr>
              <a:t>idealized simulation, rarely validated against measured impact</a:t>
            </a:r>
          </a:p>
          <a:p>
            <a:pPr lvl="1">
              <a:spcAft>
                <a:spcPts val="600"/>
              </a:spcAft>
            </a:pPr>
            <a:r>
              <a:rPr sz="1600">
                <a:solidFill>
                  <a:srgbClr val="595959"/>
                </a:solidFill>
              </a:rPr>
              <a:t>one-off AM demonstrations, characterized but not optimized</a:t>
            </a:r>
          </a:p>
        </p:txBody>
      </p:sp>
      <p:sp>
        <p:nvSpPr>
          <p:cNvPr id="4" name="TextBox 3"/>
          <p:cNvSpPr txBox="1"/>
          <p:nvPr/>
        </p:nvSpPr>
        <p:spPr>
          <a:xfrm>
            <a:off x="6309360" y="1828800"/>
            <a:ext cx="5394960" cy="3931920"/>
          </a:xfrm>
          <a:prstGeom prst="rect">
            <a:avLst/>
          </a:prstGeom>
          <a:noFill/>
        </p:spPr>
        <p:txBody>
          <a:bodyPr wrap="square">
            <a:spAutoFit/>
          </a:bodyPr>
          <a:lstStyle/>
          <a:p>
            <a:pPr>
              <a:spcAft>
                <a:spcPts val="600"/>
              </a:spcAft>
            </a:pPr>
            <a:r>
              <a:rPr sz="1700" b="1">
                <a:solidFill>
                  <a:srgbClr val="156082"/>
                </a:solidFill>
              </a:rPr>
              <a:t>What this work adds</a:t>
            </a:r>
          </a:p>
          <a:p>
            <a:pPr lvl="1">
              <a:spcAft>
                <a:spcPts val="600"/>
              </a:spcAft>
            </a:pPr>
            <a:r>
              <a:rPr sz="1600">
                <a:solidFill>
                  <a:srgbClr val="156082"/>
                </a:solidFill>
              </a:rPr>
              <a:t>experiment-in-the-loop optimization — the drop test is the objective function</a:t>
            </a:r>
          </a:p>
          <a:p>
            <a:pPr lvl="1">
              <a:spcAft>
                <a:spcPts val="600"/>
              </a:spcAft>
            </a:pPr>
            <a:r>
              <a:rPr sz="1600">
                <a:solidFill>
                  <a:srgbClr val="156082"/>
                </a:solidFill>
              </a:rPr>
              <a:t>multi-objective trade-offs learned from measured shock data</a:t>
            </a:r>
          </a:p>
          <a:p>
            <a:pPr lvl="1">
              <a:spcAft>
                <a:spcPts val="600"/>
              </a:spcAft>
            </a:pPr>
            <a:r>
              <a:rPr sz="1600">
                <a:solidFill>
                  <a:srgbClr val="156082"/>
                </a:solidFill>
              </a:rPr>
              <a:t>a repeatable print → drop → learn cycle on one printer + one tower</a:t>
            </a:r>
          </a:p>
        </p:txBody>
      </p:sp>
      <p:sp>
        <p:nvSpPr>
          <p:cNvPr id="5" name="Right Arrow 4"/>
          <p:cNvSpPr/>
          <p:nvPr/>
        </p:nvSpPr>
        <p:spPr>
          <a:xfrm>
            <a:off x="5806440" y="3291840"/>
            <a:ext cx="457200" cy="41148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One honest caveat, up front: as printed, these are tensegrity-inspired — not true tensegrity (yet)</a:t>
            </a:r>
          </a:p>
        </p:txBody>
      </p:sp>
      <p:sp>
        <p:nvSpPr>
          <p:cNvPr id="3" name="TextBox 2"/>
          <p:cNvSpPr txBox="1"/>
          <p:nvPr/>
        </p:nvSpPr>
        <p:spPr>
          <a:xfrm>
            <a:off x="548640" y="1737360"/>
            <a:ext cx="6949440" cy="4389120"/>
          </a:xfrm>
          <a:prstGeom prst="rect">
            <a:avLst/>
          </a:prstGeom>
          <a:noFill/>
        </p:spPr>
        <p:txBody>
          <a:bodyPr wrap="square">
            <a:spAutoFit/>
          </a:bodyPr>
          <a:lstStyle/>
          <a:p>
            <a:pPr>
              <a:spcAft>
                <a:spcPts val="600"/>
              </a:spcAft>
            </a:pPr>
            <a:r>
              <a:rPr sz="1600">
                <a:solidFill>
                  <a:srgbClr val="0E2841"/>
                </a:solidFill>
              </a:rPr>
              <a:t>True tensegrity: cables carry pre-tension and are effectively inextensible. Our printed TPU "cables" are neither — no pre-tension in the as-built state, and TPU stretches.</a:t>
            </a:r>
          </a:p>
          <a:p>
            <a:pPr>
              <a:spcAft>
                <a:spcPts val="600"/>
              </a:spcAft>
            </a:pPr>
            <a:r>
              <a:rPr sz="1600">
                <a:solidFill>
                  <a:srgbClr val="0E2841"/>
                </a:solidFill>
              </a:rPr>
              <a:t>What we do keep: the T3 topology, its load paths, and its parametric design space — the properties the optimization explores.</a:t>
            </a:r>
          </a:p>
          <a:p>
            <a:pPr>
              <a:spcAft>
                <a:spcPts val="600"/>
              </a:spcAft>
            </a:pPr>
            <a:r>
              <a:rPr sz="1600">
                <a:solidFill>
                  <a:srgbClr val="0E2841"/>
                </a:solidFill>
              </a:rPr>
              <a:t>Active work toward true tensegrity: printable pre-tension activation (anchor-bulb DOE plate; issue #87) and manually assembled true-tensegrity validation builds.</a:t>
            </a:r>
          </a:p>
        </p:txBody>
      </p:sp>
      <p:sp>
        <p:nvSpPr>
          <p:cNvPr id="4" name="Rectangle 3"/>
          <p:cNvSpPr/>
          <p:nvPr/>
        </p:nvSpPr>
        <p:spPr>
          <a:xfrm>
            <a:off x="7772400" y="1828800"/>
            <a:ext cx="3886200" cy="402336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Side-by-side:</a:t>
            </a:r>
          </a:p>
          <a:p>
            <a:pPr algn="ctr"/>
            <a:r>
              <a:rPr sz="1100" i="1">
                <a:solidFill>
                  <a:srgbClr val="595959"/>
                </a:solidFill>
              </a:rPr>
              <a:t>printed T3 specimen photo (PR #35)</a:t>
            </a:r>
          </a:p>
          <a:p>
            <a:pPr algn="ctr"/>
            <a:r>
              <a:rPr sz="1100" i="1">
                <a:solidFill>
                  <a:srgbClr val="595959"/>
                </a:solidFill>
              </a:rPr>
              <a:t>vs. string-and-strut true tensegrity</a:t>
            </a:r>
          </a:p>
          <a:p>
            <a:pPr algn="ctr"/>
            <a:r>
              <a:rPr sz="1100" i="1">
                <a:solidFill>
                  <a:srgbClr val="595959"/>
                </a:solidFill>
              </a:rPr>
              <a:t>(build kit or models/stl render, PR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High-speed video shows what the accelerometer can’t: how the structure actually absorbs the impact</a:t>
            </a:r>
          </a:p>
        </p:txBody>
      </p:sp>
      <p:sp>
        <p:nvSpPr>
          <p:cNvPr id="3" name="TextBox 2"/>
          <p:cNvSpPr txBox="1"/>
          <p:nvPr/>
        </p:nvSpPr>
        <p:spPr>
          <a:xfrm>
            <a:off x="548640" y="1645920"/>
            <a:ext cx="6309360" cy="4480560"/>
          </a:xfrm>
          <a:prstGeom prst="rect">
            <a:avLst/>
          </a:prstGeom>
          <a:noFill/>
        </p:spPr>
        <p:txBody>
          <a:bodyPr wrap="square">
            <a:spAutoFit/>
          </a:bodyPr>
          <a:lstStyle/>
          <a:p>
            <a:pPr>
              <a:spcAft>
                <a:spcPts val="600"/>
              </a:spcAft>
            </a:pPr>
            <a:r>
              <a:rPr sz="1600">
                <a:solidFill>
                  <a:srgbClr val="0E2841"/>
                </a:solidFill>
              </a:rPr>
              <a:t>Sony RX100 IV at 960 fps: the impact pulse lasts ~1.6 ms, so resolving the impact itself needs ~1000 fps — while 120–240 fps is enough for post-impact deformation (from our own frame-rate study)</a:t>
            </a:r>
          </a:p>
          <a:p>
            <a:pPr>
              <a:spcAft>
                <a:spcPts val="600"/>
              </a:spcAft>
            </a:pPr>
            <a:r>
              <a:rPr sz="1600">
                <a:solidFill>
                  <a:srgbClr val="0E2841"/>
                </a:solidFill>
              </a:rPr>
              <a:t>A 20 mm calibration grid behind the specimen converts pixels to millimeters (parallax error quantified)</a:t>
            </a:r>
          </a:p>
          <a:p>
            <a:pPr>
              <a:spcAft>
                <a:spcPts val="600"/>
              </a:spcAft>
            </a:pPr>
            <a:r>
              <a:rPr sz="1600">
                <a:solidFill>
                  <a:srgbClr val="0E2841"/>
                </a:solidFill>
              </a:rPr>
              <a:t>Every instrumented drop gets a paired slow-motion clip; raw footage is archived in public Box folders</a:t>
            </a:r>
          </a:p>
        </p:txBody>
      </p:sp>
      <p:sp>
        <p:nvSpPr>
          <p:cNvPr id="4" name="Rectangle 3"/>
          <p:cNvSpPr/>
          <p:nvPr/>
        </p:nvSpPr>
        <p:spPr>
          <a:xfrm>
            <a:off x="7086600" y="1737360"/>
            <a:ext cx="4572000" cy="210312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Slow-mo frame montage — prc1kn drop</a:t>
            </a:r>
          </a:p>
          <a:p>
            <a:pPr algn="ctr"/>
            <a:r>
              <a:rPr sz="1100" i="1">
                <a:solidFill>
                  <a:srgbClr val="595959"/>
                </a:solidFill>
              </a:rPr>
              <a:t>(data/drop-tests/prc1kn-60in-5felt/video/figures/, PR #86 branch)</a:t>
            </a:r>
          </a:p>
        </p:txBody>
      </p:sp>
      <p:sp>
        <p:nvSpPr>
          <p:cNvPr id="5" name="Rectangle 4"/>
          <p:cNvSpPr/>
          <p:nvPr/>
        </p:nvSpPr>
        <p:spPr>
          <a:xfrm>
            <a:off x="7086600" y="4023360"/>
            <a:ext cx="4572000" cy="192024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Capture setup photo:</a:t>
            </a:r>
          </a:p>
          <a:p>
            <a:pPr algn="ctr"/>
            <a:r>
              <a:rPr sz="1100" i="1">
                <a:solidFill>
                  <a:srgbClr val="595959"/>
                </a:solidFill>
              </a:rPr>
              <a:t>camera + grid + tower</a:t>
            </a:r>
          </a:p>
          <a:p>
            <a:pPr algn="ctr"/>
            <a:r>
              <a:rPr sz="1100" i="1">
                <a:solidFill>
                  <a:srgbClr val="595959"/>
                </a:solidFill>
              </a:rPr>
              <a:t>(issue #36 stills / new photo)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Frames become physics: tracking turns each video into displacement, contact time, and rebound</a:t>
            </a:r>
          </a:p>
        </p:txBody>
      </p:sp>
      <p:sp>
        <p:nvSpPr>
          <p:cNvPr id="3" name="Rounded Rectangle 2"/>
          <p:cNvSpPr/>
          <p:nvPr/>
        </p:nvSpPr>
        <p:spPr>
          <a:xfrm>
            <a:off x="457200" y="1828800"/>
            <a:ext cx="1965960" cy="86868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raw 960 fps clip</a:t>
            </a:r>
          </a:p>
        </p:txBody>
      </p:sp>
      <p:sp>
        <p:nvSpPr>
          <p:cNvPr id="4" name="Right Arrow 3"/>
          <p:cNvSpPr/>
          <p:nvPr/>
        </p:nvSpPr>
        <p:spPr>
          <a:xfrm>
            <a:off x="2436876" y="210312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52344" y="1828800"/>
            <a:ext cx="1965960" cy="86868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frame extraction</a:t>
            </a:r>
          </a:p>
        </p:txBody>
      </p:sp>
      <p:sp>
        <p:nvSpPr>
          <p:cNvPr id="6" name="Right Arrow 5"/>
          <p:cNvSpPr/>
          <p:nvPr/>
        </p:nvSpPr>
        <p:spPr>
          <a:xfrm>
            <a:off x="4732020" y="210312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47488" y="1828800"/>
            <a:ext cx="1965960" cy="86868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centroid / marker tracking</a:t>
            </a:r>
          </a:p>
        </p:txBody>
      </p:sp>
      <p:sp>
        <p:nvSpPr>
          <p:cNvPr id="8" name="Right Arrow 7"/>
          <p:cNvSpPr/>
          <p:nvPr/>
        </p:nvSpPr>
        <p:spPr>
          <a:xfrm>
            <a:off x="7027164" y="210312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42631" y="1828800"/>
            <a:ext cx="1965960" cy="86868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pixels → mm via 20 mm grid</a:t>
            </a:r>
          </a:p>
        </p:txBody>
      </p:sp>
      <p:sp>
        <p:nvSpPr>
          <p:cNvPr id="10" name="Right Arrow 9"/>
          <p:cNvSpPr/>
          <p:nvPr/>
        </p:nvSpPr>
        <p:spPr>
          <a:xfrm>
            <a:off x="9322308" y="210312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37776" y="1828800"/>
            <a:ext cx="1965960" cy="86868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contact time · max compression · rebound</a:t>
            </a:r>
          </a:p>
        </p:txBody>
      </p:sp>
      <p:sp>
        <p:nvSpPr>
          <p:cNvPr id="12" name="TextBox 11"/>
          <p:cNvSpPr txBox="1"/>
          <p:nvPr/>
        </p:nvSpPr>
        <p:spPr>
          <a:xfrm>
            <a:off x="548640" y="3063240"/>
            <a:ext cx="6309360" cy="2926080"/>
          </a:xfrm>
          <a:prstGeom prst="rect">
            <a:avLst/>
          </a:prstGeom>
          <a:noFill/>
        </p:spPr>
        <p:txBody>
          <a:bodyPr wrap="square">
            <a:spAutoFit/>
          </a:bodyPr>
          <a:lstStyle/>
          <a:p>
            <a:pPr>
              <a:spcAft>
                <a:spcPts val="600"/>
              </a:spcAft>
            </a:pPr>
            <a:r>
              <a:rPr sz="1600">
                <a:solidFill>
                  <a:srgbClr val="0E2841"/>
                </a:solidFill>
              </a:rPr>
              <a:t>Cross-checks the accelerometer: video kinematics agree with velocity integrated from the DAQ trace</a:t>
            </a:r>
          </a:p>
          <a:p>
            <a:pPr>
              <a:spcAft>
                <a:spcPts val="600"/>
              </a:spcAft>
            </a:pPr>
            <a:r>
              <a:rPr sz="1600">
                <a:solidFill>
                  <a:srgbClr val="0E2841"/>
                </a:solidFill>
              </a:rPr>
              <a:t>And catches what the DAQ can’t: specimen separation before impact, off-axis motion, fixture artifacts — each one caught and fixed on video first</a:t>
            </a:r>
          </a:p>
        </p:txBody>
      </p:sp>
      <p:sp>
        <p:nvSpPr>
          <p:cNvPr id="13" name="Rectangle 12"/>
          <p:cNvSpPr/>
          <p:nvPr/>
        </p:nvSpPr>
        <p:spPr>
          <a:xfrm>
            <a:off x="7086600" y="3200400"/>
            <a:ext cx="4572000" cy="274320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Processed figure:</a:t>
            </a:r>
          </a:p>
          <a:p>
            <a:pPr algn="ctr"/>
            <a:r>
              <a:rPr sz="1100" i="1">
                <a:solidFill>
                  <a:srgbClr val="595959"/>
                </a:solidFill>
              </a:rPr>
              <a:t>centroid descent overlay (PR #67 branch)</a:t>
            </a:r>
          </a:p>
          <a:p>
            <a:pPr algn="ctr"/>
            <a:r>
              <a:rPr sz="1100" i="1">
                <a:solidFill>
                  <a:srgbClr val="595959"/>
                </a:solidFill>
              </a:rPr>
              <a:t>or video kinematics plot (PR #86 branch)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700"/>
              <a:t>A drop tower with an instrumented payload measures the shock a real payload would feel</a:t>
            </a:r>
          </a:p>
        </p:txBody>
      </p:sp>
      <p:sp>
        <p:nvSpPr>
          <p:cNvPr id="3" name="TextBox 2"/>
          <p:cNvSpPr txBox="1"/>
          <p:nvPr/>
        </p:nvSpPr>
        <p:spPr>
          <a:xfrm>
            <a:off x="548640" y="1645920"/>
            <a:ext cx="6309360" cy="4480560"/>
          </a:xfrm>
          <a:prstGeom prst="rect">
            <a:avLst/>
          </a:prstGeom>
          <a:noFill/>
        </p:spPr>
        <p:txBody>
          <a:bodyPr wrap="square">
            <a:spAutoFit/>
          </a:bodyPr>
          <a:lstStyle/>
          <a:p>
            <a:pPr>
              <a:spcAft>
                <a:spcPts val="600"/>
              </a:spcAft>
            </a:pPr>
            <a:r>
              <a:rPr sz="1600">
                <a:solidFill>
                  <a:srgbClr val="0E2841"/>
                </a:solidFill>
              </a:rPr>
              <a:t>Lansmont M23 drop tower + TP4 data acquisition; the specimen sits under a guided falling mass</a:t>
            </a:r>
          </a:p>
          <a:p>
            <a:pPr>
              <a:spcAft>
                <a:spcPts val="600"/>
              </a:spcAft>
            </a:pPr>
            <a:r>
              <a:rPr sz="1600">
                <a:solidFill>
                  <a:srgbClr val="0E2841"/>
                </a:solidFill>
              </a:rPr>
              <a:t>Top accelerometer keys into a pocket printed into the structure itself; a base-plate channel (CH5) records input; tri-axis sensor (Dytran 3133A4) available below</a:t>
            </a:r>
          </a:p>
          <a:p>
            <a:pPr>
              <a:spcAft>
                <a:spcPts val="600"/>
              </a:spcAft>
            </a:pPr>
            <a:r>
              <a:rPr sz="1600">
                <a:solidFill>
                  <a:srgbClr val="0E2841"/>
                </a:solidFill>
              </a:rPr>
              <a:t>Standard test condition — converged after a saturation sweep: 60 in drop onto a 5-felt stack, trigger on the base channel at 500 G</a:t>
            </a:r>
          </a:p>
        </p:txBody>
      </p:sp>
      <p:sp>
        <p:nvSpPr>
          <p:cNvPr id="4" name="Rectangle 3"/>
          <p:cNvSpPr/>
          <p:nvPr/>
        </p:nvSpPr>
        <p:spPr>
          <a:xfrm>
            <a:off x="7086600" y="1737360"/>
            <a:ext cx="4572000" cy="210312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Labeled drop-tower photo</a:t>
            </a:r>
          </a:p>
          <a:p>
            <a:pPr algn="ctr"/>
            <a:r>
              <a:rPr sz="1100" i="1">
                <a:solidFill>
                  <a:srgbClr val="595959"/>
                </a:solidFill>
              </a:rPr>
              <a:t>(issue #36 stills / figures/photos/drop-tower.jpg,</a:t>
            </a:r>
          </a:p>
          <a:p>
            <a:pPr algn="ctr"/>
            <a:r>
              <a:rPr sz="1100" i="1">
                <a:solidFill>
                  <a:srgbClr val="595959"/>
                </a:solidFill>
              </a:rPr>
              <a:t>PR #20 branch)</a:t>
            </a:r>
          </a:p>
        </p:txBody>
      </p:sp>
      <p:sp>
        <p:nvSpPr>
          <p:cNvPr id="5" name="Rectangle 4"/>
          <p:cNvSpPr/>
          <p:nvPr/>
        </p:nvSpPr>
        <p:spPr>
          <a:xfrm>
            <a:off x="7086600" y="4023360"/>
            <a:ext cx="4572000" cy="192024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Simple schematic:</a:t>
            </a:r>
          </a:p>
          <a:p>
            <a:pPr algn="ctr"/>
            <a:r>
              <a:rPr sz="1100" i="1">
                <a:solidFill>
                  <a:srgbClr val="595959"/>
                </a:solidFill>
              </a:rPr>
              <a:t>falling mass → specimen → sensors → DAQ</a:t>
            </a:r>
          </a:p>
          <a:p>
            <a:pPr algn="ctr"/>
            <a:r>
              <a:rPr sz="1100" i="1">
                <a:solidFill>
                  <a:srgbClr val="595959"/>
                </a:solidFill>
              </a:rPr>
              <a:t>(draw in PPT; M23 datasheet PR #28 for reference)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From raw ringing to three numbers: filtering and integration produce the metrics BO optimizes</a:t>
            </a:r>
          </a:p>
        </p:txBody>
      </p:sp>
      <p:sp>
        <p:nvSpPr>
          <p:cNvPr id="3" name="Rounded Rectangle 2"/>
          <p:cNvSpPr/>
          <p:nvPr/>
        </p:nvSpPr>
        <p:spPr>
          <a:xfrm>
            <a:off x="457200" y="1828800"/>
            <a:ext cx="1965960" cy="10058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raw TP4 trace</a:t>
            </a:r>
          </a:p>
          <a:p>
            <a:pPr algn="ctr"/>
            <a:r>
              <a:rPr sz="1200">
                <a:solidFill>
                  <a:srgbClr val="FFFFFF"/>
                </a:solidFill>
              </a:rPr>
              <a:t>(125 kHz)</a:t>
            </a:r>
          </a:p>
        </p:txBody>
      </p:sp>
      <p:sp>
        <p:nvSpPr>
          <p:cNvPr id="4" name="Right Arrow 3"/>
          <p:cNvSpPr/>
          <p:nvPr/>
        </p:nvSpPr>
        <p:spPr>
          <a:xfrm>
            <a:off x="2436876" y="219456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52344" y="1828800"/>
            <a:ext cx="1965960" cy="10058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cross-calibrated</a:t>
            </a:r>
          </a:p>
          <a:p>
            <a:pPr algn="ctr"/>
            <a:r>
              <a:rPr sz="1200">
                <a:solidFill>
                  <a:srgbClr val="FFFFFF"/>
                </a:solidFill>
              </a:rPr>
              <a:t>(CH5 = 0.953×CH4)</a:t>
            </a:r>
          </a:p>
        </p:txBody>
      </p:sp>
      <p:sp>
        <p:nvSpPr>
          <p:cNvPr id="6" name="Right Arrow 5"/>
          <p:cNvSpPr/>
          <p:nvPr/>
        </p:nvSpPr>
        <p:spPr>
          <a:xfrm>
            <a:off x="4732020" y="219456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47488" y="1828800"/>
            <a:ext cx="1965960" cy="10058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SAE J211</a:t>
            </a:r>
          </a:p>
          <a:p>
            <a:pPr algn="ctr"/>
            <a:r>
              <a:rPr sz="1200">
                <a:solidFill>
                  <a:srgbClr val="FFFFFF"/>
                </a:solidFill>
              </a:rPr>
              <a:t>CFC-180 filter</a:t>
            </a:r>
          </a:p>
        </p:txBody>
      </p:sp>
      <p:sp>
        <p:nvSpPr>
          <p:cNvPr id="8" name="Right Arrow 7"/>
          <p:cNvSpPr/>
          <p:nvPr/>
        </p:nvSpPr>
        <p:spPr>
          <a:xfrm>
            <a:off x="7027164" y="219456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42631" y="1828800"/>
            <a:ext cx="1965960" cy="100584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peak transmitted</a:t>
            </a:r>
          </a:p>
          <a:p>
            <a:pPr algn="ctr"/>
            <a:r>
              <a:rPr sz="1200">
                <a:solidFill>
                  <a:srgbClr val="FFFFFF"/>
                </a:solidFill>
              </a:rPr>
              <a:t>force (constraint)</a:t>
            </a:r>
          </a:p>
        </p:txBody>
      </p:sp>
      <p:sp>
        <p:nvSpPr>
          <p:cNvPr id="10" name="Right Arrow 9"/>
          <p:cNvSpPr/>
          <p:nvPr/>
        </p:nvSpPr>
        <p:spPr>
          <a:xfrm>
            <a:off x="9322308" y="2194560"/>
            <a:ext cx="292608" cy="27432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37776" y="1828800"/>
            <a:ext cx="1965960" cy="100584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FFFFFF"/>
                </a:solidFill>
              </a:rPr>
              <a:t>integrate → SEA (J/g)</a:t>
            </a:r>
          </a:p>
          <a:p>
            <a:pPr algn="ctr"/>
            <a:r>
              <a:rPr sz="1200">
                <a:solidFill>
                  <a:srgbClr val="FFFFFF"/>
                </a:solidFill>
              </a:rPr>
              <a:t>+ compaction eff.</a:t>
            </a:r>
          </a:p>
        </p:txBody>
      </p:sp>
      <p:sp>
        <p:nvSpPr>
          <p:cNvPr id="12" name="TextBox 11"/>
          <p:cNvSpPr txBox="1"/>
          <p:nvPr/>
        </p:nvSpPr>
        <p:spPr>
          <a:xfrm>
            <a:off x="548640" y="3200400"/>
            <a:ext cx="6309360" cy="2743200"/>
          </a:xfrm>
          <a:prstGeom prst="rect">
            <a:avLst/>
          </a:prstGeom>
          <a:noFill/>
        </p:spPr>
        <p:txBody>
          <a:bodyPr wrap="square">
            <a:spAutoFit/>
          </a:bodyPr>
          <a:lstStyle/>
          <a:p>
            <a:pPr>
              <a:spcAft>
                <a:spcPts val="600"/>
              </a:spcAft>
            </a:pPr>
            <a:r>
              <a:rPr sz="1600">
                <a:solidFill>
                  <a:srgbClr val="0E2841"/>
                </a:solidFill>
              </a:rPr>
              <a:t>Replicate drops on the same specimen quantify measurement noise — the BO model is noise-aware by construction</a:t>
            </a:r>
          </a:p>
          <a:p>
            <a:pPr>
              <a:spcAft>
                <a:spcPts val="600"/>
              </a:spcAft>
            </a:pPr>
            <a:r>
              <a:rPr sz="1600">
                <a:solidFill>
                  <a:srgbClr val="0E2841"/>
                </a:solidFill>
              </a:rPr>
              <a:t>Objectives and constraint stated once, used everywhere: maximize SEA and compaction efficiency, subject to a peak transmitted-force cap</a:t>
            </a:r>
          </a:p>
        </p:txBody>
      </p:sp>
      <p:sp>
        <p:nvSpPr>
          <p:cNvPr id="13" name="Rectangle 12"/>
          <p:cNvSpPr/>
          <p:nvPr/>
        </p:nvSpPr>
        <p:spPr>
          <a:xfrm>
            <a:off x="7086600" y="3291840"/>
            <a:ext cx="4572000" cy="265176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Figure: raw vs CFC-180-filtered trace,</a:t>
            </a:r>
          </a:p>
          <a:p>
            <a:pPr algn="ctr"/>
            <a:r>
              <a:rPr sz="1100" i="1">
                <a:solidFill>
                  <a:srgbClr val="595959"/>
                </a:solidFill>
              </a:rPr>
              <a:t>peak annotated</a:t>
            </a:r>
          </a:p>
          <a:p>
            <a:pPr algn="ctr"/>
            <a:r>
              <a:rPr sz="1100" i="1">
                <a:solidFill>
                  <a:srgbClr val="595959"/>
                </a:solidFill>
              </a:rPr>
              <a:t>(felt-sheet 03_ch5_impact_traces.png, PR #82;</a:t>
            </a:r>
          </a:p>
          <a:p>
            <a:pPr algn="ctr"/>
            <a:r>
              <a:rPr sz="1100" i="1">
                <a:solidFill>
                  <a:srgbClr val="595959"/>
                </a:solidFill>
              </a:rPr>
              <a:t>CFC-180 peak bars, PR #67 branch)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700"/>
              <a:t>Our sensors lied to us at first — cross-calibration and a rebuilt impact surface fixed that</a:t>
            </a:r>
          </a:p>
        </p:txBody>
      </p:sp>
      <p:sp>
        <p:nvSpPr>
          <p:cNvPr id="3" name="TextBox 2"/>
          <p:cNvSpPr txBox="1"/>
          <p:nvPr/>
        </p:nvSpPr>
        <p:spPr>
          <a:xfrm>
            <a:off x="548640" y="1645920"/>
            <a:ext cx="6309360" cy="4572000"/>
          </a:xfrm>
          <a:prstGeom prst="rect">
            <a:avLst/>
          </a:prstGeom>
          <a:noFill/>
        </p:spPr>
        <p:txBody>
          <a:bodyPr wrap="square">
            <a:spAutoFit/>
          </a:bodyPr>
          <a:lstStyle/>
          <a:p>
            <a:pPr>
              <a:spcAft>
                <a:spcPts val="600"/>
              </a:spcAft>
            </a:pPr>
            <a:r>
              <a:rPr sz="1500">
                <a:solidFill>
                  <a:srgbClr val="0E2841"/>
                </a:solidFill>
              </a:rPr>
              <a:t>Channels disagreed ~30× → a sensitivity-entry error, found by co-locating sensors on bare metal and regressing (CH5 = 0.953 × CH4)</a:t>
            </a:r>
          </a:p>
          <a:p>
            <a:pPr>
              <a:spcAft>
                <a:spcPts val="600"/>
              </a:spcAft>
            </a:pPr>
            <a:r>
              <a:rPr sz="1500">
                <a:solidFill>
                  <a:srgbClr val="0E2841"/>
                </a:solidFill>
              </a:rPr>
              <a:t>CH1 hard-clipped at high g → channel roles reassigned; every campaign now gets a saturation audit</a:t>
            </a:r>
          </a:p>
          <a:p>
            <a:pPr>
              <a:spcAft>
                <a:spcPts val="600"/>
              </a:spcAft>
            </a:pPr>
            <a:r>
              <a:rPr sz="1500">
                <a:solidFill>
                  <a:srgbClr val="0E2841"/>
                </a:solidFill>
              </a:rPr>
              <a:t>Felt stack degrades over hundreds of drops → saturation sweep defined the standard condition; durable polyurethane pads qualified as replacement</a:t>
            </a:r>
          </a:p>
          <a:p>
            <a:pPr>
              <a:spcAft>
                <a:spcPts val="600"/>
              </a:spcAft>
            </a:pPr>
            <a:r>
              <a:rPr sz="1500">
                <a:solidFill>
                  <a:srgbClr val="0E2841"/>
                </a:solidFill>
              </a:rPr>
              <a:t>500-drop endurance runs exposed DAQ overload limits → batched export workflow</a:t>
            </a:r>
          </a:p>
        </p:txBody>
      </p:sp>
      <p:sp>
        <p:nvSpPr>
          <p:cNvPr id="4" name="Rectangle 3"/>
          <p:cNvSpPr/>
          <p:nvPr/>
        </p:nvSpPr>
        <p:spPr>
          <a:xfrm>
            <a:off x="7086600" y="1737360"/>
            <a:ext cx="4572000" cy="4206240"/>
          </a:xfrm>
          <a:prstGeom prst="rect">
            <a:avLst/>
          </a:prstGeom>
          <a:solidFill>
            <a:srgbClr val="F2F2F2"/>
          </a:solid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i="1">
                <a:solidFill>
                  <a:srgbClr val="595959"/>
                </a:solidFill>
              </a:rPr>
              <a:t>Figure: cross-calibration regression</a:t>
            </a:r>
          </a:p>
          <a:p>
            <a:pPr algn="ctr"/>
            <a:r>
              <a:rPr sz="1100" i="1">
                <a:solidFill>
                  <a:srgbClr val="595959"/>
                </a:solidFill>
              </a:rPr>
              <a:t>(docs/figures/accelerometer-calibration*/,</a:t>
            </a:r>
          </a:p>
          <a:p>
            <a:pPr algn="ctr"/>
            <a:r>
              <a:rPr sz="1100" i="1">
                <a:solidFill>
                  <a:srgbClr val="595959"/>
                </a:solidFill>
              </a:rPr>
              <a:t>PR #74 branch) or CH1 clipping evidence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700"/>
              <a:t>None of it worked the first time — challenges we hit, and where each belongs in the talk</a:t>
            </a:r>
          </a:p>
        </p:txBody>
      </p:sp>
      <p:sp>
        <p:nvSpPr>
          <p:cNvPr id="3" name="TextBox 2"/>
          <p:cNvSpPr txBox="1"/>
          <p:nvPr/>
        </p:nvSpPr>
        <p:spPr>
          <a:xfrm>
            <a:off x="548640" y="1280160"/>
            <a:ext cx="5394960" cy="365760"/>
          </a:xfrm>
          <a:prstGeom prst="rect">
            <a:avLst/>
          </a:prstGeom>
          <a:noFill/>
        </p:spPr>
        <p:txBody>
          <a:bodyPr wrap="square">
            <a:spAutoFit/>
          </a:bodyPr>
          <a:lstStyle/>
          <a:p>
            <a:pPr>
              <a:spcAft>
                <a:spcPts val="600"/>
              </a:spcAft>
            </a:pPr>
            <a:r>
              <a:rPr sz="1400" b="1">
                <a:solidFill>
                  <a:srgbClr val="595959"/>
                </a:solidFill>
              </a:rPr>
              <a:t>Challenge</a:t>
            </a:r>
          </a:p>
        </p:txBody>
      </p:sp>
      <p:sp>
        <p:nvSpPr>
          <p:cNvPr id="4" name="TextBox 3"/>
          <p:cNvSpPr txBox="1"/>
          <p:nvPr/>
        </p:nvSpPr>
        <p:spPr>
          <a:xfrm>
            <a:off x="6035040" y="1280160"/>
            <a:ext cx="4114800" cy="365760"/>
          </a:xfrm>
          <a:prstGeom prst="rect">
            <a:avLst/>
          </a:prstGeom>
          <a:noFill/>
        </p:spPr>
        <p:txBody>
          <a:bodyPr wrap="square">
            <a:spAutoFit/>
          </a:bodyPr>
          <a:lstStyle/>
          <a:p>
            <a:pPr>
              <a:spcAft>
                <a:spcPts val="600"/>
              </a:spcAft>
            </a:pPr>
            <a:r>
              <a:rPr sz="1400" b="1">
                <a:solidFill>
                  <a:srgbClr val="595959"/>
                </a:solidFill>
              </a:rPr>
              <a:t>Mitigation</a:t>
            </a:r>
          </a:p>
        </p:txBody>
      </p:sp>
      <p:sp>
        <p:nvSpPr>
          <p:cNvPr id="5" name="TextBox 4"/>
          <p:cNvSpPr txBox="1"/>
          <p:nvPr/>
        </p:nvSpPr>
        <p:spPr>
          <a:xfrm>
            <a:off x="10241280" y="1280160"/>
            <a:ext cx="1463040" cy="365760"/>
          </a:xfrm>
          <a:prstGeom prst="rect">
            <a:avLst/>
          </a:prstGeom>
          <a:noFill/>
        </p:spPr>
        <p:txBody>
          <a:bodyPr wrap="square">
            <a:spAutoFit/>
          </a:bodyPr>
          <a:lstStyle/>
          <a:p>
            <a:pPr>
              <a:spcAft>
                <a:spcPts val="600"/>
              </a:spcAft>
            </a:pPr>
            <a:r>
              <a:rPr sz="1400" b="1">
                <a:solidFill>
                  <a:srgbClr val="595959"/>
                </a:solidFill>
              </a:rPr>
              <a:t>Where</a:t>
            </a:r>
          </a:p>
        </p:txBody>
      </p:sp>
      <p:sp>
        <p:nvSpPr>
          <p:cNvPr id="6" name="TextBox 5"/>
          <p:cNvSpPr txBox="1"/>
          <p:nvPr/>
        </p:nvSpPr>
        <p:spPr>
          <a:xfrm>
            <a:off x="548640" y="1691640"/>
            <a:ext cx="5394960" cy="685800"/>
          </a:xfrm>
          <a:prstGeom prst="rect">
            <a:avLst/>
          </a:prstGeom>
          <a:noFill/>
        </p:spPr>
        <p:txBody>
          <a:bodyPr wrap="square">
            <a:spAutoFit/>
          </a:bodyPr>
          <a:lstStyle/>
          <a:p>
            <a:pPr>
              <a:spcAft>
                <a:spcPts val="600"/>
              </a:spcAft>
            </a:pPr>
            <a:r>
              <a:rPr sz="1300">
                <a:solidFill>
                  <a:srgbClr val="0E2841"/>
                </a:solidFill>
              </a:rPr>
              <a:t>PETG "spaghetti" on 43 mm bridged cables</a:t>
            </a:r>
          </a:p>
        </p:txBody>
      </p:sp>
      <p:sp>
        <p:nvSpPr>
          <p:cNvPr id="7" name="TextBox 6"/>
          <p:cNvSpPr txBox="1"/>
          <p:nvPr/>
        </p:nvSpPr>
        <p:spPr>
          <a:xfrm>
            <a:off x="6035040" y="1691640"/>
            <a:ext cx="4114800" cy="685800"/>
          </a:xfrm>
          <a:prstGeom prst="rect">
            <a:avLst/>
          </a:prstGeom>
          <a:noFill/>
        </p:spPr>
        <p:txBody>
          <a:bodyPr wrap="square">
            <a:spAutoFit/>
          </a:bodyPr>
          <a:lstStyle/>
          <a:p>
            <a:pPr>
              <a:spcAft>
                <a:spcPts val="600"/>
              </a:spcAft>
            </a:pPr>
            <a:r>
              <a:rPr sz="1300">
                <a:solidFill>
                  <a:srgbClr val="0E2841"/>
                </a:solidFill>
              </a:rPr>
              <a:t>supports + design changes; PLA/TPU switch</a:t>
            </a:r>
          </a:p>
        </p:txBody>
      </p:sp>
      <p:sp>
        <p:nvSpPr>
          <p:cNvPr id="8" name="TextBox 7"/>
          <p:cNvSpPr txBox="1"/>
          <p:nvPr/>
        </p:nvSpPr>
        <p:spPr>
          <a:xfrm>
            <a:off x="10241280" y="1691640"/>
            <a:ext cx="1463040" cy="685800"/>
          </a:xfrm>
          <a:prstGeom prst="rect">
            <a:avLst/>
          </a:prstGeom>
          <a:noFill/>
        </p:spPr>
        <p:txBody>
          <a:bodyPr wrap="square">
            <a:spAutoFit/>
          </a:bodyPr>
          <a:lstStyle/>
          <a:p>
            <a:pPr>
              <a:spcAft>
                <a:spcPts val="600"/>
              </a:spcAft>
            </a:pPr>
            <a:r>
              <a:rPr sz="1300">
                <a:solidFill>
                  <a:srgbClr val="156082"/>
                </a:solidFill>
              </a:rPr>
              <a:t>AM slide</a:t>
            </a:r>
          </a:p>
        </p:txBody>
      </p:sp>
      <p:sp>
        <p:nvSpPr>
          <p:cNvPr id="9" name="TextBox 8"/>
          <p:cNvSpPr txBox="1"/>
          <p:nvPr/>
        </p:nvSpPr>
        <p:spPr>
          <a:xfrm>
            <a:off x="548640" y="2404872"/>
            <a:ext cx="5394960" cy="685800"/>
          </a:xfrm>
          <a:prstGeom prst="rect">
            <a:avLst/>
          </a:prstGeom>
          <a:noFill/>
        </p:spPr>
        <p:txBody>
          <a:bodyPr wrap="square">
            <a:spAutoFit/>
          </a:bodyPr>
          <a:lstStyle/>
          <a:p>
            <a:pPr>
              <a:spcAft>
                <a:spcPts val="600"/>
              </a:spcAft>
            </a:pPr>
            <a:r>
              <a:rPr sz="1300">
                <a:solidFill>
                  <a:srgbClr val="0E2841"/>
                </a:solidFill>
              </a:rPr>
              <a:t>Slicer could not assign PLA+TPU via CLI</a:t>
            </a:r>
          </a:p>
        </p:txBody>
      </p:sp>
      <p:sp>
        <p:nvSpPr>
          <p:cNvPr id="10" name="TextBox 9"/>
          <p:cNvSpPr txBox="1"/>
          <p:nvPr/>
        </p:nvSpPr>
        <p:spPr>
          <a:xfrm>
            <a:off x="6035040" y="2404872"/>
            <a:ext cx="4114800" cy="685800"/>
          </a:xfrm>
          <a:prstGeom prst="rect">
            <a:avLst/>
          </a:prstGeom>
          <a:noFill/>
        </p:spPr>
        <p:txBody>
          <a:bodyPr wrap="square">
            <a:spAutoFit/>
          </a:bodyPr>
          <a:lstStyle/>
          <a:p>
            <a:pPr>
              <a:spcAft>
                <a:spcPts val="600"/>
              </a:spcAft>
            </a:pPr>
            <a:r>
              <a:rPr sz="1300">
                <a:solidFill>
                  <a:srgbClr val="0E2841"/>
                </a:solidFill>
              </a:rPr>
              <a:t>GUI SOP, patched BambuStudio, baked-in narrowing-pillar supports</a:t>
            </a:r>
          </a:p>
        </p:txBody>
      </p:sp>
      <p:sp>
        <p:nvSpPr>
          <p:cNvPr id="11" name="TextBox 10"/>
          <p:cNvSpPr txBox="1"/>
          <p:nvPr/>
        </p:nvSpPr>
        <p:spPr>
          <a:xfrm>
            <a:off x="10241280" y="2404872"/>
            <a:ext cx="1463040" cy="685800"/>
          </a:xfrm>
          <a:prstGeom prst="rect">
            <a:avLst/>
          </a:prstGeom>
          <a:noFill/>
        </p:spPr>
        <p:txBody>
          <a:bodyPr wrap="square">
            <a:spAutoFit/>
          </a:bodyPr>
          <a:lstStyle/>
          <a:p>
            <a:pPr>
              <a:spcAft>
                <a:spcPts val="600"/>
              </a:spcAft>
            </a:pPr>
            <a:r>
              <a:rPr sz="1300">
                <a:solidFill>
                  <a:srgbClr val="156082"/>
                </a:solidFill>
              </a:rPr>
              <a:t>AM slide</a:t>
            </a:r>
          </a:p>
        </p:txBody>
      </p:sp>
      <p:sp>
        <p:nvSpPr>
          <p:cNvPr id="12" name="TextBox 11"/>
          <p:cNvSpPr txBox="1"/>
          <p:nvPr/>
        </p:nvSpPr>
        <p:spPr>
          <a:xfrm>
            <a:off x="548640" y="3118104"/>
            <a:ext cx="5394960" cy="685800"/>
          </a:xfrm>
          <a:prstGeom prst="rect">
            <a:avLst/>
          </a:prstGeom>
          <a:noFill/>
        </p:spPr>
        <p:txBody>
          <a:bodyPr wrap="square">
            <a:spAutoFit/>
          </a:bodyPr>
          <a:lstStyle/>
          <a:p>
            <a:pPr>
              <a:spcAft>
                <a:spcPts val="600"/>
              </a:spcAft>
            </a:pPr>
            <a:r>
              <a:rPr sz="1300">
                <a:solidFill>
                  <a:srgbClr val="0E2841"/>
                </a:solidFill>
              </a:rPr>
              <a:t>TPU moisture bubbles above ~10% humidity</a:t>
            </a:r>
          </a:p>
        </p:txBody>
      </p:sp>
      <p:sp>
        <p:nvSpPr>
          <p:cNvPr id="13" name="TextBox 12"/>
          <p:cNvSpPr txBox="1"/>
          <p:nvPr/>
        </p:nvSpPr>
        <p:spPr>
          <a:xfrm>
            <a:off x="6035040" y="3118104"/>
            <a:ext cx="4114800" cy="685800"/>
          </a:xfrm>
          <a:prstGeom prst="rect">
            <a:avLst/>
          </a:prstGeom>
          <a:noFill/>
        </p:spPr>
        <p:txBody>
          <a:bodyPr wrap="square">
            <a:spAutoFit/>
          </a:bodyPr>
          <a:lstStyle/>
          <a:p>
            <a:pPr>
              <a:spcAft>
                <a:spcPts val="600"/>
              </a:spcAft>
            </a:pPr>
            <a:r>
              <a:rPr sz="1300">
                <a:solidFill>
                  <a:srgbClr val="0E2841"/>
                </a:solidFill>
              </a:rPr>
              <a:t>filament drying + 235–240 °C tuning</a:t>
            </a:r>
          </a:p>
        </p:txBody>
      </p:sp>
      <p:sp>
        <p:nvSpPr>
          <p:cNvPr id="14" name="TextBox 13"/>
          <p:cNvSpPr txBox="1"/>
          <p:nvPr/>
        </p:nvSpPr>
        <p:spPr>
          <a:xfrm>
            <a:off x="10241280" y="3118104"/>
            <a:ext cx="1463040" cy="685800"/>
          </a:xfrm>
          <a:prstGeom prst="rect">
            <a:avLst/>
          </a:prstGeom>
          <a:noFill/>
        </p:spPr>
        <p:txBody>
          <a:bodyPr wrap="square">
            <a:spAutoFit/>
          </a:bodyPr>
          <a:lstStyle/>
          <a:p>
            <a:pPr>
              <a:spcAft>
                <a:spcPts val="600"/>
              </a:spcAft>
            </a:pPr>
            <a:r>
              <a:rPr sz="1300">
                <a:solidFill>
                  <a:srgbClr val="156082"/>
                </a:solidFill>
              </a:rPr>
              <a:t>AM slide</a:t>
            </a:r>
          </a:p>
        </p:txBody>
      </p:sp>
      <p:sp>
        <p:nvSpPr>
          <p:cNvPr id="15" name="TextBox 14"/>
          <p:cNvSpPr txBox="1"/>
          <p:nvPr/>
        </p:nvSpPr>
        <p:spPr>
          <a:xfrm>
            <a:off x="548640" y="3831336"/>
            <a:ext cx="5394960" cy="685800"/>
          </a:xfrm>
          <a:prstGeom prst="rect">
            <a:avLst/>
          </a:prstGeom>
          <a:noFill/>
        </p:spPr>
        <p:txBody>
          <a:bodyPr wrap="square">
            <a:spAutoFit/>
          </a:bodyPr>
          <a:lstStyle/>
          <a:p>
            <a:pPr>
              <a:spcAft>
                <a:spcPts val="600"/>
              </a:spcAft>
            </a:pPr>
            <a:r>
              <a:rPr sz="1300">
                <a:solidFill>
                  <a:srgbClr val="0E2841"/>
                </a:solidFill>
              </a:rPr>
              <a:t>Sensor mounts (glue, wax) fell off mid-campaign</a:t>
            </a:r>
          </a:p>
        </p:txBody>
      </p:sp>
      <p:sp>
        <p:nvSpPr>
          <p:cNvPr id="16" name="TextBox 15"/>
          <p:cNvSpPr txBox="1"/>
          <p:nvPr/>
        </p:nvSpPr>
        <p:spPr>
          <a:xfrm>
            <a:off x="6035040" y="3831336"/>
            <a:ext cx="4114800" cy="685800"/>
          </a:xfrm>
          <a:prstGeom prst="rect">
            <a:avLst/>
          </a:prstGeom>
          <a:noFill/>
        </p:spPr>
        <p:txBody>
          <a:bodyPr wrap="square">
            <a:spAutoFit/>
          </a:bodyPr>
          <a:lstStyle/>
          <a:p>
            <a:pPr>
              <a:spcAft>
                <a:spcPts val="600"/>
              </a:spcAft>
            </a:pPr>
            <a:r>
              <a:rPr sz="1300">
                <a:solidFill>
                  <a:srgbClr val="0E2841"/>
                </a:solidFill>
              </a:rPr>
              <a:t>key-seat pocket printed into the structure</a:t>
            </a:r>
          </a:p>
        </p:txBody>
      </p:sp>
      <p:sp>
        <p:nvSpPr>
          <p:cNvPr id="17" name="TextBox 16"/>
          <p:cNvSpPr txBox="1"/>
          <p:nvPr/>
        </p:nvSpPr>
        <p:spPr>
          <a:xfrm>
            <a:off x="10241280" y="3831336"/>
            <a:ext cx="1463040" cy="685800"/>
          </a:xfrm>
          <a:prstGeom prst="rect">
            <a:avLst/>
          </a:prstGeom>
          <a:noFill/>
        </p:spPr>
        <p:txBody>
          <a:bodyPr wrap="square">
            <a:spAutoFit/>
          </a:bodyPr>
          <a:lstStyle/>
          <a:p>
            <a:pPr>
              <a:spcAft>
                <a:spcPts val="600"/>
              </a:spcAft>
            </a:pPr>
            <a:r>
              <a:rPr sz="1300">
                <a:solidFill>
                  <a:srgbClr val="156082"/>
                </a:solidFill>
              </a:rPr>
              <a:t>testing slide</a:t>
            </a:r>
          </a:p>
        </p:txBody>
      </p:sp>
      <p:sp>
        <p:nvSpPr>
          <p:cNvPr id="18" name="TextBox 17"/>
          <p:cNvSpPr txBox="1"/>
          <p:nvPr/>
        </p:nvSpPr>
        <p:spPr>
          <a:xfrm>
            <a:off x="548640" y="4544568"/>
            <a:ext cx="5394960" cy="685800"/>
          </a:xfrm>
          <a:prstGeom prst="rect">
            <a:avLst/>
          </a:prstGeom>
          <a:noFill/>
        </p:spPr>
        <p:txBody>
          <a:bodyPr wrap="square">
            <a:spAutoFit/>
          </a:bodyPr>
          <a:lstStyle/>
          <a:p>
            <a:pPr>
              <a:spcAft>
                <a:spcPts val="600"/>
              </a:spcAft>
            </a:pPr>
            <a:r>
              <a:rPr sz="1300">
                <a:solidFill>
                  <a:srgbClr val="0E2841"/>
                </a:solidFill>
              </a:rPr>
              <a:t>Accelerometer channels disagreed ~30× / clipped</a:t>
            </a:r>
          </a:p>
        </p:txBody>
      </p:sp>
      <p:sp>
        <p:nvSpPr>
          <p:cNvPr id="19" name="TextBox 18"/>
          <p:cNvSpPr txBox="1"/>
          <p:nvPr/>
        </p:nvSpPr>
        <p:spPr>
          <a:xfrm>
            <a:off x="6035040" y="4544568"/>
            <a:ext cx="4114800" cy="685800"/>
          </a:xfrm>
          <a:prstGeom prst="rect">
            <a:avLst/>
          </a:prstGeom>
          <a:noFill/>
        </p:spPr>
        <p:txBody>
          <a:bodyPr wrap="square">
            <a:spAutoFit/>
          </a:bodyPr>
          <a:lstStyle/>
          <a:p>
            <a:pPr>
              <a:spcAft>
                <a:spcPts val="600"/>
              </a:spcAft>
            </a:pPr>
            <a:r>
              <a:rPr sz="1300">
                <a:solidFill>
                  <a:srgbClr val="0E2841"/>
                </a:solidFill>
              </a:rPr>
              <a:t>co-located cross-calibration; channel reassignment</a:t>
            </a:r>
          </a:p>
        </p:txBody>
      </p:sp>
      <p:sp>
        <p:nvSpPr>
          <p:cNvPr id="20" name="TextBox 19"/>
          <p:cNvSpPr txBox="1"/>
          <p:nvPr/>
        </p:nvSpPr>
        <p:spPr>
          <a:xfrm>
            <a:off x="10241280" y="4544568"/>
            <a:ext cx="1463040" cy="685800"/>
          </a:xfrm>
          <a:prstGeom prst="rect">
            <a:avLst/>
          </a:prstGeom>
          <a:noFill/>
        </p:spPr>
        <p:txBody>
          <a:bodyPr wrap="square">
            <a:spAutoFit/>
          </a:bodyPr>
          <a:lstStyle/>
          <a:p>
            <a:pPr>
              <a:spcAft>
                <a:spcPts val="600"/>
              </a:spcAft>
            </a:pPr>
            <a:r>
              <a:rPr sz="1300">
                <a:solidFill>
                  <a:srgbClr val="156082"/>
                </a:solidFill>
              </a:rPr>
              <a:t>testing slide</a:t>
            </a:r>
          </a:p>
        </p:txBody>
      </p:sp>
      <p:sp>
        <p:nvSpPr>
          <p:cNvPr id="21" name="TextBox 20"/>
          <p:cNvSpPr txBox="1"/>
          <p:nvPr/>
        </p:nvSpPr>
        <p:spPr>
          <a:xfrm>
            <a:off x="548640" y="5257800"/>
            <a:ext cx="5394960" cy="685800"/>
          </a:xfrm>
          <a:prstGeom prst="rect">
            <a:avLst/>
          </a:prstGeom>
          <a:noFill/>
        </p:spPr>
        <p:txBody>
          <a:bodyPr wrap="square">
            <a:spAutoFit/>
          </a:bodyPr>
          <a:lstStyle/>
          <a:p>
            <a:pPr>
              <a:spcAft>
                <a:spcPts val="600"/>
              </a:spcAft>
            </a:pPr>
            <a:r>
              <a:rPr sz="1300">
                <a:solidFill>
                  <a:srgbClr val="0E2841"/>
                </a:solidFill>
              </a:rPr>
              <a:t>Felt impact surface degraded over 100s of drops</a:t>
            </a:r>
          </a:p>
        </p:txBody>
      </p:sp>
      <p:sp>
        <p:nvSpPr>
          <p:cNvPr id="22" name="TextBox 21"/>
          <p:cNvSpPr txBox="1"/>
          <p:nvPr/>
        </p:nvSpPr>
        <p:spPr>
          <a:xfrm>
            <a:off x="6035040" y="5257800"/>
            <a:ext cx="4114800" cy="685800"/>
          </a:xfrm>
          <a:prstGeom prst="rect">
            <a:avLst/>
          </a:prstGeom>
          <a:noFill/>
        </p:spPr>
        <p:txBody>
          <a:bodyPr wrap="square">
            <a:spAutoFit/>
          </a:bodyPr>
          <a:lstStyle/>
          <a:p>
            <a:pPr>
              <a:spcAft>
                <a:spcPts val="600"/>
              </a:spcAft>
            </a:pPr>
            <a:r>
              <a:rPr sz="1300">
                <a:solidFill>
                  <a:srgbClr val="0E2841"/>
                </a:solidFill>
              </a:rPr>
              <a:t>saturation sweep → standard condition; PU pads qualified</a:t>
            </a:r>
          </a:p>
        </p:txBody>
      </p:sp>
      <p:sp>
        <p:nvSpPr>
          <p:cNvPr id="23" name="TextBox 22"/>
          <p:cNvSpPr txBox="1"/>
          <p:nvPr/>
        </p:nvSpPr>
        <p:spPr>
          <a:xfrm>
            <a:off x="10241280" y="5257800"/>
            <a:ext cx="1463040" cy="685800"/>
          </a:xfrm>
          <a:prstGeom prst="rect">
            <a:avLst/>
          </a:prstGeom>
          <a:noFill/>
        </p:spPr>
        <p:txBody>
          <a:bodyPr wrap="square">
            <a:spAutoFit/>
          </a:bodyPr>
          <a:lstStyle/>
          <a:p>
            <a:pPr>
              <a:spcAft>
                <a:spcPts val="600"/>
              </a:spcAft>
            </a:pPr>
            <a:r>
              <a:rPr sz="1300">
                <a:solidFill>
                  <a:srgbClr val="156082"/>
                </a:solidFill>
              </a:rPr>
              <a:t>testing slide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Media shortlist: embed print timelapses from YouTube; play the 2D tensegrity clip at the intro</a:t>
            </a:r>
          </a:p>
        </p:txBody>
      </p:sp>
      <p:sp>
        <p:nvSpPr>
          <p:cNvPr id="3" name="TextBox 2"/>
          <p:cNvSpPr txBox="1"/>
          <p:nvPr/>
        </p:nvSpPr>
        <p:spPr>
          <a:xfrm>
            <a:off x="548640" y="1645920"/>
            <a:ext cx="11064240" cy="4572000"/>
          </a:xfrm>
          <a:prstGeom prst="rect">
            <a:avLst/>
          </a:prstGeom>
          <a:noFill/>
        </p:spPr>
        <p:txBody>
          <a:bodyPr wrap="square">
            <a:spAutoFit/>
          </a:bodyPr>
          <a:lstStyle/>
          <a:p>
            <a:pPr>
              <a:spcAft>
                <a:spcPts val="600"/>
              </a:spcAft>
            </a:pPr>
            <a:r>
              <a:rPr sz="1500">
                <a:solidFill>
                  <a:srgbClr val="0E2841"/>
                </a:solidFill>
              </a:rPr>
              <a:t>Tensegrity intro — Steve Mould, "Tensegrity Explained" 2D demo: 0:35 snip already trimmed, in the Box folder (youtube-0onncd0_0-o.mp4). Play when tensegrity is introduced (Draft 1 slide 2/3). On-slide credit: "Steve Mould — Tensegrity Explained (YouTube)".</a:t>
            </a:r>
          </a:p>
          <a:p>
            <a:pPr>
              <a:spcAft>
                <a:spcPts val="600"/>
              </a:spcAft>
            </a:pPr>
            <a:r>
              <a:rPr sz="1500">
                <a:solidFill>
                  <a:srgbClr val="0E2841"/>
                </a:solidFill>
              </a:rPr>
              <a:t>Sped-up print videos — embed from YouTube rather than downloading (PowerPoint: Insert → Video → Online Video):</a:t>
            </a:r>
          </a:p>
          <a:p>
            <a:pPr lvl="1">
              <a:spcAft>
                <a:spcPts val="600"/>
              </a:spcAft>
            </a:pPr>
            <a:r>
              <a:rPr sz="1400">
                <a:solidFill>
                  <a:srgbClr val="0E2841"/>
                </a:solidFill>
              </a:rPr>
              <a:t>manual-support painting walkthrough: youtu.be/esYGqPv2fb0  ·  support removal: youtu.be/V86ctTIHKDY  ·  print short: youtube.com/shorts/KGSePOjRa_I</a:t>
            </a:r>
          </a:p>
          <a:p>
            <a:pPr>
              <a:spcAft>
                <a:spcPts val="600"/>
              </a:spcAft>
            </a:pPr>
            <a:r>
              <a:rPr sz="1500">
                <a:solidFill>
                  <a:srgbClr val="0E2841"/>
                </a:solidFill>
              </a:rPr>
              <a:t>Drop-test footage — slow-mo shorts youtube.com/shorts/Nab3hfuF4Dw (7xadt6) and /zkum2JlHpYk (9GMQYQ); 500-drop endurance run youtu.be/uqn3qnJPfN8</a:t>
            </a:r>
          </a:p>
          <a:p>
            <a:pPr>
              <a:spcAft>
                <a:spcPts val="600"/>
              </a:spcAft>
            </a:pPr>
            <a:r>
              <a:rPr sz="1500">
                <a:solidFill>
                  <a:srgbClr val="0E2841"/>
                </a:solidFill>
              </a:rPr>
              <a:t>Super Ball Bot hook — snips in the Box folder (NASA 360, WSJ prototype drop, SUPERball v2); attribution lines ready in presentation/video-snips.md</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