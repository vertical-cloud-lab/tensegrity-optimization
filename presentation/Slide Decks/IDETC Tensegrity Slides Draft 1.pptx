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1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9"/>
  </p:notesMasterIdLst>
  <p:sldIdLst>
    <p:sldId id="257" r:id="rId5"/>
    <p:sldId id="258" r:id="rId6"/>
    <p:sldId id="260" r:id="rId7"/>
    <p:sldId id="259" r:id="rId8"/>
    <p:sldId id="261" r:id="rId9"/>
    <p:sldId id="262" r:id="rId10"/>
    <p:sldId id="263" r:id="rId11"/>
    <p:sldId id="264" r:id="rId12"/>
    <p:sldId id="269" r:id="rId13"/>
    <p:sldId id="271" r:id="rId14"/>
    <p:sldId id="266" r:id="rId15"/>
    <p:sldId id="265" r:id="rId16"/>
    <p:sldId id="268" r:id="rId17"/>
    <p:sldId id="256"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257"/>
            <p14:sldId id="258"/>
            <p14:sldId id="260"/>
            <p14:sldId id="259"/>
            <p14:sldId id="261"/>
            <p14:sldId id="262"/>
            <p14:sldId id="263"/>
            <p14:sldId id="264"/>
            <p14:sldId id="269"/>
            <p14:sldId id="271"/>
            <p14:sldId id="266"/>
            <p14:sldId id="265"/>
            <p14:sldId id="268"/>
          </p14:sldIdLst>
        </p14:section>
        <p14:section name="slide-graveyard" id="{53A05964-4188-4DB8-9C2C-9C67C05B4B85}">
          <p14:sldIdLst>
            <p14:sldId id="25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C8EF1B-F0BE-4731-90D0-5024F5C11E4D}" v="30" dt="2026-07-22T22:35:52.76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p:scale>
          <a:sx n="75" d="100"/>
          <a:sy n="75" d="100"/>
        </p:scale>
        <p:origin x="84" y="1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7/20/2026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is a bit of a placeholder. Maybe adjusting it to include/more explicitly state what the presentation is on: i.e. optimizing tensegrity-inspired energy absorbers with real impact data and Bays opt. Probably could use an image in the center or a graphic like in the original slides. Tensegrity structures there as a placeholder mostly.</a:t>
            </a:r>
          </a:p>
          <a:p>
            <a:endParaRPr lang="en-US" dirty="0"/>
          </a:p>
          <a:p>
            <a:r>
              <a:rPr lang="en-US" dirty="0"/>
              <a:t>Use this slide to introduce myself and then swing into next slides posing the question of why we might want tensegrity or tensegrity inspired structures at all.</a:t>
            </a:r>
          </a:p>
        </p:txBody>
      </p:sp>
      <p:sp>
        <p:nvSpPr>
          <p:cNvPr id="4" name="Slide Number Placeholder 3"/>
          <p:cNvSpPr>
            <a:spLocks noGrp="1"/>
          </p:cNvSpPr>
          <p:nvPr>
            <p:ph type="sldNum" sz="quarter" idx="5"/>
          </p:nvPr>
        </p:nvSpPr>
        <p:spPr/>
        <p:txBody>
          <a:bodyPr/>
          <a:lstStyle/>
          <a:p>
            <a:fld id="{AED55997-7884-4691-9FFB-5350EC6004A9}" type="slidenum">
              <a:rPr lang="en-US" smtClean="0"/>
              <a:t>1</a:t>
            </a:fld>
            <a:endParaRPr lang="en-US"/>
          </a:p>
        </p:txBody>
      </p:sp>
    </p:spTree>
    <p:extLst>
      <p:ext uri="{BB962C8B-B14F-4D97-AF65-F5344CB8AC3E}">
        <p14:creationId xmlns:p14="http://schemas.microsoft.com/office/powerpoint/2010/main" val="11375777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this video with a downloaded and trimmed version of just the fall. </a:t>
            </a:r>
          </a:p>
          <a:p>
            <a:endParaRPr lang="en-US" dirty="0"/>
          </a:p>
          <a:p>
            <a:r>
              <a:rPr lang="en-US" sz="1200" b="0" i="0" kern="1200" dirty="0">
                <a:solidFill>
                  <a:schemeClr val="tx1"/>
                </a:solidFill>
                <a:effectLst/>
                <a:latin typeface="+mn-lt"/>
                <a:ea typeface="+mn-ea"/>
                <a:cs typeface="+mn-cs"/>
              </a:rPr>
              <a:t>Landing a payload on another planet means surviving an impact in conditions where parachutes and retrorockets struggle — thin atmospheres, rough terrain. NASA's Super Ball Bot concept answers this with a tensegrity structure: the lander </a:t>
            </a:r>
            <a:r>
              <a:rPr lang="en-US" sz="1200" b="0" i="1" kern="1200" dirty="0">
                <a:solidFill>
                  <a:schemeClr val="tx1"/>
                </a:solidFill>
                <a:effectLst/>
                <a:latin typeface="+mn-lt"/>
                <a:ea typeface="+mn-ea"/>
                <a:cs typeface="+mn-cs"/>
              </a:rPr>
              <a:t>is</a:t>
            </a:r>
            <a:r>
              <a:rPr lang="en-US" sz="1200" b="0" i="0" kern="1200" dirty="0">
                <a:solidFill>
                  <a:schemeClr val="tx1"/>
                </a:solidFill>
                <a:effectLst/>
                <a:latin typeface="+mn-lt"/>
                <a:ea typeface="+mn-ea"/>
                <a:cs typeface="+mn-cs"/>
              </a:rPr>
              <a:t> the energy absorber. And unlike crushable aluminum honeycomb or sacrificial airbags, a tensegrity lander can take the hit </a:t>
            </a:r>
            <a:r>
              <a:rPr lang="en-US" sz="1200" b="1" i="0" kern="1200" dirty="0">
                <a:solidFill>
                  <a:schemeClr val="tx1"/>
                </a:solidFill>
                <a:effectLst/>
                <a:latin typeface="+mn-lt"/>
                <a:ea typeface="+mn-ea"/>
                <a:cs typeface="+mn-cs"/>
              </a:rPr>
              <a:t>and get back up</a:t>
            </a:r>
            <a:r>
              <a:rPr lang="en-US" sz="1200" b="0" i="0" kern="1200" dirty="0">
                <a:solidFill>
                  <a:schemeClr val="tx1"/>
                </a:solidFill>
                <a:effectLst/>
                <a:latin typeface="+mn-lt"/>
                <a:ea typeface="+mn-ea"/>
                <a:cs typeface="+mn-cs"/>
              </a:rPr>
              <a:t> — it survives multiple drops and keeps working.</a:t>
            </a:r>
            <a:endParaRPr lang="en-US" dirty="0"/>
          </a:p>
        </p:txBody>
      </p:sp>
      <p:sp>
        <p:nvSpPr>
          <p:cNvPr id="4" name="Slide Number Placeholder 3"/>
          <p:cNvSpPr>
            <a:spLocks noGrp="1"/>
          </p:cNvSpPr>
          <p:nvPr>
            <p:ph type="sldNum" sz="quarter" idx="5"/>
          </p:nvPr>
        </p:nvSpPr>
        <p:spPr/>
        <p:txBody>
          <a:bodyPr/>
          <a:lstStyle/>
          <a:p>
            <a:fld id="{AED55997-7884-4691-9FFB-5350EC6004A9}" type="slidenum">
              <a:rPr lang="en-US" smtClean="0"/>
              <a:t>2</a:t>
            </a:fld>
            <a:endParaRPr lang="en-US"/>
          </a:p>
        </p:txBody>
      </p:sp>
    </p:spTree>
    <p:extLst>
      <p:ext uri="{BB962C8B-B14F-4D97-AF65-F5344CB8AC3E}">
        <p14:creationId xmlns:p14="http://schemas.microsoft.com/office/powerpoint/2010/main" val="41130345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might be better explained purely vocally while on the previous slide.</a:t>
            </a:r>
          </a:p>
        </p:txBody>
      </p:sp>
      <p:sp>
        <p:nvSpPr>
          <p:cNvPr id="4" name="Slide Number Placeholder 3"/>
          <p:cNvSpPr>
            <a:spLocks noGrp="1"/>
          </p:cNvSpPr>
          <p:nvPr>
            <p:ph type="sldNum" sz="quarter" idx="5"/>
          </p:nvPr>
        </p:nvSpPr>
        <p:spPr/>
        <p:txBody>
          <a:bodyPr/>
          <a:lstStyle/>
          <a:p>
            <a:fld id="{AED55997-7884-4691-9FFB-5350EC6004A9}" type="slidenum">
              <a:rPr lang="en-US" smtClean="0"/>
              <a:t>3</a:t>
            </a:fld>
            <a:endParaRPr lang="en-US"/>
          </a:p>
        </p:txBody>
      </p:sp>
    </p:spTree>
    <p:extLst>
      <p:ext uri="{BB962C8B-B14F-4D97-AF65-F5344CB8AC3E}">
        <p14:creationId xmlns:p14="http://schemas.microsoft.com/office/powerpoint/2010/main" val="19627497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out video with a downloaded and </a:t>
            </a:r>
            <a:r>
              <a:rPr lang="en-US" dirty="0" err="1"/>
              <a:t>timelapsed</a:t>
            </a:r>
            <a:r>
              <a:rPr lang="en-US" dirty="0"/>
              <a:t> version set to play once the slide opens (silent). Maybe only do an image of the loading thing so that it doesn’t become distracting because it’s fun to watch it spin.</a:t>
            </a:r>
          </a:p>
          <a:p>
            <a:endParaRPr lang="en-US" dirty="0"/>
          </a:p>
          <a:p>
            <a:r>
              <a:rPr lang="en-US" dirty="0"/>
              <a:t>Use this slide to talk about the current reality and difficulties of optimizing tensegrity structures, how the need is for this process to be significantly faster. Reality: testing is costly in time and resources. Building is costly in time. Iteration can be very costly in time. Quick iteration, building, and testing is very desirable to advance any technology.</a:t>
            </a:r>
          </a:p>
        </p:txBody>
      </p:sp>
      <p:sp>
        <p:nvSpPr>
          <p:cNvPr id="4" name="Slide Number Placeholder 3"/>
          <p:cNvSpPr>
            <a:spLocks noGrp="1"/>
          </p:cNvSpPr>
          <p:nvPr>
            <p:ph type="sldNum" sz="quarter" idx="5"/>
          </p:nvPr>
        </p:nvSpPr>
        <p:spPr/>
        <p:txBody>
          <a:bodyPr/>
          <a:lstStyle/>
          <a:p>
            <a:fld id="{AED55997-7884-4691-9FFB-5350EC6004A9}" type="slidenum">
              <a:rPr lang="en-US" smtClean="0"/>
              <a:t>4</a:t>
            </a:fld>
            <a:endParaRPr lang="en-US"/>
          </a:p>
        </p:txBody>
      </p:sp>
    </p:spTree>
    <p:extLst>
      <p:ext uri="{BB962C8B-B14F-4D97-AF65-F5344CB8AC3E}">
        <p14:creationId xmlns:p14="http://schemas.microsoft.com/office/powerpoint/2010/main" val="1602444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 Sterling on this slide. I don’t want to rip off of his slides (this is one of his slides); it would be helpful to have his input on what kind of imagery / coverage he foresees being most useful of Bays </a:t>
            </a:r>
            <a:r>
              <a:rPr lang="en-US" dirty="0" err="1"/>
              <a:t>Opt</a:t>
            </a:r>
            <a:r>
              <a:rPr lang="en-US" dirty="0"/>
              <a:t> in this presentation. Maybe it’s well enough known that it’d be simply better to discuss HOW we use Bays </a:t>
            </a:r>
            <a:r>
              <a:rPr lang="en-US" dirty="0" err="1"/>
              <a:t>Opt</a:t>
            </a:r>
            <a:r>
              <a:rPr lang="en-US" dirty="0"/>
              <a:t> and not spend time on WHAT it is.</a:t>
            </a:r>
          </a:p>
        </p:txBody>
      </p:sp>
      <p:sp>
        <p:nvSpPr>
          <p:cNvPr id="4" name="Slide Number Placeholder 3"/>
          <p:cNvSpPr>
            <a:spLocks noGrp="1"/>
          </p:cNvSpPr>
          <p:nvPr>
            <p:ph type="sldNum" sz="quarter" idx="5"/>
          </p:nvPr>
        </p:nvSpPr>
        <p:spPr/>
        <p:txBody>
          <a:bodyPr/>
          <a:lstStyle/>
          <a:p>
            <a:fld id="{AED55997-7884-4691-9FFB-5350EC6004A9}" type="slidenum">
              <a:rPr lang="en-US" smtClean="0"/>
              <a:t>5</a:t>
            </a:fld>
            <a:endParaRPr lang="en-US"/>
          </a:p>
        </p:txBody>
      </p:sp>
    </p:spTree>
    <p:extLst>
      <p:ext uri="{BB962C8B-B14F-4D97-AF65-F5344CB8AC3E}">
        <p14:creationId xmlns:p14="http://schemas.microsoft.com/office/powerpoint/2010/main" val="34563987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Personally, I feel like this could simply be stated verbally while talking about the benefits of Bayesian Optimization not needing to map out the entire search space.</a:t>
            </a:r>
          </a:p>
        </p:txBody>
      </p:sp>
      <p:sp>
        <p:nvSpPr>
          <p:cNvPr id="4" name="Slide Number Placeholder 3"/>
          <p:cNvSpPr>
            <a:spLocks noGrp="1"/>
          </p:cNvSpPr>
          <p:nvPr>
            <p:ph type="sldNum" sz="quarter" idx="5"/>
          </p:nvPr>
        </p:nvSpPr>
        <p:spPr/>
        <p:txBody>
          <a:bodyPr/>
          <a:lstStyle/>
          <a:p>
            <a:fld id="{AED55997-7884-4691-9FFB-5350EC6004A9}" type="slidenum">
              <a:rPr lang="en-US" smtClean="0"/>
              <a:t>6</a:t>
            </a:fld>
            <a:endParaRPr lang="en-US"/>
          </a:p>
        </p:txBody>
      </p:sp>
    </p:spTree>
    <p:extLst>
      <p:ext uri="{BB962C8B-B14F-4D97-AF65-F5344CB8AC3E}">
        <p14:creationId xmlns:p14="http://schemas.microsoft.com/office/powerpoint/2010/main" val="1836258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rough slide as I’m not entirely sure what graphic or text to put on this, partially because I’m not sure how much I will need to explain about Bayesian Optimization. If we went with something like this</a:t>
            </a:r>
          </a:p>
        </p:txBody>
      </p:sp>
      <p:sp>
        <p:nvSpPr>
          <p:cNvPr id="4" name="Slide Number Placeholder 3"/>
          <p:cNvSpPr>
            <a:spLocks noGrp="1"/>
          </p:cNvSpPr>
          <p:nvPr>
            <p:ph type="sldNum" sz="quarter" idx="5"/>
          </p:nvPr>
        </p:nvSpPr>
        <p:spPr/>
        <p:txBody>
          <a:bodyPr/>
          <a:lstStyle/>
          <a:p>
            <a:fld id="{AED55997-7884-4691-9FFB-5350EC6004A9}" type="slidenum">
              <a:rPr lang="en-US" smtClean="0"/>
              <a:t>7</a:t>
            </a:fld>
            <a:endParaRPr lang="en-US"/>
          </a:p>
        </p:txBody>
      </p:sp>
    </p:spTree>
    <p:extLst>
      <p:ext uri="{BB962C8B-B14F-4D97-AF65-F5344CB8AC3E}">
        <p14:creationId xmlns:p14="http://schemas.microsoft.com/office/powerpoint/2010/main" val="644161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made in here about the difference between real and these tensegrity inspired structures, including the lack of purely tensioned members.</a:t>
            </a:r>
          </a:p>
        </p:txBody>
      </p:sp>
      <p:sp>
        <p:nvSpPr>
          <p:cNvPr id="4" name="Slide Number Placeholder 3"/>
          <p:cNvSpPr>
            <a:spLocks noGrp="1"/>
          </p:cNvSpPr>
          <p:nvPr>
            <p:ph type="sldNum" sz="quarter" idx="5"/>
          </p:nvPr>
        </p:nvSpPr>
        <p:spPr/>
        <p:txBody>
          <a:bodyPr/>
          <a:lstStyle/>
          <a:p>
            <a:fld id="{AED55997-7884-4691-9FFB-5350EC6004A9}" type="slidenum">
              <a:rPr lang="en-US" smtClean="0"/>
              <a:t>8</a:t>
            </a:fld>
            <a:endParaRPr lang="en-US"/>
          </a:p>
        </p:txBody>
      </p:sp>
    </p:spTree>
    <p:extLst>
      <p:ext uri="{BB962C8B-B14F-4D97-AF65-F5344CB8AC3E}">
        <p14:creationId xmlns:p14="http://schemas.microsoft.com/office/powerpoint/2010/main" val="29684857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it might be better if we replaced “printing” with a printed tensegrity image, testing with an image of the drop tower, and BO feed with a </a:t>
            </a:r>
            <a:r>
              <a:rPr lang="en-US" dirty="0" err="1"/>
              <a:t>blackbox</a:t>
            </a:r>
            <a:r>
              <a:rPr lang="en-US" dirty="0"/>
              <a:t>. </a:t>
            </a:r>
          </a:p>
        </p:txBody>
      </p:sp>
      <p:sp>
        <p:nvSpPr>
          <p:cNvPr id="4" name="Slide Number Placeholder 3"/>
          <p:cNvSpPr>
            <a:spLocks noGrp="1"/>
          </p:cNvSpPr>
          <p:nvPr>
            <p:ph type="sldNum" sz="quarter" idx="5"/>
          </p:nvPr>
        </p:nvSpPr>
        <p:spPr/>
        <p:txBody>
          <a:bodyPr/>
          <a:lstStyle/>
          <a:p>
            <a:fld id="{AED55997-7884-4691-9FFB-5350EC6004A9}" type="slidenum">
              <a:rPr lang="en-US" smtClean="0"/>
              <a:t>10</a:t>
            </a:fld>
            <a:endParaRPr lang="en-US"/>
          </a:p>
        </p:txBody>
      </p:sp>
    </p:spTree>
    <p:extLst>
      <p:ext uri="{BB962C8B-B14F-4D97-AF65-F5344CB8AC3E}">
        <p14:creationId xmlns:p14="http://schemas.microsoft.com/office/powerpoint/2010/main" val="4282216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Would be helpful if we could show that this process works in this case.</a:t>
            </a:r>
          </a:p>
        </p:txBody>
      </p:sp>
      <p:sp>
        <p:nvSpPr>
          <p:cNvPr id="4" name="Slide Number Placeholder 3"/>
          <p:cNvSpPr>
            <a:spLocks noGrp="1"/>
          </p:cNvSpPr>
          <p:nvPr>
            <p:ph type="sldNum" sz="quarter" idx="5"/>
          </p:nvPr>
        </p:nvSpPr>
        <p:spPr/>
        <p:txBody>
          <a:bodyPr/>
          <a:lstStyle/>
          <a:p>
            <a:fld id="{AED55997-7884-4691-9FFB-5350EC6004A9}" type="slidenum">
              <a:rPr lang="en-US" smtClean="0"/>
              <a:t>11</a:t>
            </a:fld>
            <a:endParaRPr lang="en-US"/>
          </a:p>
        </p:txBody>
      </p:sp>
    </p:spTree>
    <p:extLst>
      <p:ext uri="{BB962C8B-B14F-4D97-AF65-F5344CB8AC3E}">
        <p14:creationId xmlns:p14="http://schemas.microsoft.com/office/powerpoint/2010/main" val="17396085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for questions at the end</a:t>
            </a:r>
          </a:p>
        </p:txBody>
      </p:sp>
      <p:sp>
        <p:nvSpPr>
          <p:cNvPr id="4" name="Slide Number Placeholder 3"/>
          <p:cNvSpPr>
            <a:spLocks noGrp="1"/>
          </p:cNvSpPr>
          <p:nvPr>
            <p:ph type="sldNum" sz="quarter" idx="5"/>
          </p:nvPr>
        </p:nvSpPr>
        <p:spPr/>
        <p:txBody>
          <a:bodyPr/>
          <a:lstStyle/>
          <a:p>
            <a:fld id="{AED55997-7884-4691-9FFB-5350EC6004A9}" type="slidenum">
              <a:rPr lang="en-US" smtClean="0"/>
              <a:t>13</a:t>
            </a:fld>
            <a:endParaRPr lang="en-US"/>
          </a:p>
        </p:txBody>
      </p:sp>
    </p:spTree>
    <p:extLst>
      <p:ext uri="{BB962C8B-B14F-4D97-AF65-F5344CB8AC3E}">
        <p14:creationId xmlns:p14="http://schemas.microsoft.com/office/powerpoint/2010/main" val="7682534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Marcus Madsen</a:t>
            </a:r>
            <a:br>
              <a:rPr lang="en-CA" sz="2000" dirty="0"/>
            </a:br>
            <a:r>
              <a:rPr lang="en-CA" sz="2000" dirty="0"/>
              <a:t>Research Assistant</a:t>
            </a:r>
          </a:p>
          <a:p>
            <a:pPr algn="ctr"/>
            <a:endParaRPr lang="en-CA" sz="2000" dirty="0"/>
          </a:p>
          <a:p>
            <a:pPr algn="ctr"/>
            <a:endParaRPr lang="en-CA" sz="2000" dirty="0"/>
          </a:p>
          <a:p>
            <a:pPr algn="ctr"/>
            <a:endParaRPr lang="en-CA" sz="2000" dirty="0"/>
          </a:p>
          <a:p>
            <a:pPr algn="ctr"/>
            <a:endParaRPr lang="en-CA" sz="2000" dirty="0"/>
          </a:p>
          <a:p>
            <a:pPr algn="ctr"/>
            <a:r>
              <a:rPr lang="en-CA" sz="2000" dirty="0"/>
              <a:t>ASME IDETC-CIE 2026</a:t>
            </a:r>
            <a:br>
              <a:rPr lang="en-CA" sz="2000" dirty="0"/>
            </a:br>
            <a:r>
              <a:rPr lang="en-CA" sz="2000" dirty="0">
                <a:solidFill>
                  <a:schemeClr val="bg1">
                    <a:lumMod val="50000"/>
                  </a:schemeClr>
                </a:solidFill>
              </a:rPr>
              <a:t>August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build better tensegrity structures</a:t>
            </a:r>
            <a:br>
              <a:rPr lang="en-CA" b="0" dirty="0"/>
            </a:br>
            <a:r>
              <a:rPr lang="en-CA" b="0" dirty="0"/>
              <a:t>	faster, using real drop-test data</a:t>
            </a:r>
            <a:br>
              <a:rPr lang="en-CA" b="0" dirty="0"/>
            </a:br>
            <a:r>
              <a:rPr lang="en-CA" b="0" dirty="0"/>
              <a:t>	</a:t>
            </a:r>
            <a:r>
              <a:rPr lang="en-CA" b="0" dirty="0">
                <a:solidFill>
                  <a:schemeClr val="bg1">
                    <a:lumMod val="50000"/>
                  </a:schemeClr>
                </a:solidFill>
              </a:rPr>
              <a:t>+ closed-loop BO and multi-material printing</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9.png"/><Relationship Id="rId4" Type="http://schemas.openxmlformats.org/officeDocument/2006/relationships/image" Target="../media/image10.jpeg"/></Relationships>
</file>

<file path=ppt/slides/_rels/slide2.xml.rels><?xml version='1.0' encoding='UTF-8' standalone='yes'?>
<Relationships xmlns="http://schemas.openxmlformats.org/package/2006/relationships"><Relationship Id="rId1" Type="http://schemas.openxmlformats.org/officeDocument/2006/relationships/video" Target="https://www.youtube.com/embed/1wce-mB69mE?feature=oembed"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 Id="rId4" Type="http://schemas.openxmlformats.org/officeDocument/2006/relationships/image" Target="../media/image1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video" Target="https://www.youtube.com/embed/8gtvxYZ0GIg?feature=oembed" TargetMode="External"/><Relationship Id="rId4" Type="http://schemas.openxmlformats.org/officeDocument/2006/relationships/slideLayout" Target="../slideLayouts/slideLayout2.xml"/><Relationship Id="rId5" Type="http://schemas.openxmlformats.org/officeDocument/2006/relationships/notesSlide" Target="../notesSlides/notesSlide4.xml"/><Relationship Id="rId6" Type="http://schemas.openxmlformats.org/officeDocument/2006/relationships/image" Target="../media/image12.png"/><Relationship Id="rId7" Type="http://schemas.openxmlformats.org/officeDocument/2006/relationships/image" Target="../media/image13.jpeg"/><Relationship Id="rId8"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7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NULL" TargetMode="External"/><Relationship Id="rId2" Type="http://schemas.microsoft.com/office/2007/relationships/media" Target="../media/media2.mp4"/><Relationship Id="rId3" Type="http://schemas.openxmlformats.org/officeDocument/2006/relationships/slideLayout" Target="../slideLayouts/slideLayout2.xml"/><Relationship Id="rId4" Type="http://schemas.openxmlformats.org/officeDocument/2006/relationships/notesSlide" Target="../notesSlides/notesSlide8.xml"/><Relationship Id="rId5" Type="http://schemas.openxmlformats.org/officeDocument/2006/relationships/image" Target="../media/image16.png"/><Relationship Id="rId6" Type="http://schemas.openxmlformats.org/officeDocument/2006/relationships/image" Target="../media/image10.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7.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027EEA-AC2C-8A2B-90C0-683BC24C6980}"/>
              </a:ext>
            </a:extLst>
          </p:cNvPr>
          <p:cNvSpPr>
            <a:spLocks noGrp="1"/>
          </p:cNvSpPr>
          <p:nvPr>
            <p:ph type="title"/>
          </p:nvPr>
        </p:nvSpPr>
        <p:spPr>
          <a:xfrm>
            <a:off x="293207" y="383786"/>
            <a:ext cx="11421028" cy="864035"/>
          </a:xfrm>
        </p:spPr>
        <p:txBody>
          <a:bodyPr/>
          <a:lstStyle/>
          <a:p>
            <a:r>
              <a:rPr lang="en-US" dirty="0"/>
              <a:t>Let’s build better tensegrity structures faster</a:t>
            </a:r>
          </a:p>
        </p:txBody>
      </p:sp>
      <p:pic>
        <p:nvPicPr>
          <p:cNvPr id="4" name="Picture 3">
            <a:extLst>
              <a:ext uri="{FF2B5EF4-FFF2-40B4-BE49-F238E27FC236}">
                <a16:creationId xmlns:a16="http://schemas.microsoft.com/office/drawing/2014/main" id="{ECFCE079-07E6-AF29-17F0-F233118E7424}"/>
              </a:ext>
            </a:extLst>
          </p:cNvPr>
          <p:cNvPicPr>
            <a:picLocks noChangeAspect="1"/>
          </p:cNvPicPr>
          <p:nvPr/>
        </p:nvPicPr>
        <p:blipFill>
          <a:blip r:embed="rId3"/>
          <a:stretch>
            <a:fillRect/>
          </a:stretch>
        </p:blipFill>
        <p:spPr>
          <a:xfrm>
            <a:off x="7916116" y="3248213"/>
            <a:ext cx="3473629" cy="1111307"/>
          </a:xfrm>
          <a:prstGeom prst="rect">
            <a:avLst/>
          </a:prstGeom>
        </p:spPr>
      </p:pic>
      <p:sp>
        <p:nvSpPr>
          <p:cNvPr id="5" name="TextBox 4">
            <a:extLst>
              <a:ext uri="{FF2B5EF4-FFF2-40B4-BE49-F238E27FC236}">
                <a16:creationId xmlns:a16="http://schemas.microsoft.com/office/drawing/2014/main" id="{4502DB55-8C5C-7CEF-944E-F1511EC04D98}"/>
              </a:ext>
            </a:extLst>
          </p:cNvPr>
          <p:cNvSpPr txBox="1"/>
          <p:nvPr/>
        </p:nvSpPr>
        <p:spPr>
          <a:xfrm>
            <a:off x="7841202" y="2324883"/>
            <a:ext cx="3548543" cy="923330"/>
          </a:xfrm>
          <a:prstGeom prst="rect">
            <a:avLst/>
          </a:prstGeom>
          <a:noFill/>
        </p:spPr>
        <p:txBody>
          <a:bodyPr wrap="square" rtlCol="0">
            <a:spAutoFit/>
          </a:bodyPr>
          <a:lstStyle/>
          <a:p>
            <a:pPr algn="ctr"/>
            <a:r>
              <a:rPr lang="en-US" dirty="0"/>
              <a:t>Marcus Madsen</a:t>
            </a:r>
          </a:p>
          <a:p>
            <a:pPr algn="ctr"/>
            <a:r>
              <a:rPr lang="en-US" dirty="0"/>
              <a:t>Research Assistant</a:t>
            </a:r>
          </a:p>
        </p:txBody>
      </p:sp>
      <p:sp>
        <p:nvSpPr>
          <p:cNvPr id="7" name="TextBox 6">
            <a:extLst>
              <a:ext uri="{FF2B5EF4-FFF2-40B4-BE49-F238E27FC236}">
                <a16:creationId xmlns:a16="http://schemas.microsoft.com/office/drawing/2014/main" id="{2ED4209F-D35E-0D1D-23D4-258A86B1FCA7}"/>
              </a:ext>
            </a:extLst>
          </p:cNvPr>
          <p:cNvSpPr txBox="1"/>
          <p:nvPr/>
        </p:nvSpPr>
        <p:spPr>
          <a:xfrm>
            <a:off x="7916116" y="4359520"/>
            <a:ext cx="3548543" cy="369332"/>
          </a:xfrm>
          <a:prstGeom prst="rect">
            <a:avLst/>
          </a:prstGeom>
          <a:noFill/>
        </p:spPr>
        <p:txBody>
          <a:bodyPr wrap="square" rtlCol="0">
            <a:spAutoFit/>
          </a:bodyPr>
          <a:lstStyle/>
          <a:p>
            <a:pPr algn="ctr"/>
            <a:r>
              <a:rPr lang="en-US" dirty="0"/>
              <a:t>IDETC 2026</a:t>
            </a:r>
          </a:p>
        </p:txBody>
      </p:sp>
      <p:pic>
        <p:nvPicPr>
          <p:cNvPr id="9" name="Picture 8">
            <a:extLst>
              <a:ext uri="{FF2B5EF4-FFF2-40B4-BE49-F238E27FC236}">
                <a16:creationId xmlns:a16="http://schemas.microsoft.com/office/drawing/2014/main" id="{FC24CD1F-58CF-3E72-F886-D7A44CA5C2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51467" y="1615232"/>
            <a:ext cx="5294489" cy="3970867"/>
          </a:xfrm>
          <a:prstGeom prst="rect">
            <a:avLst/>
          </a:prstGeom>
        </p:spPr>
      </p:pic>
    </p:spTree>
    <p:extLst>
      <p:ext uri="{BB962C8B-B14F-4D97-AF65-F5344CB8AC3E}">
        <p14:creationId xmlns:p14="http://schemas.microsoft.com/office/powerpoint/2010/main" val="5806797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725DF-2B01-BBCD-94E5-D3706932319F}"/>
              </a:ext>
            </a:extLst>
          </p:cNvPr>
          <p:cNvSpPr>
            <a:spLocks noGrp="1"/>
          </p:cNvSpPr>
          <p:nvPr>
            <p:ph type="title"/>
          </p:nvPr>
        </p:nvSpPr>
        <p:spPr/>
        <p:txBody>
          <a:bodyPr/>
          <a:lstStyle/>
          <a:p>
            <a:r>
              <a:rPr lang="en-US" dirty="0"/>
              <a:t>Tensegrity provides robust, reusable, solutions to issues posed by planetary landings—and to problems closer to home.</a:t>
            </a:r>
          </a:p>
        </p:txBody>
      </p:sp>
      <p:pic>
        <p:nvPicPr>
          <p:cNvPr id="6" name="Online Media 5" title="Human Exploration Telerobotics 2 (HET2) SUPERball Bot Task NIAC Mission concept">
            <a:hlinkClick r:id="" action="ppaction://media"/>
            <a:extLst>
              <a:ext uri="{FF2B5EF4-FFF2-40B4-BE49-F238E27FC236}">
                <a16:creationId xmlns:a16="http://schemas.microsoft.com/office/drawing/2014/main" id="{E3C35B58-196B-552D-6031-562BAEC726AC}"/>
              </a:ext>
            </a:extLst>
          </p:cNvPr>
          <p:cNvPicPr>
            <a:picLocks noRot="1" noChangeAspect="1"/>
          </p:cNvPicPr>
          <p:nvPr>
            <a:videoFile r:link="rId1"/>
          </p:nvPr>
        </p:nvPicPr>
        <p:blipFill>
          <a:blip r:embed="rId4"/>
          <a:stretch>
            <a:fillRect/>
          </a:stretch>
        </p:blipFill>
        <p:spPr>
          <a:xfrm>
            <a:off x="0" y="1789118"/>
            <a:ext cx="8971472" cy="5068882"/>
          </a:xfrm>
          <a:prstGeom prst="rect">
            <a:avLst/>
          </a:prstGeom>
        </p:spPr>
      </p:pic>
    </p:spTree>
    <p:extLst>
      <p:ext uri="{BB962C8B-B14F-4D97-AF65-F5344CB8AC3E}">
        <p14:creationId xmlns:p14="http://schemas.microsoft.com/office/powerpoint/2010/main" val="366232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F909B-24C8-FC51-398F-326221C1F28B}"/>
              </a:ext>
            </a:extLst>
          </p:cNvPr>
          <p:cNvSpPr>
            <a:spLocks noGrp="1"/>
          </p:cNvSpPr>
          <p:nvPr>
            <p:ph type="title"/>
          </p:nvPr>
        </p:nvSpPr>
        <p:spPr/>
        <p:txBody>
          <a:bodyPr/>
          <a:lstStyle/>
          <a:p>
            <a:r>
              <a:rPr lang="en-US" dirty="0"/>
              <a:t>Could use a slide to talk about why tensegrity is useful (i.e. avoiding mechanical ware due to struts isolated in sea of tensile moments)</a:t>
            </a:r>
          </a:p>
        </p:txBody>
      </p:sp>
      <p:sp>
        <p:nvSpPr>
          <p:cNvPr id="3" name="TextBox 2">
            <a:extLst>
              <a:ext uri="{FF2B5EF4-FFF2-40B4-BE49-F238E27FC236}">
                <a16:creationId xmlns:a16="http://schemas.microsoft.com/office/drawing/2014/main" id="{4DA472FC-6C6F-7A28-5ED1-8E40131AF5E6}"/>
              </a:ext>
            </a:extLst>
          </p:cNvPr>
          <p:cNvSpPr txBox="1"/>
          <p:nvPr/>
        </p:nvSpPr>
        <p:spPr>
          <a:xfrm>
            <a:off x="2167466" y="2551837"/>
            <a:ext cx="1930400" cy="1754326"/>
          </a:xfrm>
          <a:prstGeom prst="rect">
            <a:avLst/>
          </a:prstGeom>
          <a:noFill/>
        </p:spPr>
        <p:txBody>
          <a:bodyPr wrap="square" rtlCol="0">
            <a:spAutoFit/>
          </a:bodyPr>
          <a:lstStyle/>
          <a:p>
            <a:r>
              <a:rPr lang="en-US" dirty="0"/>
              <a:t>*a gif showing an elbow joint bending back and forth to indicate mechanical grinding friction*</a:t>
            </a:r>
          </a:p>
        </p:txBody>
      </p:sp>
      <p:sp>
        <p:nvSpPr>
          <p:cNvPr id="5" name="TextBox 4">
            <a:extLst>
              <a:ext uri="{FF2B5EF4-FFF2-40B4-BE49-F238E27FC236}">
                <a16:creationId xmlns:a16="http://schemas.microsoft.com/office/drawing/2014/main" id="{595CF2C9-2CB5-064E-D777-A791C150E4E2}"/>
              </a:ext>
            </a:extLst>
          </p:cNvPr>
          <p:cNvSpPr txBox="1"/>
          <p:nvPr/>
        </p:nvSpPr>
        <p:spPr>
          <a:xfrm>
            <a:off x="8094134" y="2551837"/>
            <a:ext cx="1930400" cy="2031325"/>
          </a:xfrm>
          <a:prstGeom prst="rect">
            <a:avLst/>
          </a:prstGeom>
          <a:noFill/>
        </p:spPr>
        <p:txBody>
          <a:bodyPr wrap="square" rtlCol="0">
            <a:spAutoFit/>
          </a:bodyPr>
          <a:lstStyle/>
          <a:p>
            <a:r>
              <a:rPr lang="en-US" dirty="0"/>
              <a:t>*Gif showing tensegrity part being squished to indicate part can stay in elastic region under applied stress*</a:t>
            </a:r>
          </a:p>
        </p:txBody>
      </p:sp>
    </p:spTree>
    <p:extLst>
      <p:ext uri="{BB962C8B-B14F-4D97-AF65-F5344CB8AC3E}">
        <p14:creationId xmlns:p14="http://schemas.microsoft.com/office/powerpoint/2010/main" val="2688556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AdobeStock_207717222">
            <a:hlinkClick r:id="" action="ppaction://media"/>
            <a:extLst>
              <a:ext uri="{FF2B5EF4-FFF2-40B4-BE49-F238E27FC236}">
                <a16:creationId xmlns:a16="http://schemas.microsoft.com/office/drawing/2014/main" id="{EAEEB212-2D94-BC53-4C5F-790AD31132E3}"/>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7275768" y="2732092"/>
            <a:ext cx="3638025" cy="2046389"/>
          </a:xfrm>
          <a:prstGeom prst="rect">
            <a:avLst/>
          </a:prstGeom>
        </p:spPr>
      </p:pic>
      <p:sp>
        <p:nvSpPr>
          <p:cNvPr id="2" name="Title 1">
            <a:extLst>
              <a:ext uri="{FF2B5EF4-FFF2-40B4-BE49-F238E27FC236}">
                <a16:creationId xmlns:a16="http://schemas.microsoft.com/office/drawing/2014/main" id="{E520566D-7C68-D713-F451-3D1AF0D6D9E2}"/>
              </a:ext>
            </a:extLst>
          </p:cNvPr>
          <p:cNvSpPr>
            <a:spLocks noGrp="1"/>
          </p:cNvSpPr>
          <p:nvPr>
            <p:ph type="title"/>
          </p:nvPr>
        </p:nvSpPr>
        <p:spPr/>
        <p:txBody>
          <a:bodyPr/>
          <a:lstStyle/>
          <a:p>
            <a:r>
              <a:rPr lang="en-US" dirty="0"/>
              <a:t>Currently, tensegrity design is slow and resource intensive.</a:t>
            </a:r>
          </a:p>
        </p:txBody>
      </p:sp>
      <p:pic>
        <p:nvPicPr>
          <p:cNvPr id="3" name="Online Media 2" title="How to build a Tensegrity Model - LATTC">
            <a:hlinkClick r:id="" action="ppaction://media"/>
            <a:extLst>
              <a:ext uri="{FF2B5EF4-FFF2-40B4-BE49-F238E27FC236}">
                <a16:creationId xmlns:a16="http://schemas.microsoft.com/office/drawing/2014/main" id="{D889C1E9-10DD-C346-AF37-2A05B1770965}"/>
              </a:ext>
            </a:extLst>
          </p:cNvPr>
          <p:cNvPicPr>
            <a:picLocks noRot="1" noChangeAspect="1"/>
          </p:cNvPicPr>
          <p:nvPr>
            <a:videoFile r:link="rId3"/>
          </p:nvPr>
        </p:nvPicPr>
        <p:blipFill>
          <a:blip r:embed="rId7"/>
          <a:stretch>
            <a:fillRect/>
          </a:stretch>
        </p:blipFill>
        <p:spPr>
          <a:xfrm>
            <a:off x="450235" y="1676193"/>
            <a:ext cx="4851633" cy="3638725"/>
          </a:xfrm>
          <a:prstGeom prst="rect">
            <a:avLst/>
          </a:prstGeom>
        </p:spPr>
      </p:pic>
      <p:sp>
        <p:nvSpPr>
          <p:cNvPr id="4" name="TextBox 3">
            <a:extLst>
              <a:ext uri="{FF2B5EF4-FFF2-40B4-BE49-F238E27FC236}">
                <a16:creationId xmlns:a16="http://schemas.microsoft.com/office/drawing/2014/main" id="{EB6A7FEF-B553-FD40-3AF1-6C3CFA512C7B}"/>
              </a:ext>
            </a:extLst>
          </p:cNvPr>
          <p:cNvSpPr txBox="1"/>
          <p:nvPr/>
        </p:nvSpPr>
        <p:spPr>
          <a:xfrm>
            <a:off x="8444963" y="1676193"/>
            <a:ext cx="1989615" cy="584775"/>
          </a:xfrm>
          <a:prstGeom prst="rect">
            <a:avLst/>
          </a:prstGeom>
          <a:noFill/>
        </p:spPr>
        <p:txBody>
          <a:bodyPr wrap="square" rtlCol="0">
            <a:spAutoFit/>
          </a:bodyPr>
          <a:lstStyle/>
          <a:p>
            <a:r>
              <a:rPr lang="en-US" sz="3200" dirty="0"/>
              <a:t>Iteration</a:t>
            </a:r>
          </a:p>
        </p:txBody>
      </p:sp>
      <p:sp>
        <p:nvSpPr>
          <p:cNvPr id="6" name="TextBox 5">
            <a:extLst>
              <a:ext uri="{FF2B5EF4-FFF2-40B4-BE49-F238E27FC236}">
                <a16:creationId xmlns:a16="http://schemas.microsoft.com/office/drawing/2014/main" id="{F472E982-33D2-0EF9-84D1-3BA0041244B7}"/>
              </a:ext>
            </a:extLst>
          </p:cNvPr>
          <p:cNvSpPr txBox="1"/>
          <p:nvPr/>
        </p:nvSpPr>
        <p:spPr>
          <a:xfrm>
            <a:off x="9674286" y="4636303"/>
            <a:ext cx="1989615" cy="584775"/>
          </a:xfrm>
          <a:prstGeom prst="rect">
            <a:avLst/>
          </a:prstGeom>
          <a:noFill/>
        </p:spPr>
        <p:txBody>
          <a:bodyPr wrap="square" rtlCol="0">
            <a:spAutoFit/>
          </a:bodyPr>
          <a:lstStyle/>
          <a:p>
            <a:r>
              <a:rPr lang="en-US" sz="3200" dirty="0"/>
              <a:t>Building</a:t>
            </a:r>
          </a:p>
        </p:txBody>
      </p:sp>
      <p:sp>
        <p:nvSpPr>
          <p:cNvPr id="8" name="TextBox 7">
            <a:extLst>
              <a:ext uri="{FF2B5EF4-FFF2-40B4-BE49-F238E27FC236}">
                <a16:creationId xmlns:a16="http://schemas.microsoft.com/office/drawing/2014/main" id="{6036A19F-5848-0AD1-2CDB-7DF630FB9C8C}"/>
              </a:ext>
            </a:extLst>
          </p:cNvPr>
          <p:cNvSpPr txBox="1"/>
          <p:nvPr/>
        </p:nvSpPr>
        <p:spPr>
          <a:xfrm>
            <a:off x="6484662" y="4512512"/>
            <a:ext cx="1989615" cy="584775"/>
          </a:xfrm>
          <a:prstGeom prst="rect">
            <a:avLst/>
          </a:prstGeom>
          <a:noFill/>
        </p:spPr>
        <p:txBody>
          <a:bodyPr wrap="square" rtlCol="0">
            <a:spAutoFit/>
          </a:bodyPr>
          <a:lstStyle/>
          <a:p>
            <a:r>
              <a:rPr lang="en-US" sz="3200" dirty="0"/>
              <a:t>Testing</a:t>
            </a:r>
          </a:p>
        </p:txBody>
      </p:sp>
      <p:pic>
        <p:nvPicPr>
          <p:cNvPr id="15" name="Picture 14">
            <a:extLst>
              <a:ext uri="{FF2B5EF4-FFF2-40B4-BE49-F238E27FC236}">
                <a16:creationId xmlns:a16="http://schemas.microsoft.com/office/drawing/2014/main" id="{B4BF7CDE-8E37-F236-680D-478C6E23AEA4}"/>
              </a:ext>
            </a:extLst>
          </p:cNvPr>
          <p:cNvPicPr>
            <a:picLocks noChangeAspect="1"/>
          </p:cNvPicPr>
          <p:nvPr/>
        </p:nvPicPr>
        <p:blipFill>
          <a:blip r:embed="rId8"/>
          <a:stretch>
            <a:fillRect/>
          </a:stretch>
        </p:blipFill>
        <p:spPr>
          <a:xfrm rot="1008590">
            <a:off x="7857891" y="5097287"/>
            <a:ext cx="2166954" cy="1119353"/>
          </a:xfrm>
          <a:prstGeom prst="rect">
            <a:avLst/>
          </a:prstGeom>
        </p:spPr>
      </p:pic>
      <p:pic>
        <p:nvPicPr>
          <p:cNvPr id="17" name="Picture 16">
            <a:extLst>
              <a:ext uri="{FF2B5EF4-FFF2-40B4-BE49-F238E27FC236}">
                <a16:creationId xmlns:a16="http://schemas.microsoft.com/office/drawing/2014/main" id="{B375467E-686C-E66F-8182-20E0BA5E87FA}"/>
              </a:ext>
            </a:extLst>
          </p:cNvPr>
          <p:cNvPicPr>
            <a:picLocks noChangeAspect="1"/>
          </p:cNvPicPr>
          <p:nvPr/>
        </p:nvPicPr>
        <p:blipFill>
          <a:blip r:embed="rId8"/>
          <a:stretch>
            <a:fillRect/>
          </a:stretch>
        </p:blipFill>
        <p:spPr>
          <a:xfrm rot="7748499">
            <a:off x="6395992" y="2589527"/>
            <a:ext cx="2166954" cy="1119353"/>
          </a:xfrm>
          <a:prstGeom prst="rect">
            <a:avLst/>
          </a:prstGeom>
        </p:spPr>
      </p:pic>
      <p:pic>
        <p:nvPicPr>
          <p:cNvPr id="19" name="Picture 18">
            <a:extLst>
              <a:ext uri="{FF2B5EF4-FFF2-40B4-BE49-F238E27FC236}">
                <a16:creationId xmlns:a16="http://schemas.microsoft.com/office/drawing/2014/main" id="{DA485992-7BA5-A715-B2DB-648B94244F02}"/>
              </a:ext>
            </a:extLst>
          </p:cNvPr>
          <p:cNvPicPr>
            <a:picLocks noChangeAspect="1"/>
          </p:cNvPicPr>
          <p:nvPr/>
        </p:nvPicPr>
        <p:blipFill>
          <a:blip r:embed="rId8"/>
          <a:stretch>
            <a:fillRect/>
          </a:stretch>
        </p:blipFill>
        <p:spPr>
          <a:xfrm rot="16200000">
            <a:off x="9910778" y="2715746"/>
            <a:ext cx="2166954" cy="1119353"/>
          </a:xfrm>
          <a:prstGeom prst="rect">
            <a:avLst/>
          </a:prstGeom>
        </p:spPr>
      </p:pic>
    </p:spTree>
    <p:extLst>
      <p:ext uri="{BB962C8B-B14F-4D97-AF65-F5344CB8AC3E}">
        <p14:creationId xmlns:p14="http://schemas.microsoft.com/office/powerpoint/2010/main" val="3455777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par>
                          <p:cTn id="7" fill="hold">
                            <p:stCondLst>
                              <p:cond delay="1"/>
                            </p:stCondLst>
                            <p:childTnLst>
                              <p:par>
                                <p:cTn id="8" presetID="1" presetClass="mediacall" presetSubtype="0" fill="hold" nodeType="afterEffect">
                                  <p:stCondLst>
                                    <p:cond delay="0"/>
                                  </p:stCondLst>
                                  <p:childTnLst>
                                    <p:cmd type="call" cmd="playFrom(0.0)">
                                      <p:cBhvr>
                                        <p:cTn id="9" dur="7941"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0" fill="hold" display="0">
                  <p:stCondLst>
                    <p:cond delay="indefinite"/>
                  </p:stCondLst>
                </p:cTn>
                <p:tgtEl>
                  <p:spTgt spid="3"/>
                </p:tgtEl>
              </p:cMediaNode>
            </p:video>
            <p:seq concurrent="1" nextAc="seek">
              <p:cTn id="11" restart="whenNotActive" fill="hold" evtFilter="cancelBubble" nodeType="interactiveSeq">
                <p:stCondLst>
                  <p:cond evt="onClick" delay="0">
                    <p:tgtEl>
                      <p:spTgt spid="3"/>
                    </p:tgtEl>
                  </p:cond>
                </p:stCondLst>
                <p:endSync evt="end" delay="0">
                  <p:rtn val="all"/>
                </p:endSync>
                <p:childTnLst>
                  <p:par>
                    <p:cTn id="12" fill="hold">
                      <p:stCondLst>
                        <p:cond delay="0"/>
                      </p:stCondLst>
                      <p:childTnLst>
                        <p:par>
                          <p:cTn id="13" fill="hold">
                            <p:stCondLst>
                              <p:cond delay="0"/>
                            </p:stCondLst>
                            <p:childTnLst>
                              <p:par>
                                <p:cTn id="14" presetID="2" presetClass="mediacall" presetSubtype="0" fill="hold" nodeType="clickEffect">
                                  <p:stCondLst>
                                    <p:cond delay="0"/>
                                  </p:stCondLst>
                                  <p:childTnLst>
                                    <p:cmd type="call" cmd="togglePause">
                                      <p:cBhvr>
                                        <p:cTn id="15" dur="1" fill="hold"/>
                                        <p:tgtEl>
                                          <p:spTgt spid="3"/>
                                        </p:tgtEl>
                                      </p:cBhvr>
                                    </p:cmd>
                                  </p:childTnLst>
                                </p:cTn>
                              </p:par>
                            </p:childTnLst>
                          </p:cTn>
                        </p:par>
                      </p:childTnLst>
                    </p:cTn>
                  </p:par>
                </p:childTnLst>
              </p:cTn>
              <p:nextCondLst>
                <p:cond evt="onClick" delay="0">
                  <p:tgtEl>
                    <p:spTgt spid="3"/>
                  </p:tgtEl>
                </p:cond>
              </p:nextCondLst>
            </p:seq>
            <p:video>
              <p:cMediaNode vol="80000" mute="1">
                <p:cTn id="16" fill="hold" display="0">
                  <p:stCondLst>
                    <p:cond delay="indefinite"/>
                  </p:stCondLst>
                </p:cTn>
                <p:tgtEl>
                  <p:spTgt spid="13"/>
                </p:tgtEl>
              </p:cMediaNode>
            </p:video>
            <p:seq concurrent="1" nextAc="seek">
              <p:cTn id="17" restart="whenNotActive" fill="hold" evtFilter="cancelBubble" nodeType="interactiveSeq">
                <p:stCondLst>
                  <p:cond evt="onClick" delay="0">
                    <p:tgtEl>
                      <p:spTgt spid="13"/>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13"/>
                                        </p:tgtEl>
                                      </p:cBhvr>
                                    </p:cmd>
                                  </p:childTnLst>
                                </p:cTn>
                              </p:par>
                            </p:childTnLst>
                          </p:cTn>
                        </p:par>
                      </p:childTnLst>
                    </p:cTn>
                  </p:par>
                </p:childTnLst>
              </p:cTn>
              <p:nextCondLst>
                <p:cond evt="onClick" delay="0">
                  <p:tgtEl>
                    <p:spTgt spid="13"/>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087B1-086D-C093-9E69-B06052742727}"/>
              </a:ext>
            </a:extLst>
          </p:cNvPr>
          <p:cNvSpPr>
            <a:spLocks noGrp="1"/>
          </p:cNvSpPr>
          <p:nvPr>
            <p:ph type="title"/>
          </p:nvPr>
        </p:nvSpPr>
        <p:spPr/>
        <p:txBody>
          <a:bodyPr/>
          <a:lstStyle/>
          <a:p>
            <a:r>
              <a:rPr lang="en-US" dirty="0"/>
              <a:t>Bayesian Optimization makes physical experimentation affordable.</a:t>
            </a:r>
          </a:p>
        </p:txBody>
      </p:sp>
      <p:grpSp>
        <p:nvGrpSpPr>
          <p:cNvPr id="3" name="Group 2">
            <a:extLst>
              <a:ext uri="{FF2B5EF4-FFF2-40B4-BE49-F238E27FC236}">
                <a16:creationId xmlns:a16="http://schemas.microsoft.com/office/drawing/2014/main" id="{B86BDBD8-6CAC-A5DA-146F-38AB5C56736D}"/>
              </a:ext>
            </a:extLst>
          </p:cNvPr>
          <p:cNvGrpSpPr/>
          <p:nvPr/>
        </p:nvGrpSpPr>
        <p:grpSpPr>
          <a:xfrm>
            <a:off x="420477" y="1945830"/>
            <a:ext cx="11351045" cy="3310553"/>
            <a:chOff x="824975" y="2050876"/>
            <a:chExt cx="10351260" cy="3290730"/>
          </a:xfrm>
        </p:grpSpPr>
        <p:pic>
          <p:nvPicPr>
            <p:cNvPr id="4" name="Picture 3">
              <a:extLst>
                <a:ext uri="{FF2B5EF4-FFF2-40B4-BE49-F238E27FC236}">
                  <a16:creationId xmlns:a16="http://schemas.microsoft.com/office/drawing/2014/main" id="{15656748-9C79-265B-72F1-25D78A434A16}"/>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B3EFE118-7BD5-7018-EFB5-854367442EF9}"/>
                </a:ext>
              </a:extLst>
            </p:cNvPr>
            <p:cNvGrpSpPr/>
            <p:nvPr/>
          </p:nvGrpSpPr>
          <p:grpSpPr>
            <a:xfrm>
              <a:off x="7076618" y="3095825"/>
              <a:ext cx="4099617" cy="1739022"/>
              <a:chOff x="8199415" y="2828691"/>
              <a:chExt cx="4093671" cy="1736500"/>
            </a:xfrm>
          </p:grpSpPr>
          <p:sp>
            <p:nvSpPr>
              <p:cNvPr id="11" name="Rectangle 10">
                <a:extLst>
                  <a:ext uri="{FF2B5EF4-FFF2-40B4-BE49-F238E27FC236}">
                    <a16:creationId xmlns:a16="http://schemas.microsoft.com/office/drawing/2014/main" id="{98376692-8E03-F44B-558C-4BFA5DD6527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12" name="Arrow: Curved Left 11">
                <a:extLst>
                  <a:ext uri="{FF2B5EF4-FFF2-40B4-BE49-F238E27FC236}">
                    <a16:creationId xmlns:a16="http://schemas.microsoft.com/office/drawing/2014/main" id="{3BE6A6CB-7CCC-924E-9DCF-DCC2FF8CAF48}"/>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13" name="Rectangle 12">
                <a:extLst>
                  <a:ext uri="{FF2B5EF4-FFF2-40B4-BE49-F238E27FC236}">
                    <a16:creationId xmlns:a16="http://schemas.microsoft.com/office/drawing/2014/main" id="{67DF754E-D22F-F7BD-0420-EF305A078872}"/>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6" name="Rectangle 5">
              <a:extLst>
                <a:ext uri="{FF2B5EF4-FFF2-40B4-BE49-F238E27FC236}">
                  <a16:creationId xmlns:a16="http://schemas.microsoft.com/office/drawing/2014/main" id="{88136CE2-9841-EE39-BFB4-D16A42A87F5D}"/>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D1B6E511-D7FE-4F87-65E2-7484019BB7F6}"/>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8" name="Rectangle 7">
              <a:extLst>
                <a:ext uri="{FF2B5EF4-FFF2-40B4-BE49-F238E27FC236}">
                  <a16:creationId xmlns:a16="http://schemas.microsoft.com/office/drawing/2014/main" id="{7D86FCE3-1792-14AD-AEDC-42DC800F855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EFF9038E-61E1-93FD-25A2-68FA7BA6CA05}"/>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0" name="TextBox 9">
              <a:extLst>
                <a:ext uri="{FF2B5EF4-FFF2-40B4-BE49-F238E27FC236}">
                  <a16:creationId xmlns:a16="http://schemas.microsoft.com/office/drawing/2014/main" id="{9FCD09E3-A226-AC74-6E49-10AF7C15065B}"/>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5" name="TextBox 14">
            <a:extLst>
              <a:ext uri="{FF2B5EF4-FFF2-40B4-BE49-F238E27FC236}">
                <a16:creationId xmlns:a16="http://schemas.microsoft.com/office/drawing/2014/main" id="{80CDFE7B-B49D-5A33-6A6D-4CB9FDAA26C8}"/>
              </a:ext>
            </a:extLst>
          </p:cNvPr>
          <p:cNvSpPr txBox="1"/>
          <p:nvPr/>
        </p:nvSpPr>
        <p:spPr>
          <a:xfrm>
            <a:off x="6359082" y="5929225"/>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4726099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FFB8F-B351-62DC-D45F-D2117582515B}"/>
              </a:ext>
            </a:extLst>
          </p:cNvPr>
          <p:cNvSpPr>
            <a:spLocks noGrp="1"/>
          </p:cNvSpPr>
          <p:nvPr>
            <p:ph type="title"/>
          </p:nvPr>
        </p:nvSpPr>
        <p:spPr/>
        <p:txBody>
          <a:bodyPr/>
          <a:lstStyle/>
          <a:p>
            <a:r>
              <a:rPr lang="en-US" dirty="0"/>
              <a:t>Model calibration and testing are costly, so we need to be careful about what specimens we choose.</a:t>
            </a:r>
          </a:p>
        </p:txBody>
      </p:sp>
      <p:sp>
        <p:nvSpPr>
          <p:cNvPr id="3" name="TextBox 2">
            <a:extLst>
              <a:ext uri="{FF2B5EF4-FFF2-40B4-BE49-F238E27FC236}">
                <a16:creationId xmlns:a16="http://schemas.microsoft.com/office/drawing/2014/main" id="{41C1AEA4-57A7-5CB8-3420-5AA99595D838}"/>
              </a:ext>
            </a:extLst>
          </p:cNvPr>
          <p:cNvSpPr txBox="1"/>
          <p:nvPr/>
        </p:nvSpPr>
        <p:spPr>
          <a:xfrm>
            <a:off x="4703233" y="2650067"/>
            <a:ext cx="2785533" cy="1754326"/>
          </a:xfrm>
          <a:prstGeom prst="rect">
            <a:avLst/>
          </a:prstGeom>
          <a:noFill/>
        </p:spPr>
        <p:txBody>
          <a:bodyPr wrap="square" rtlCol="0">
            <a:spAutoFit/>
          </a:bodyPr>
          <a:lstStyle/>
          <a:p>
            <a:r>
              <a:rPr lang="en-US" dirty="0"/>
              <a:t>*Image over white of two separate T-3 prisms with obviously different characteristics (different size, tendon diameters, etc.)</a:t>
            </a:r>
          </a:p>
        </p:txBody>
      </p:sp>
    </p:spTree>
    <p:extLst>
      <p:ext uri="{BB962C8B-B14F-4D97-AF65-F5344CB8AC3E}">
        <p14:creationId xmlns:p14="http://schemas.microsoft.com/office/powerpoint/2010/main" val="2193407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72616-6F1D-2923-2477-FA26F1CB60BB}"/>
              </a:ext>
            </a:extLst>
          </p:cNvPr>
          <p:cNvSpPr>
            <a:spLocks noGrp="1"/>
          </p:cNvSpPr>
          <p:nvPr>
            <p:ph type="title"/>
          </p:nvPr>
        </p:nvSpPr>
        <p:spPr/>
        <p:txBody>
          <a:bodyPr/>
          <a:lstStyle/>
          <a:p>
            <a:r>
              <a:rPr lang="en-US" dirty="0"/>
              <a:t>Bayesian optimization makes physical experimentation affordable, even with limited, noisy data.</a:t>
            </a:r>
          </a:p>
        </p:txBody>
      </p:sp>
      <p:sp>
        <p:nvSpPr>
          <p:cNvPr id="6" name="TextBox 5">
            <a:extLst>
              <a:ext uri="{FF2B5EF4-FFF2-40B4-BE49-F238E27FC236}">
                <a16:creationId xmlns:a16="http://schemas.microsoft.com/office/drawing/2014/main" id="{A39931E4-F45C-3902-2B71-4D4BAB5AE0A5}"/>
              </a:ext>
            </a:extLst>
          </p:cNvPr>
          <p:cNvSpPr txBox="1"/>
          <p:nvPr/>
        </p:nvSpPr>
        <p:spPr>
          <a:xfrm>
            <a:off x="965201" y="3429000"/>
            <a:ext cx="1701800" cy="369332"/>
          </a:xfrm>
          <a:prstGeom prst="rect">
            <a:avLst/>
          </a:prstGeom>
          <a:noFill/>
        </p:spPr>
        <p:txBody>
          <a:bodyPr wrap="square" rtlCol="0">
            <a:spAutoFit/>
          </a:bodyPr>
          <a:lstStyle/>
          <a:p>
            <a:r>
              <a:rPr lang="en-US" dirty="0"/>
              <a:t>6 variables</a:t>
            </a:r>
          </a:p>
        </p:txBody>
      </p:sp>
      <p:sp>
        <p:nvSpPr>
          <p:cNvPr id="8" name="TextBox 7">
            <a:extLst>
              <a:ext uri="{FF2B5EF4-FFF2-40B4-BE49-F238E27FC236}">
                <a16:creationId xmlns:a16="http://schemas.microsoft.com/office/drawing/2014/main" id="{A79E932F-0369-4FBD-76F6-59C6CED37DE5}"/>
              </a:ext>
            </a:extLst>
          </p:cNvPr>
          <p:cNvSpPr txBox="1"/>
          <p:nvPr/>
        </p:nvSpPr>
        <p:spPr>
          <a:xfrm>
            <a:off x="965200" y="4521200"/>
            <a:ext cx="2362199" cy="369332"/>
          </a:xfrm>
          <a:prstGeom prst="rect">
            <a:avLst/>
          </a:prstGeom>
          <a:noFill/>
        </p:spPr>
        <p:txBody>
          <a:bodyPr wrap="square" rtlCol="0">
            <a:spAutoFit/>
          </a:bodyPr>
          <a:lstStyle/>
          <a:p>
            <a:r>
              <a:rPr lang="en-US" dirty="0"/>
              <a:t>2 types of input data</a:t>
            </a:r>
          </a:p>
        </p:txBody>
      </p:sp>
      <p:sp>
        <p:nvSpPr>
          <p:cNvPr id="10" name="TextBox 9">
            <a:extLst>
              <a:ext uri="{FF2B5EF4-FFF2-40B4-BE49-F238E27FC236}">
                <a16:creationId xmlns:a16="http://schemas.microsoft.com/office/drawing/2014/main" id="{C365D4B4-53B9-D404-A314-7E144280A57F}"/>
              </a:ext>
            </a:extLst>
          </p:cNvPr>
          <p:cNvSpPr txBox="1"/>
          <p:nvPr/>
        </p:nvSpPr>
        <p:spPr>
          <a:xfrm>
            <a:off x="1117601" y="2489200"/>
            <a:ext cx="1701800" cy="369332"/>
          </a:xfrm>
          <a:prstGeom prst="rect">
            <a:avLst/>
          </a:prstGeom>
          <a:noFill/>
        </p:spPr>
        <p:txBody>
          <a:bodyPr wrap="square" rtlCol="0">
            <a:spAutoFit/>
          </a:bodyPr>
          <a:lstStyle/>
          <a:p>
            <a:r>
              <a:rPr lang="en-US" dirty="0"/>
              <a:t>2 objectives</a:t>
            </a:r>
          </a:p>
        </p:txBody>
      </p:sp>
      <p:cxnSp>
        <p:nvCxnSpPr>
          <p:cNvPr id="12" name="Connector: Curved 11">
            <a:extLst>
              <a:ext uri="{FF2B5EF4-FFF2-40B4-BE49-F238E27FC236}">
                <a16:creationId xmlns:a16="http://schemas.microsoft.com/office/drawing/2014/main" id="{7701B3DB-D9AE-96D3-46B3-DC115F2BE774}"/>
              </a:ext>
            </a:extLst>
          </p:cNvPr>
          <p:cNvCxnSpPr>
            <a:stCxn id="10" idx="3"/>
          </p:cNvCxnSpPr>
          <p:nvPr/>
        </p:nvCxnSpPr>
        <p:spPr>
          <a:xfrm>
            <a:off x="2819401" y="2673866"/>
            <a:ext cx="1896532" cy="893633"/>
          </a:xfrm>
          <a:prstGeom prst="curvedConnector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Curved 13">
            <a:extLst>
              <a:ext uri="{FF2B5EF4-FFF2-40B4-BE49-F238E27FC236}">
                <a16:creationId xmlns:a16="http://schemas.microsoft.com/office/drawing/2014/main" id="{B82EA0D0-3B75-1C63-CC64-B607AEAA8947}"/>
              </a:ext>
            </a:extLst>
          </p:cNvPr>
          <p:cNvCxnSpPr>
            <a:stCxn id="6" idx="3"/>
          </p:cNvCxnSpPr>
          <p:nvPr/>
        </p:nvCxnSpPr>
        <p:spPr>
          <a:xfrm flipV="1">
            <a:off x="2667001" y="3567499"/>
            <a:ext cx="1904999" cy="46167"/>
          </a:xfrm>
          <a:prstGeom prst="curvedConnector3">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Connector: Curved 15">
            <a:extLst>
              <a:ext uri="{FF2B5EF4-FFF2-40B4-BE49-F238E27FC236}">
                <a16:creationId xmlns:a16="http://schemas.microsoft.com/office/drawing/2014/main" id="{57409471-269D-8B27-8817-19F0E5D23DCE}"/>
              </a:ext>
            </a:extLst>
          </p:cNvPr>
          <p:cNvCxnSpPr>
            <a:stCxn id="8" idx="3"/>
          </p:cNvCxnSpPr>
          <p:nvPr/>
        </p:nvCxnSpPr>
        <p:spPr>
          <a:xfrm flipV="1">
            <a:off x="3327399" y="3567499"/>
            <a:ext cx="1244601" cy="1138367"/>
          </a:xfrm>
          <a:prstGeom prst="curvedConnector3">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0569602B-703B-21D4-7672-6814DA1A1B3D}"/>
              </a:ext>
            </a:extLst>
          </p:cNvPr>
          <p:cNvSpPr txBox="1"/>
          <p:nvPr/>
        </p:nvSpPr>
        <p:spPr>
          <a:xfrm>
            <a:off x="5113867" y="3396734"/>
            <a:ext cx="1701800" cy="646331"/>
          </a:xfrm>
          <a:prstGeom prst="rect">
            <a:avLst/>
          </a:prstGeom>
          <a:noFill/>
        </p:spPr>
        <p:txBody>
          <a:bodyPr wrap="square" rtlCol="0">
            <a:spAutoFit/>
          </a:bodyPr>
          <a:lstStyle/>
          <a:p>
            <a:r>
              <a:rPr lang="en-US" dirty="0"/>
              <a:t>*image of </a:t>
            </a:r>
            <a:r>
              <a:rPr lang="en-US" dirty="0" err="1"/>
              <a:t>blackbox</a:t>
            </a:r>
            <a:r>
              <a:rPr lang="en-US" dirty="0"/>
              <a:t>*</a:t>
            </a:r>
          </a:p>
        </p:txBody>
      </p:sp>
    </p:spTree>
    <p:extLst>
      <p:ext uri="{BB962C8B-B14F-4D97-AF65-F5344CB8AC3E}">
        <p14:creationId xmlns:p14="http://schemas.microsoft.com/office/powerpoint/2010/main" val="683771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55194-E93C-BC0F-29EE-BDE49ACA54AD}"/>
              </a:ext>
            </a:extLst>
          </p:cNvPr>
          <p:cNvSpPr>
            <a:spLocks noGrp="1"/>
          </p:cNvSpPr>
          <p:nvPr>
            <p:ph type="title"/>
          </p:nvPr>
        </p:nvSpPr>
        <p:spPr/>
        <p:txBody>
          <a:bodyPr/>
          <a:lstStyle/>
          <a:p>
            <a:r>
              <a:rPr lang="en-US" dirty="0"/>
              <a:t>Multi-material additive manufacturing supplies that data fast — single-build co-fabrication, with no joining of parts.</a:t>
            </a:r>
          </a:p>
        </p:txBody>
      </p:sp>
      <p:pic>
        <p:nvPicPr>
          <p:cNvPr id="3" name="TT3_01 Figuring Out TPU Print Parameters (part 1)">
            <a:hlinkClick r:id="" action="ppaction://media"/>
            <a:extLst>
              <a:ext uri="{FF2B5EF4-FFF2-40B4-BE49-F238E27FC236}">
                <a16:creationId xmlns:a16="http://schemas.microsoft.com/office/drawing/2014/main" id="{5E9B6FFC-762C-ECE3-E95C-030F3B3A7228}"/>
              </a:ext>
            </a:extLst>
          </p:cNvPr>
          <p:cNvPicPr>
            <a:picLocks noChangeAspect="1"/>
          </p:cNvPicPr>
          <p:nvPr>
            <a:videoFile r:link="rId1"/>
            <p:extLst>
              <p:ext uri="{DAA4B4D4-6D71-4841-9C94-3DE7FCFB9230}">
                <p14:media xmlns:p14="http://schemas.microsoft.com/office/powerpoint/2010/main" r:embed="rId2">
                  <p14:trim end="864.2805"/>
                </p14:media>
              </p:ext>
            </p:extLst>
          </p:nvPr>
        </p:nvPicPr>
        <p:blipFill>
          <a:blip r:embed="rId5"/>
          <a:stretch>
            <a:fillRect/>
          </a:stretch>
        </p:blipFill>
        <p:spPr>
          <a:xfrm>
            <a:off x="211667" y="2275417"/>
            <a:ext cx="6252633" cy="4019550"/>
          </a:xfrm>
          <a:prstGeom prst="rect">
            <a:avLst/>
          </a:prstGeom>
        </p:spPr>
      </p:pic>
      <p:pic>
        <p:nvPicPr>
          <p:cNvPr id="5" name="Picture 4">
            <a:extLst>
              <a:ext uri="{FF2B5EF4-FFF2-40B4-BE49-F238E27FC236}">
                <a16:creationId xmlns:a16="http://schemas.microsoft.com/office/drawing/2014/main" id="{74495B16-D5BD-AE3E-C67B-A1D04BFC9A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642100" y="2291292"/>
            <a:ext cx="5338233" cy="4003675"/>
          </a:xfrm>
          <a:prstGeom prst="rect">
            <a:avLst/>
          </a:prstGeom>
        </p:spPr>
      </p:pic>
    </p:spTree>
    <p:extLst>
      <p:ext uri="{BB962C8B-B14F-4D97-AF65-F5344CB8AC3E}">
        <p14:creationId xmlns:p14="http://schemas.microsoft.com/office/powerpoint/2010/main" val="2047012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690" fill="hold"/>
                                        <p:tgtEl>
                                          <p:spTgt spid="3"/>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3"/>
                </p:tgtEl>
              </p:cMediaNode>
            </p:video>
            <p:seq concurrent="1" nextAc="seek">
              <p:cTn id="12" restart="whenNotActive" fill="hold" evtFilter="cancelBubble" nodeType="interactiveSeq">
                <p:stCondLst>
                  <p:cond evt="onClick" delay="0">
                    <p:tgtEl>
                      <p:spTgt spid="3"/>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40476-7C7A-C9D1-6AB4-F04BF7C14E5B}"/>
              </a:ext>
            </a:extLst>
          </p:cNvPr>
          <p:cNvSpPr>
            <a:spLocks noGrp="1"/>
          </p:cNvSpPr>
          <p:nvPr>
            <p:ph type="title"/>
          </p:nvPr>
        </p:nvSpPr>
        <p:spPr/>
        <p:txBody>
          <a:bodyPr/>
          <a:lstStyle/>
          <a:p>
            <a:r>
              <a:rPr lang="en-US" dirty="0"/>
              <a:t>We use a drop tower and accelerometers to gather real data on these 3D-printed specimens.</a:t>
            </a:r>
          </a:p>
        </p:txBody>
      </p:sp>
      <p:sp>
        <p:nvSpPr>
          <p:cNvPr id="4" name="TextBox 3">
            <a:extLst>
              <a:ext uri="{FF2B5EF4-FFF2-40B4-BE49-F238E27FC236}">
                <a16:creationId xmlns:a16="http://schemas.microsoft.com/office/drawing/2014/main" id="{60544246-A097-752F-2B75-84C4D9E62753}"/>
              </a:ext>
            </a:extLst>
          </p:cNvPr>
          <p:cNvSpPr txBox="1"/>
          <p:nvPr/>
        </p:nvSpPr>
        <p:spPr>
          <a:xfrm>
            <a:off x="1388533" y="3429000"/>
            <a:ext cx="2099734" cy="923330"/>
          </a:xfrm>
          <a:prstGeom prst="rect">
            <a:avLst/>
          </a:prstGeom>
          <a:noFill/>
        </p:spPr>
        <p:txBody>
          <a:bodyPr wrap="square" rtlCol="0">
            <a:spAutoFit/>
          </a:bodyPr>
          <a:lstStyle/>
          <a:p>
            <a:r>
              <a:rPr lang="en-US" dirty="0"/>
              <a:t>*placeholder for looped gif of drop test at 60 in*</a:t>
            </a:r>
          </a:p>
        </p:txBody>
      </p:sp>
      <p:sp>
        <p:nvSpPr>
          <p:cNvPr id="6" name="TextBox 5">
            <a:extLst>
              <a:ext uri="{FF2B5EF4-FFF2-40B4-BE49-F238E27FC236}">
                <a16:creationId xmlns:a16="http://schemas.microsoft.com/office/drawing/2014/main" id="{55AB2C7A-A8C1-71A9-CAAB-DB52922AD54F}"/>
              </a:ext>
            </a:extLst>
          </p:cNvPr>
          <p:cNvSpPr txBox="1"/>
          <p:nvPr/>
        </p:nvSpPr>
        <p:spPr>
          <a:xfrm>
            <a:off x="8068733" y="3429000"/>
            <a:ext cx="2099734" cy="923330"/>
          </a:xfrm>
          <a:prstGeom prst="rect">
            <a:avLst/>
          </a:prstGeom>
          <a:noFill/>
        </p:spPr>
        <p:txBody>
          <a:bodyPr wrap="square" rtlCol="0">
            <a:spAutoFit/>
          </a:bodyPr>
          <a:lstStyle/>
          <a:p>
            <a:r>
              <a:rPr lang="en-US" dirty="0"/>
              <a:t>*placeholder for </a:t>
            </a:r>
            <a:r>
              <a:rPr lang="en-US" dirty="0" err="1"/>
              <a:t>slo</a:t>
            </a:r>
            <a:r>
              <a:rPr lang="en-US" dirty="0"/>
              <a:t> motion of drop test*</a:t>
            </a:r>
          </a:p>
        </p:txBody>
      </p:sp>
    </p:spTree>
    <p:extLst>
      <p:ext uri="{BB962C8B-B14F-4D97-AF65-F5344CB8AC3E}">
        <p14:creationId xmlns:p14="http://schemas.microsoft.com/office/powerpoint/2010/main" val="1839427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0566D-7C68-D713-F451-3D1AF0D6D9E2}"/>
              </a:ext>
            </a:extLst>
          </p:cNvPr>
          <p:cNvSpPr>
            <a:spLocks noGrp="1"/>
          </p:cNvSpPr>
          <p:nvPr>
            <p:ph type="title"/>
          </p:nvPr>
        </p:nvSpPr>
        <p:spPr/>
        <p:txBody>
          <a:bodyPr/>
          <a:lstStyle/>
          <a:p>
            <a:r>
              <a:rPr lang="en-US" dirty="0"/>
              <a:t>By connecting these ideas, we significantly accelerate the workflow to optimize tensegrity inspired structures:</a:t>
            </a:r>
          </a:p>
        </p:txBody>
      </p:sp>
      <p:sp>
        <p:nvSpPr>
          <p:cNvPr id="4" name="TextBox 3">
            <a:extLst>
              <a:ext uri="{FF2B5EF4-FFF2-40B4-BE49-F238E27FC236}">
                <a16:creationId xmlns:a16="http://schemas.microsoft.com/office/drawing/2014/main" id="{EB6A7FEF-B553-FD40-3AF1-6C3CFA512C7B}"/>
              </a:ext>
            </a:extLst>
          </p:cNvPr>
          <p:cNvSpPr txBox="1"/>
          <p:nvPr/>
        </p:nvSpPr>
        <p:spPr>
          <a:xfrm>
            <a:off x="5049829" y="1705576"/>
            <a:ext cx="1989615" cy="584775"/>
          </a:xfrm>
          <a:prstGeom prst="rect">
            <a:avLst/>
          </a:prstGeom>
          <a:noFill/>
        </p:spPr>
        <p:txBody>
          <a:bodyPr wrap="square" rtlCol="0">
            <a:spAutoFit/>
          </a:bodyPr>
          <a:lstStyle/>
          <a:p>
            <a:r>
              <a:rPr lang="en-US" sz="3200" dirty="0"/>
              <a:t>Printing</a:t>
            </a:r>
          </a:p>
        </p:txBody>
      </p:sp>
      <p:sp>
        <p:nvSpPr>
          <p:cNvPr id="6" name="TextBox 5">
            <a:extLst>
              <a:ext uri="{FF2B5EF4-FFF2-40B4-BE49-F238E27FC236}">
                <a16:creationId xmlns:a16="http://schemas.microsoft.com/office/drawing/2014/main" id="{F472E982-33D2-0EF9-84D1-3BA0041244B7}"/>
              </a:ext>
            </a:extLst>
          </p:cNvPr>
          <p:cNvSpPr txBox="1"/>
          <p:nvPr/>
        </p:nvSpPr>
        <p:spPr>
          <a:xfrm>
            <a:off x="6279152" y="4665686"/>
            <a:ext cx="1989615" cy="584775"/>
          </a:xfrm>
          <a:prstGeom prst="rect">
            <a:avLst/>
          </a:prstGeom>
          <a:noFill/>
        </p:spPr>
        <p:txBody>
          <a:bodyPr wrap="square" rtlCol="0">
            <a:spAutoFit/>
          </a:bodyPr>
          <a:lstStyle/>
          <a:p>
            <a:r>
              <a:rPr lang="en-US" sz="3200" dirty="0"/>
              <a:t>Testing</a:t>
            </a:r>
          </a:p>
        </p:txBody>
      </p:sp>
      <p:sp>
        <p:nvSpPr>
          <p:cNvPr id="8" name="TextBox 7">
            <a:extLst>
              <a:ext uri="{FF2B5EF4-FFF2-40B4-BE49-F238E27FC236}">
                <a16:creationId xmlns:a16="http://schemas.microsoft.com/office/drawing/2014/main" id="{6036A19F-5848-0AD1-2CDB-7DF630FB9C8C}"/>
              </a:ext>
            </a:extLst>
          </p:cNvPr>
          <p:cNvSpPr txBox="1"/>
          <p:nvPr/>
        </p:nvSpPr>
        <p:spPr>
          <a:xfrm>
            <a:off x="3089528" y="4541895"/>
            <a:ext cx="1989615" cy="584775"/>
          </a:xfrm>
          <a:prstGeom prst="rect">
            <a:avLst/>
          </a:prstGeom>
          <a:noFill/>
        </p:spPr>
        <p:txBody>
          <a:bodyPr wrap="square" rtlCol="0">
            <a:spAutoFit/>
          </a:bodyPr>
          <a:lstStyle/>
          <a:p>
            <a:r>
              <a:rPr lang="en-US" sz="3200" dirty="0"/>
              <a:t>BO feed</a:t>
            </a:r>
          </a:p>
        </p:txBody>
      </p:sp>
      <p:pic>
        <p:nvPicPr>
          <p:cNvPr id="15" name="Picture 14">
            <a:extLst>
              <a:ext uri="{FF2B5EF4-FFF2-40B4-BE49-F238E27FC236}">
                <a16:creationId xmlns:a16="http://schemas.microsoft.com/office/drawing/2014/main" id="{B4BF7CDE-8E37-F236-680D-478C6E23AEA4}"/>
              </a:ext>
            </a:extLst>
          </p:cNvPr>
          <p:cNvPicPr>
            <a:picLocks noChangeAspect="1"/>
          </p:cNvPicPr>
          <p:nvPr/>
        </p:nvPicPr>
        <p:blipFill>
          <a:blip r:embed="rId3"/>
          <a:stretch>
            <a:fillRect/>
          </a:stretch>
        </p:blipFill>
        <p:spPr>
          <a:xfrm rot="1008590">
            <a:off x="4616169" y="5024699"/>
            <a:ext cx="2166954" cy="1119353"/>
          </a:xfrm>
          <a:prstGeom prst="rect">
            <a:avLst/>
          </a:prstGeom>
        </p:spPr>
      </p:pic>
      <p:pic>
        <p:nvPicPr>
          <p:cNvPr id="17" name="Picture 16">
            <a:extLst>
              <a:ext uri="{FF2B5EF4-FFF2-40B4-BE49-F238E27FC236}">
                <a16:creationId xmlns:a16="http://schemas.microsoft.com/office/drawing/2014/main" id="{B375467E-686C-E66F-8182-20E0BA5E87FA}"/>
              </a:ext>
            </a:extLst>
          </p:cNvPr>
          <p:cNvPicPr>
            <a:picLocks noChangeAspect="1"/>
          </p:cNvPicPr>
          <p:nvPr/>
        </p:nvPicPr>
        <p:blipFill>
          <a:blip r:embed="rId3"/>
          <a:stretch>
            <a:fillRect/>
          </a:stretch>
        </p:blipFill>
        <p:spPr>
          <a:xfrm rot="7748499">
            <a:off x="3000858" y="2618910"/>
            <a:ext cx="2166954" cy="1119353"/>
          </a:xfrm>
          <a:prstGeom prst="rect">
            <a:avLst/>
          </a:prstGeom>
        </p:spPr>
      </p:pic>
      <p:pic>
        <p:nvPicPr>
          <p:cNvPr id="19" name="Picture 18">
            <a:extLst>
              <a:ext uri="{FF2B5EF4-FFF2-40B4-BE49-F238E27FC236}">
                <a16:creationId xmlns:a16="http://schemas.microsoft.com/office/drawing/2014/main" id="{DA485992-7BA5-A715-B2DB-648B94244F02}"/>
              </a:ext>
            </a:extLst>
          </p:cNvPr>
          <p:cNvPicPr>
            <a:picLocks noChangeAspect="1"/>
          </p:cNvPicPr>
          <p:nvPr/>
        </p:nvPicPr>
        <p:blipFill>
          <a:blip r:embed="rId3"/>
          <a:stretch>
            <a:fillRect/>
          </a:stretch>
        </p:blipFill>
        <p:spPr>
          <a:xfrm rot="16200000">
            <a:off x="6515644" y="2745129"/>
            <a:ext cx="2166954" cy="1119353"/>
          </a:xfrm>
          <a:prstGeom prst="rect">
            <a:avLst/>
          </a:prstGeom>
        </p:spPr>
      </p:pic>
      <p:pic>
        <p:nvPicPr>
          <p:cNvPr id="9" name="Graphic 8">
            <a:extLst>
              <a:ext uri="{FF2B5EF4-FFF2-40B4-BE49-F238E27FC236}">
                <a16:creationId xmlns:a16="http://schemas.microsoft.com/office/drawing/2014/main" id="{149AD7CD-DCC9-14C2-4401-25A3AF265F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3696" y="2602383"/>
            <a:ext cx="2231899" cy="2231899"/>
          </a:xfrm>
          <a:prstGeom prst="rect">
            <a:avLst/>
          </a:prstGeom>
        </p:spPr>
      </p:pic>
    </p:spTree>
    <p:extLst>
      <p:ext uri="{BB962C8B-B14F-4D97-AF65-F5344CB8AC3E}">
        <p14:creationId xmlns:p14="http://schemas.microsoft.com/office/powerpoint/2010/main" val="39268495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C4815-CFEC-11FA-8403-DD9347F0A060}"/>
              </a:ext>
            </a:extLst>
          </p:cNvPr>
          <p:cNvSpPr>
            <a:spLocks noGrp="1"/>
          </p:cNvSpPr>
          <p:nvPr>
            <p:ph type="title"/>
          </p:nvPr>
        </p:nvSpPr>
        <p:spPr/>
        <p:txBody>
          <a:bodyPr/>
          <a:lstStyle/>
          <a:p>
            <a:r>
              <a:rPr lang="en-US" dirty="0"/>
              <a:t>Reserved for results</a:t>
            </a:r>
          </a:p>
        </p:txBody>
      </p:sp>
    </p:spTree>
    <p:extLst>
      <p:ext uri="{BB962C8B-B14F-4D97-AF65-F5344CB8AC3E}">
        <p14:creationId xmlns:p14="http://schemas.microsoft.com/office/powerpoint/2010/main" val="20690727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71D46-8FEC-E841-DCC9-1A29AFE7B4BF}"/>
              </a:ext>
            </a:extLst>
          </p:cNvPr>
          <p:cNvSpPr>
            <a:spLocks noGrp="1"/>
          </p:cNvSpPr>
          <p:nvPr>
            <p:ph type="title"/>
          </p:nvPr>
        </p:nvSpPr>
        <p:spPr/>
        <p:txBody>
          <a:bodyPr/>
          <a:lstStyle/>
          <a:p>
            <a:r>
              <a:rPr lang="en-US" dirty="0"/>
              <a:t>We will take this workflow and use it for some of the vast potential applications of tensegrity.</a:t>
            </a:r>
          </a:p>
        </p:txBody>
      </p:sp>
      <p:sp>
        <p:nvSpPr>
          <p:cNvPr id="3" name="TextBox 2">
            <a:extLst>
              <a:ext uri="{FF2B5EF4-FFF2-40B4-BE49-F238E27FC236}">
                <a16:creationId xmlns:a16="http://schemas.microsoft.com/office/drawing/2014/main" id="{81911DDC-EE07-BD5D-E359-CBBE72DBCB30}"/>
              </a:ext>
            </a:extLst>
          </p:cNvPr>
          <p:cNvSpPr txBox="1"/>
          <p:nvPr/>
        </p:nvSpPr>
        <p:spPr>
          <a:xfrm>
            <a:off x="1312333" y="2667000"/>
            <a:ext cx="3606800" cy="923330"/>
          </a:xfrm>
          <a:prstGeom prst="rect">
            <a:avLst/>
          </a:prstGeom>
          <a:noFill/>
        </p:spPr>
        <p:txBody>
          <a:bodyPr wrap="square" rtlCol="0">
            <a:spAutoFit/>
          </a:bodyPr>
          <a:lstStyle/>
          <a:p>
            <a:r>
              <a:rPr lang="en-US" dirty="0"/>
              <a:t>*image of crutch tip, perhaps from that paper and properly attributed*</a:t>
            </a:r>
          </a:p>
        </p:txBody>
      </p:sp>
      <p:sp>
        <p:nvSpPr>
          <p:cNvPr id="4" name="TextBox 3">
            <a:extLst>
              <a:ext uri="{FF2B5EF4-FFF2-40B4-BE49-F238E27FC236}">
                <a16:creationId xmlns:a16="http://schemas.microsoft.com/office/drawing/2014/main" id="{108E89AC-FC81-1770-D8D8-5DDC98059AFD}"/>
              </a:ext>
            </a:extLst>
          </p:cNvPr>
          <p:cNvSpPr txBox="1"/>
          <p:nvPr/>
        </p:nvSpPr>
        <p:spPr>
          <a:xfrm>
            <a:off x="7247467" y="2463800"/>
            <a:ext cx="3793066" cy="369332"/>
          </a:xfrm>
          <a:prstGeom prst="rect">
            <a:avLst/>
          </a:prstGeom>
          <a:noFill/>
        </p:spPr>
        <p:txBody>
          <a:bodyPr wrap="square" rtlCol="0">
            <a:spAutoFit/>
          </a:bodyPr>
          <a:lstStyle/>
          <a:p>
            <a:r>
              <a:rPr lang="en-US" dirty="0"/>
              <a:t>*image to show lattice structure</a:t>
            </a:r>
          </a:p>
        </p:txBody>
      </p:sp>
    </p:spTree>
    <p:extLst>
      <p:ext uri="{BB962C8B-B14F-4D97-AF65-F5344CB8AC3E}">
        <p14:creationId xmlns:p14="http://schemas.microsoft.com/office/powerpoint/2010/main" val="2441445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FDD8EBA-3D1D-248B-7087-37BD44539528}"/>
              </a:ext>
            </a:extLst>
          </p:cNvPr>
          <p:cNvPicPr>
            <a:picLocks noChangeAspect="1"/>
          </p:cNvPicPr>
          <p:nvPr/>
        </p:nvPicPr>
        <p:blipFill>
          <a:blip r:embed="rId3"/>
          <a:stretch>
            <a:fillRect/>
          </a:stretch>
        </p:blipFill>
        <p:spPr>
          <a:xfrm>
            <a:off x="2597398" y="2309703"/>
            <a:ext cx="6997204" cy="2238593"/>
          </a:xfrm>
          <a:prstGeom prst="rect">
            <a:avLst/>
          </a:prstGeom>
        </p:spPr>
      </p:pic>
    </p:spTree>
    <p:extLst>
      <p:ext uri="{BB962C8B-B14F-4D97-AF65-F5344CB8AC3E}">
        <p14:creationId xmlns:p14="http://schemas.microsoft.com/office/powerpoint/2010/main" val="22958989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3915719"/>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Props1.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4745</TotalTime>
  <Words>870</Words>
  <Application>Microsoft Office PowerPoint</Application>
  <PresentationFormat>Widescreen</PresentationFormat>
  <Paragraphs>69</Paragraphs>
  <Slides>14</Slides>
  <Notes>11</Notes>
  <HiddenSlides>4</HiddenSlides>
  <MMClips>4</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Aptos Display</vt:lpstr>
      <vt:lpstr>Arial</vt:lpstr>
      <vt:lpstr>Cambria Math</vt:lpstr>
      <vt:lpstr>Rubik</vt:lpstr>
      <vt:lpstr>Custom Design</vt:lpstr>
      <vt:lpstr>Let’s build better tensegrity structures faster</vt:lpstr>
      <vt:lpstr>Tensegrity provides robust, reusable, solutions to issues posed by planetary landings—and to problems closer to home.</vt:lpstr>
      <vt:lpstr>Could use a slide to talk about why tensegrity is useful (i.e. avoiding mechanical ware due to struts isolated in sea of tensile moments)</vt:lpstr>
      <vt:lpstr>Currently, tensegrity design is slow and resource intensive.</vt:lpstr>
      <vt:lpstr>Bayesian Optimization makes physical experimentation affordable.</vt:lpstr>
      <vt:lpstr>Model calibration and testing are costly, so we need to be careful about what specimens we choose.</vt:lpstr>
      <vt:lpstr>Bayesian optimization makes physical experimentation affordable, even with limited, noisy data.</vt:lpstr>
      <vt:lpstr>Multi-material additive manufacturing supplies that data fast — single-build co-fabrication, with no joining of parts.</vt:lpstr>
      <vt:lpstr>We use a drop tower and accelerometers to gather real data on these 3D-printed specimens.</vt:lpstr>
      <vt:lpstr>By connecting these ideas, we significantly accelerate the workflow to optimize tensegrity inspired structures:</vt:lpstr>
      <vt:lpstr>Reserved for results</vt:lpstr>
      <vt:lpstr>We will take this workflow and use it for some of the vast potential applications of tensegrity.</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Marcus Madsen</cp:lastModifiedBy>
  <cp:revision>9</cp:revision>
  <dcterms:created xsi:type="dcterms:W3CDTF">2025-12-02T18:46:14Z</dcterms:created>
  <dcterms:modified xsi:type="dcterms:W3CDTF">2026-07-22T22:38:27Z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