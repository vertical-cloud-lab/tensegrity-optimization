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9"/>
  </p:notesMasterIdLst>
  <p:sldIdLst>
    <p:sldId id="257" r:id="rId5"/>
    <p:sldId id="258" r:id="rId6"/>
    <p:sldId id="260" r:id="rId7"/>
    <p:sldId id="259" r:id="rId8"/>
    <p:sldId id="261" r:id="rId9"/>
    <p:sldId id="262" r:id="rId10"/>
    <p:sldId id="263" r:id="rId11"/>
    <p:sldId id="264" r:id="rId12"/>
    <p:sldId id="269" r:id="rId13"/>
    <p:sldId id="271" r:id="rId14"/>
    <p:sldId id="266" r:id="rId15"/>
    <p:sldId id="265" r:id="rId16"/>
    <p:sldId id="268" r:id="rId17"/>
    <p:sldId id="25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E5EE8A1-D51F-42B9-A715-25825370EE31}">
          <p14:sldIdLst>
            <p14:sldId id="257"/>
            <p14:sldId id="258"/>
            <p14:sldId id="260"/>
            <p14:sldId id="259"/>
            <p14:sldId id="261"/>
            <p14:sldId id="262"/>
            <p14:sldId id="263"/>
            <p14:sldId id="264"/>
            <p14:sldId id="269"/>
            <p14:sldId id="271"/>
            <p14:sldId id="266"/>
            <p14:sldId id="265"/>
            <p14:sldId id="268"/>
          </p14:sldIdLst>
        </p14:section>
        <p14:section name="slide-graveyard" id="{53A05964-4188-4DB8-9C2C-9C67C05B4B85}">
          <p14:sldIdLst>
            <p14:sldId id="25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1547108-663F-7DD8-8CCD-13EB66DF1423}" name="Sterling Baird" initials="SB" userId="S::sterling.baird@utoronto.ca::68e56cba-a841-4cd1-ab37-28cab6b0d7e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0000"/>
    <a:srgbClr val="DACFC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C8EF1B-F0BE-4731-90D0-5024F5C11E4D}" v="30" dt="2026-07-22T22:35:52.7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498" autoAdjust="0"/>
    <p:restoredTop sz="88462" autoAdjust="0"/>
  </p:normalViewPr>
  <p:slideViewPr>
    <p:cSldViewPr snapToGrid="0">
      <p:cViewPr>
        <p:scale>
          <a:sx n="75" d="100"/>
          <a:sy n="75" d="100"/>
        </p:scale>
        <p:origin x="84" y="1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B7F5DD-9CB2-4DA2-8D45-A2059407286C}" type="datetimeFigureOut">
              <a:rPr lang="en-US" smtClean="0"/>
              <a:t>7/20/2026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D55997-7884-4691-9FFB-5350EC6004A9}" type="slidenum">
              <a:rPr lang="en-US" smtClean="0"/>
              <a:t>‹#›</a:t>
            </a:fld>
            <a:endParaRPr lang="en-US"/>
          </a:p>
        </p:txBody>
      </p:sp>
    </p:spTree>
    <p:extLst>
      <p:ext uri="{BB962C8B-B14F-4D97-AF65-F5344CB8AC3E}">
        <p14:creationId xmlns:p14="http://schemas.microsoft.com/office/powerpoint/2010/main" val="3728477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is a bit of a placeholder. Maybe adjusting it to include/more explicitly state what the presentation is on: i.e. optimizing tensegrity-inspired energy absorbers with real impact data and Bays opt. Probably could use an image in the center or a graphic like in the original slides. Tensegrity structures there as a placeholder mostly.</a:t>
            </a:r>
          </a:p>
          <a:p>
            <a:endParaRPr lang="en-US" dirty="0"/>
          </a:p>
          <a:p>
            <a:r>
              <a:rPr lang="en-US" dirty="0"/>
              <a:t>Use this slide to introduce myself and then swing into next slides posing the question of why we might want tensegrity or tensegrity inspired structures at all.</a:t>
            </a:r>
          </a:p>
        </p:txBody>
      </p:sp>
      <p:sp>
        <p:nvSpPr>
          <p:cNvPr id="4" name="Slide Number Placeholder 3"/>
          <p:cNvSpPr>
            <a:spLocks noGrp="1"/>
          </p:cNvSpPr>
          <p:nvPr>
            <p:ph type="sldNum" sz="quarter" idx="5"/>
          </p:nvPr>
        </p:nvSpPr>
        <p:spPr/>
        <p:txBody>
          <a:bodyPr/>
          <a:lstStyle/>
          <a:p>
            <a:fld id="{AED55997-7884-4691-9FFB-5350EC6004A9}" type="slidenum">
              <a:rPr lang="en-US" smtClean="0"/>
              <a:t>1</a:t>
            </a:fld>
            <a:endParaRPr lang="en-US"/>
          </a:p>
        </p:txBody>
      </p:sp>
    </p:spTree>
    <p:extLst>
      <p:ext uri="{BB962C8B-B14F-4D97-AF65-F5344CB8AC3E}">
        <p14:creationId xmlns:p14="http://schemas.microsoft.com/office/powerpoint/2010/main" val="1137577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this video with a downloaded and trimmed version of just the fall. </a:t>
            </a:r>
          </a:p>
          <a:p>
            <a:endParaRPr lang="en-US" dirty="0"/>
          </a:p>
          <a:p>
            <a:r>
              <a:rPr lang="en-US" sz="1200" b="0" i="0" kern="1200" dirty="0">
                <a:solidFill>
                  <a:schemeClr val="tx1"/>
                </a:solidFill>
                <a:effectLst/>
                <a:latin typeface="+mn-lt"/>
                <a:ea typeface="+mn-ea"/>
                <a:cs typeface="+mn-cs"/>
              </a:rPr>
              <a:t>Landing a payload on another planet means surviving an impact in conditions where parachutes and retrorockets struggle — thin atmospheres, rough terrain. NASA's Super Ball Bot concept answers this with a tensegrity structure: the lander </a:t>
            </a:r>
            <a:r>
              <a:rPr lang="en-US" sz="1200" b="0" i="1" kern="1200" dirty="0">
                <a:solidFill>
                  <a:schemeClr val="tx1"/>
                </a:solidFill>
                <a:effectLst/>
                <a:latin typeface="+mn-lt"/>
                <a:ea typeface="+mn-ea"/>
                <a:cs typeface="+mn-cs"/>
              </a:rPr>
              <a:t>is</a:t>
            </a:r>
            <a:r>
              <a:rPr lang="en-US" sz="1200" b="0" i="0" kern="1200" dirty="0">
                <a:solidFill>
                  <a:schemeClr val="tx1"/>
                </a:solidFill>
                <a:effectLst/>
                <a:latin typeface="+mn-lt"/>
                <a:ea typeface="+mn-ea"/>
                <a:cs typeface="+mn-cs"/>
              </a:rPr>
              <a:t> the energy absorber. And unlike crushable aluminum honeycomb or sacrificial airbags, a tensegrity lander can take the hit </a:t>
            </a:r>
            <a:r>
              <a:rPr lang="en-US" sz="1200" b="1" i="0" kern="1200" dirty="0">
                <a:solidFill>
                  <a:schemeClr val="tx1"/>
                </a:solidFill>
                <a:effectLst/>
                <a:latin typeface="+mn-lt"/>
                <a:ea typeface="+mn-ea"/>
                <a:cs typeface="+mn-cs"/>
              </a:rPr>
              <a:t>and get back up</a:t>
            </a:r>
            <a:r>
              <a:rPr lang="en-US" sz="1200" b="0" i="0" kern="1200" dirty="0">
                <a:solidFill>
                  <a:schemeClr val="tx1"/>
                </a:solidFill>
                <a:effectLst/>
                <a:latin typeface="+mn-lt"/>
                <a:ea typeface="+mn-ea"/>
                <a:cs typeface="+mn-cs"/>
              </a:rPr>
              <a:t> — it survives multiple drops and keeps working.</a:t>
            </a:r>
            <a:endParaRPr lang="en-US" dirty="0"/>
          </a:p>
        </p:txBody>
      </p:sp>
      <p:sp>
        <p:nvSpPr>
          <p:cNvPr id="4" name="Slide Number Placeholder 3"/>
          <p:cNvSpPr>
            <a:spLocks noGrp="1"/>
          </p:cNvSpPr>
          <p:nvPr>
            <p:ph type="sldNum" sz="quarter" idx="5"/>
          </p:nvPr>
        </p:nvSpPr>
        <p:spPr/>
        <p:txBody>
          <a:bodyPr/>
          <a:lstStyle/>
          <a:p>
            <a:fld id="{AED55997-7884-4691-9FFB-5350EC6004A9}" type="slidenum">
              <a:rPr lang="en-US" smtClean="0"/>
              <a:t>2</a:t>
            </a:fld>
            <a:endParaRPr lang="en-US"/>
          </a:p>
        </p:txBody>
      </p:sp>
    </p:spTree>
    <p:extLst>
      <p:ext uri="{BB962C8B-B14F-4D97-AF65-F5344CB8AC3E}">
        <p14:creationId xmlns:p14="http://schemas.microsoft.com/office/powerpoint/2010/main" val="41130345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might be better explained purely vocally while on the previous slide.</a:t>
            </a:r>
          </a:p>
        </p:txBody>
      </p:sp>
      <p:sp>
        <p:nvSpPr>
          <p:cNvPr id="4" name="Slide Number Placeholder 3"/>
          <p:cNvSpPr>
            <a:spLocks noGrp="1"/>
          </p:cNvSpPr>
          <p:nvPr>
            <p:ph type="sldNum" sz="quarter" idx="5"/>
          </p:nvPr>
        </p:nvSpPr>
        <p:spPr/>
        <p:txBody>
          <a:bodyPr/>
          <a:lstStyle/>
          <a:p>
            <a:fld id="{AED55997-7884-4691-9FFB-5350EC6004A9}" type="slidenum">
              <a:rPr lang="en-US" smtClean="0"/>
              <a:t>3</a:t>
            </a:fld>
            <a:endParaRPr lang="en-US"/>
          </a:p>
        </p:txBody>
      </p:sp>
    </p:spTree>
    <p:extLst>
      <p:ext uri="{BB962C8B-B14F-4D97-AF65-F5344CB8AC3E}">
        <p14:creationId xmlns:p14="http://schemas.microsoft.com/office/powerpoint/2010/main" val="19627497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out video with a downloaded and </a:t>
            </a:r>
            <a:r>
              <a:rPr lang="en-US" dirty="0" err="1"/>
              <a:t>timelapsed</a:t>
            </a:r>
            <a:r>
              <a:rPr lang="en-US" dirty="0"/>
              <a:t> version set to play once the slide opens (silent). Maybe only do an image of the loading thing so that it doesn’t become distracting because it’s fun to watch it spin.</a:t>
            </a:r>
          </a:p>
          <a:p>
            <a:endParaRPr lang="en-US" dirty="0"/>
          </a:p>
          <a:p>
            <a:r>
              <a:rPr lang="en-US" dirty="0"/>
              <a:t>Use this slide to talk about the current reality and difficulties of optimizing tensegrity structures, how the need is for this process to be significantly faster. Reality: testing is costly in time and resources. Building is costly in time. Iteration can be very costly in time. Quick iteration, building, and testing is very desirable to advance any technology.</a:t>
            </a:r>
          </a:p>
        </p:txBody>
      </p:sp>
      <p:sp>
        <p:nvSpPr>
          <p:cNvPr id="4" name="Slide Number Placeholder 3"/>
          <p:cNvSpPr>
            <a:spLocks noGrp="1"/>
          </p:cNvSpPr>
          <p:nvPr>
            <p:ph type="sldNum" sz="quarter" idx="5"/>
          </p:nvPr>
        </p:nvSpPr>
        <p:spPr/>
        <p:txBody>
          <a:bodyPr/>
          <a:lstStyle/>
          <a:p>
            <a:fld id="{AED55997-7884-4691-9FFB-5350EC6004A9}" type="slidenum">
              <a:rPr lang="en-US" smtClean="0"/>
              <a:t>4</a:t>
            </a:fld>
            <a:endParaRPr lang="en-US"/>
          </a:p>
        </p:txBody>
      </p:sp>
    </p:spTree>
    <p:extLst>
      <p:ext uri="{BB962C8B-B14F-4D97-AF65-F5344CB8AC3E}">
        <p14:creationId xmlns:p14="http://schemas.microsoft.com/office/powerpoint/2010/main" val="16024442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Consult Sterling on this slide. I don’t want to rip off of his slides (this is one of his slides); it would be helpful to have his input on what kind of imagery / coverage he foresees being most useful of Bays </a:t>
            </a:r>
            <a:r>
              <a:rPr lang="en-US" dirty="0" err="1"/>
              <a:t>Opt</a:t>
            </a:r>
            <a:r>
              <a:rPr lang="en-US" dirty="0"/>
              <a:t> in this presentation. Maybe it’s well enough known that it’d be simply better to discuss HOW we use Bays </a:t>
            </a:r>
            <a:r>
              <a:rPr lang="en-US" dirty="0" err="1"/>
              <a:t>Opt</a:t>
            </a:r>
            <a:r>
              <a:rPr lang="en-US" dirty="0"/>
              <a:t> and not spend time on WHAT it is.</a:t>
            </a:r>
          </a:p>
        </p:txBody>
      </p:sp>
      <p:sp>
        <p:nvSpPr>
          <p:cNvPr id="4" name="Slide Number Placeholder 3"/>
          <p:cNvSpPr>
            <a:spLocks noGrp="1"/>
          </p:cNvSpPr>
          <p:nvPr>
            <p:ph type="sldNum" sz="quarter" idx="5"/>
          </p:nvPr>
        </p:nvSpPr>
        <p:spPr/>
        <p:txBody>
          <a:bodyPr/>
          <a:lstStyle/>
          <a:p>
            <a:fld id="{AED55997-7884-4691-9FFB-5350EC6004A9}" type="slidenum">
              <a:rPr lang="en-US" smtClean="0"/>
              <a:t>5</a:t>
            </a:fld>
            <a:endParaRPr lang="en-US"/>
          </a:p>
        </p:txBody>
      </p:sp>
    </p:spTree>
    <p:extLst>
      <p:ext uri="{BB962C8B-B14F-4D97-AF65-F5344CB8AC3E}">
        <p14:creationId xmlns:p14="http://schemas.microsoft.com/office/powerpoint/2010/main" val="34563987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Personally, I feel like this could simply be stated verbally while talking about the benefits of Bayesian Optimization not needing to map out the entire search space.</a:t>
            </a:r>
          </a:p>
        </p:txBody>
      </p:sp>
      <p:sp>
        <p:nvSpPr>
          <p:cNvPr id="4" name="Slide Number Placeholder 3"/>
          <p:cNvSpPr>
            <a:spLocks noGrp="1"/>
          </p:cNvSpPr>
          <p:nvPr>
            <p:ph type="sldNum" sz="quarter" idx="5"/>
          </p:nvPr>
        </p:nvSpPr>
        <p:spPr/>
        <p:txBody>
          <a:bodyPr/>
          <a:lstStyle/>
          <a:p>
            <a:fld id="{AED55997-7884-4691-9FFB-5350EC6004A9}" type="slidenum">
              <a:rPr lang="en-US" smtClean="0"/>
              <a:t>6</a:t>
            </a:fld>
            <a:endParaRPr lang="en-US"/>
          </a:p>
        </p:txBody>
      </p:sp>
    </p:spTree>
    <p:extLst>
      <p:ext uri="{BB962C8B-B14F-4D97-AF65-F5344CB8AC3E}">
        <p14:creationId xmlns:p14="http://schemas.microsoft.com/office/powerpoint/2010/main" val="18362582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Very rough slide as I’m not entirely sure what graphic or text to put on this, partially because I’m not sure how much I will need to explain about Bayesian Optimization. If we went with something like this</a:t>
            </a:r>
          </a:p>
        </p:txBody>
      </p:sp>
      <p:sp>
        <p:nvSpPr>
          <p:cNvPr id="4" name="Slide Number Placeholder 3"/>
          <p:cNvSpPr>
            <a:spLocks noGrp="1"/>
          </p:cNvSpPr>
          <p:nvPr>
            <p:ph type="sldNum" sz="quarter" idx="5"/>
          </p:nvPr>
        </p:nvSpPr>
        <p:spPr/>
        <p:txBody>
          <a:bodyPr/>
          <a:lstStyle/>
          <a:p>
            <a:fld id="{AED55997-7884-4691-9FFB-5350EC6004A9}" type="slidenum">
              <a:rPr lang="en-US" smtClean="0"/>
              <a:t>7</a:t>
            </a:fld>
            <a:endParaRPr lang="en-US"/>
          </a:p>
        </p:txBody>
      </p:sp>
    </p:spTree>
    <p:extLst>
      <p:ext uri="{BB962C8B-B14F-4D97-AF65-F5344CB8AC3E}">
        <p14:creationId xmlns:p14="http://schemas.microsoft.com/office/powerpoint/2010/main" val="644161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made in here about the difference between real and these tensegrity inspired structures, including the lack of purely tensioned members.</a:t>
            </a:r>
          </a:p>
        </p:txBody>
      </p:sp>
      <p:sp>
        <p:nvSpPr>
          <p:cNvPr id="4" name="Slide Number Placeholder 3"/>
          <p:cNvSpPr>
            <a:spLocks noGrp="1"/>
          </p:cNvSpPr>
          <p:nvPr>
            <p:ph type="sldNum" sz="quarter" idx="5"/>
          </p:nvPr>
        </p:nvSpPr>
        <p:spPr/>
        <p:txBody>
          <a:bodyPr/>
          <a:lstStyle/>
          <a:p>
            <a:fld id="{AED55997-7884-4691-9FFB-5350EC6004A9}" type="slidenum">
              <a:rPr lang="en-US" smtClean="0"/>
              <a:t>8</a:t>
            </a:fld>
            <a:endParaRPr lang="en-US"/>
          </a:p>
        </p:txBody>
      </p:sp>
    </p:spTree>
    <p:extLst>
      <p:ext uri="{BB962C8B-B14F-4D97-AF65-F5344CB8AC3E}">
        <p14:creationId xmlns:p14="http://schemas.microsoft.com/office/powerpoint/2010/main" val="29684857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think it might be better if we replaced “printing” with a printed tensegrity image, testing with an image of the drop tower, and BO feed with a </a:t>
            </a:r>
            <a:r>
              <a:rPr lang="en-US" dirty="0" err="1"/>
              <a:t>blackbox</a:t>
            </a:r>
            <a:r>
              <a:rPr lang="en-US" dirty="0"/>
              <a:t>. </a:t>
            </a:r>
          </a:p>
        </p:txBody>
      </p:sp>
      <p:sp>
        <p:nvSpPr>
          <p:cNvPr id="4" name="Slide Number Placeholder 3"/>
          <p:cNvSpPr>
            <a:spLocks noGrp="1"/>
          </p:cNvSpPr>
          <p:nvPr>
            <p:ph type="sldNum" sz="quarter" idx="5"/>
          </p:nvPr>
        </p:nvSpPr>
        <p:spPr/>
        <p:txBody>
          <a:bodyPr/>
          <a:lstStyle/>
          <a:p>
            <a:fld id="{AED55997-7884-4691-9FFB-5350EC6004A9}" type="slidenum">
              <a:rPr lang="en-US" smtClean="0"/>
              <a:t>10</a:t>
            </a:fld>
            <a:endParaRPr lang="en-US"/>
          </a:p>
        </p:txBody>
      </p:sp>
    </p:spTree>
    <p:extLst>
      <p:ext uri="{BB962C8B-B14F-4D97-AF65-F5344CB8AC3E}">
        <p14:creationId xmlns:p14="http://schemas.microsoft.com/office/powerpoint/2010/main" val="42822163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Would be helpful if we could show that this process works in this case.</a:t>
            </a:r>
          </a:p>
        </p:txBody>
      </p:sp>
      <p:sp>
        <p:nvSpPr>
          <p:cNvPr id="4" name="Slide Number Placeholder 3"/>
          <p:cNvSpPr>
            <a:spLocks noGrp="1"/>
          </p:cNvSpPr>
          <p:nvPr>
            <p:ph type="sldNum" sz="quarter" idx="5"/>
          </p:nvPr>
        </p:nvSpPr>
        <p:spPr/>
        <p:txBody>
          <a:bodyPr/>
          <a:lstStyle/>
          <a:p>
            <a:fld id="{AED55997-7884-4691-9FFB-5350EC6004A9}" type="slidenum">
              <a:rPr lang="en-US" smtClean="0"/>
              <a:t>11</a:t>
            </a:fld>
            <a:endParaRPr lang="en-US"/>
          </a:p>
        </p:txBody>
      </p:sp>
    </p:spTree>
    <p:extLst>
      <p:ext uri="{BB962C8B-B14F-4D97-AF65-F5344CB8AC3E}">
        <p14:creationId xmlns:p14="http://schemas.microsoft.com/office/powerpoint/2010/main" val="17396085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for questions at the end</a:t>
            </a:r>
          </a:p>
        </p:txBody>
      </p:sp>
      <p:sp>
        <p:nvSpPr>
          <p:cNvPr id="4" name="Slide Number Placeholder 3"/>
          <p:cNvSpPr>
            <a:spLocks noGrp="1"/>
          </p:cNvSpPr>
          <p:nvPr>
            <p:ph type="sldNum" sz="quarter" idx="5"/>
          </p:nvPr>
        </p:nvSpPr>
        <p:spPr/>
        <p:txBody>
          <a:bodyPr/>
          <a:lstStyle/>
          <a:p>
            <a:fld id="{AED55997-7884-4691-9FFB-5350EC6004A9}" type="slidenum">
              <a:rPr lang="en-US" smtClean="0"/>
              <a:t>13</a:t>
            </a:fld>
            <a:endParaRPr lang="en-US"/>
          </a:p>
        </p:txBody>
      </p:sp>
    </p:spTree>
    <p:extLst>
      <p:ext uri="{BB962C8B-B14F-4D97-AF65-F5344CB8AC3E}">
        <p14:creationId xmlns:p14="http://schemas.microsoft.com/office/powerpoint/2010/main" val="7682534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1" name="Subtitle 2">
            <a:extLst>
              <a:ext uri="{FF2B5EF4-FFF2-40B4-BE49-F238E27FC236}">
                <a16:creationId xmlns:a16="http://schemas.microsoft.com/office/drawing/2014/main" id="{BD9820D7-ABD3-C4B8-4D0B-3E0482A1D432}"/>
              </a:ext>
            </a:extLst>
          </p:cNvPr>
          <p:cNvSpPr txBox="1">
            <a:spLocks/>
          </p:cNvSpPr>
          <p:nvPr userDrawn="1"/>
        </p:nvSpPr>
        <p:spPr>
          <a:xfrm>
            <a:off x="7333335" y="1411980"/>
            <a:ext cx="4338572" cy="4585726"/>
          </a:xfrm>
          <a:prstGeom prst="rect">
            <a:avLst/>
          </a:prstGeom>
        </p:spPr>
        <p:txBody>
          <a:bodyPr lIns="324000" rIns="180000"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CA" sz="2000" dirty="0"/>
              <a:t>Sterling Baird, Ph.D.</a:t>
            </a:r>
            <a:br>
              <a:rPr lang="en-CA" sz="2000" dirty="0"/>
            </a:br>
            <a:r>
              <a:rPr lang="en-CA" sz="2000" dirty="0"/>
              <a:t>Assistant Professor, Mech Eng</a:t>
            </a:r>
          </a:p>
          <a:p>
            <a:pPr algn="ctr"/>
            <a:endParaRPr lang="en-CA" sz="2000" dirty="0"/>
          </a:p>
          <a:p>
            <a:pPr algn="ctr"/>
            <a:endParaRPr lang="en-CA" sz="2000" dirty="0"/>
          </a:p>
          <a:p>
            <a:pPr algn="ctr"/>
            <a:endParaRPr lang="en-CA" sz="2000" dirty="0"/>
          </a:p>
          <a:p>
            <a:pPr algn="ctr"/>
            <a:endParaRPr lang="en-CA" sz="2000" dirty="0"/>
          </a:p>
          <a:p>
            <a:pPr algn="ctr"/>
            <a:r>
              <a:rPr lang="en-CA" sz="2000" dirty="0"/>
              <a:t>EMC</a:t>
            </a:r>
            <a:br>
              <a:rPr lang="en-CA" sz="2000" dirty="0"/>
            </a:br>
            <a:r>
              <a:rPr lang="en-CA" sz="2000" dirty="0">
                <a:solidFill>
                  <a:schemeClr val="bg1">
                    <a:lumMod val="50000"/>
                  </a:schemeClr>
                </a:solidFill>
              </a:rPr>
              <a:t>June 2026</a:t>
            </a:r>
          </a:p>
        </p:txBody>
      </p:sp>
      <p:grpSp>
        <p:nvGrpSpPr>
          <p:cNvPr id="25" name="Group 24">
            <a:extLst>
              <a:ext uri="{FF2B5EF4-FFF2-40B4-BE49-F238E27FC236}">
                <a16:creationId xmlns:a16="http://schemas.microsoft.com/office/drawing/2014/main" id="{83C36B8C-129E-58C6-AB18-54AB7894F04A}"/>
              </a:ext>
            </a:extLst>
          </p:cNvPr>
          <p:cNvGrpSpPr/>
          <p:nvPr userDrawn="1"/>
        </p:nvGrpSpPr>
        <p:grpSpPr>
          <a:xfrm>
            <a:off x="7621463" y="3064776"/>
            <a:ext cx="4259581" cy="1208472"/>
            <a:chOff x="7170419" y="3169919"/>
            <a:chExt cx="4931343" cy="1399055"/>
          </a:xfrm>
        </p:grpSpPr>
        <p:pic>
          <p:nvPicPr>
            <p:cNvPr id="6" name="Picture 5">
              <a:extLst>
                <a:ext uri="{FF2B5EF4-FFF2-40B4-BE49-F238E27FC236}">
                  <a16:creationId xmlns:a16="http://schemas.microsoft.com/office/drawing/2014/main" id="{264BD49A-BA37-5F68-37E2-1717E524D917}"/>
                </a:ext>
              </a:extLst>
            </p:cNvPr>
            <p:cNvPicPr>
              <a:picLocks noChangeAspect="1"/>
            </p:cNvPicPr>
            <p:nvPr userDrawn="1"/>
          </p:nvPicPr>
          <p:blipFill>
            <a:blip r:embed="rId2"/>
            <a:stretch>
              <a:fillRect/>
            </a:stretch>
          </p:blipFill>
          <p:spPr>
            <a:xfrm>
              <a:off x="9821567" y="3338231"/>
              <a:ext cx="2280195" cy="1149949"/>
            </a:xfrm>
            <a:prstGeom prst="rect">
              <a:avLst/>
            </a:prstGeom>
          </p:spPr>
        </p:pic>
        <p:pic>
          <p:nvPicPr>
            <p:cNvPr id="3" name="Picture 2">
              <a:extLst>
                <a:ext uri="{FF2B5EF4-FFF2-40B4-BE49-F238E27FC236}">
                  <a16:creationId xmlns:a16="http://schemas.microsoft.com/office/drawing/2014/main" id="{8E4242CC-2F35-E017-22C2-0D1ABD944A9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70419" y="3572466"/>
              <a:ext cx="2355207" cy="638794"/>
            </a:xfrm>
            <a:prstGeom prst="rect">
              <a:avLst/>
            </a:prstGeom>
          </p:spPr>
        </p:pic>
        <p:cxnSp>
          <p:nvCxnSpPr>
            <p:cNvPr id="4" name="Straight Connector 3">
              <a:extLst>
                <a:ext uri="{FF2B5EF4-FFF2-40B4-BE49-F238E27FC236}">
                  <a16:creationId xmlns:a16="http://schemas.microsoft.com/office/drawing/2014/main" id="{77D435FB-1D25-9F38-6120-2DDEA4A566CF}"/>
                </a:ext>
              </a:extLst>
            </p:cNvPr>
            <p:cNvCxnSpPr>
              <a:cxnSpLocks/>
            </p:cNvCxnSpPr>
            <p:nvPr userDrawn="1"/>
          </p:nvCxnSpPr>
          <p:spPr>
            <a:xfrm>
              <a:off x="9707212" y="3169919"/>
              <a:ext cx="0" cy="1399055"/>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grpSp>
      <p:grpSp>
        <p:nvGrpSpPr>
          <p:cNvPr id="8" name="Group 7">
            <a:extLst>
              <a:ext uri="{FF2B5EF4-FFF2-40B4-BE49-F238E27FC236}">
                <a16:creationId xmlns:a16="http://schemas.microsoft.com/office/drawing/2014/main" id="{375EF57F-E591-90D4-2C14-1C5E9AE6B18A}"/>
              </a:ext>
            </a:extLst>
          </p:cNvPr>
          <p:cNvGrpSpPr/>
          <p:nvPr userDrawn="1"/>
        </p:nvGrpSpPr>
        <p:grpSpPr>
          <a:xfrm>
            <a:off x="758204" y="2405177"/>
            <a:ext cx="6145276" cy="2627848"/>
            <a:chOff x="2123004" y="1745825"/>
            <a:chExt cx="9495180" cy="4060334"/>
          </a:xfrm>
        </p:grpSpPr>
        <p:sp>
          <p:nvSpPr>
            <p:cNvPr id="9" name="Rectangle 8">
              <a:extLst>
                <a:ext uri="{FF2B5EF4-FFF2-40B4-BE49-F238E27FC236}">
                  <a16:creationId xmlns:a16="http://schemas.microsoft.com/office/drawing/2014/main" id="{9B20C69B-F542-5D05-E37E-53DFE489BC4B}"/>
                </a:ext>
              </a:extLst>
            </p:cNvPr>
            <p:cNvSpPr/>
            <p:nvPr/>
          </p:nvSpPr>
          <p:spPr>
            <a:xfrm>
              <a:off x="5843661" y="5158345"/>
              <a:ext cx="3324153" cy="647814"/>
            </a:xfrm>
            <a:prstGeom prst="rect">
              <a:avLst/>
            </a:prstGeom>
            <a:noFill/>
          </p:spPr>
          <p:txBody>
            <a:bodyPr wrap="none" lIns="110411" tIns="55205" rIns="110411" bIns="55205">
              <a:spAutoFit/>
            </a:bodyPr>
            <a:lstStyle/>
            <a:p>
              <a:pPr algn="l"/>
              <a:r>
                <a:rPr lang="en-US" sz="2000" b="0">
                  <a:ln w="0"/>
                  <a:effectLst/>
                  <a:latin typeface="+mn-lt"/>
                </a:rPr>
                <a:t>Test </a:t>
              </a:r>
              <a:r>
                <a:rPr lang="en-US" sz="2000" b="0">
                  <a:ln w="0"/>
                  <a:solidFill>
                    <a:schemeClr val="bg1">
                      <a:lumMod val="50000"/>
                    </a:schemeClr>
                  </a:solidFill>
                  <a:effectLst/>
                  <a:latin typeface="+mn-lt"/>
                </a:rPr>
                <a:t>performance</a:t>
              </a:r>
            </a:p>
          </p:txBody>
        </p:sp>
        <p:sp>
          <p:nvSpPr>
            <p:cNvPr id="10" name="Rectangle 9">
              <a:extLst>
                <a:ext uri="{FF2B5EF4-FFF2-40B4-BE49-F238E27FC236}">
                  <a16:creationId xmlns:a16="http://schemas.microsoft.com/office/drawing/2014/main" id="{2C8CF8C6-F02E-FC14-E362-1565B2020D5C}"/>
                </a:ext>
              </a:extLst>
            </p:cNvPr>
            <p:cNvSpPr/>
            <p:nvPr/>
          </p:nvSpPr>
          <p:spPr>
            <a:xfrm>
              <a:off x="5882599" y="1745825"/>
              <a:ext cx="3959610" cy="647814"/>
            </a:xfrm>
            <a:prstGeom prst="rect">
              <a:avLst/>
            </a:prstGeom>
            <a:noFill/>
          </p:spPr>
          <p:txBody>
            <a:bodyPr wrap="none" lIns="110411" tIns="55205" rIns="110411" bIns="55205">
              <a:spAutoFit/>
            </a:bodyPr>
            <a:lstStyle/>
            <a:p>
              <a:pPr algn="l"/>
              <a:r>
                <a:rPr lang="en-US" sz="2000" b="0">
                  <a:ln w="0"/>
                  <a:effectLst/>
                  <a:latin typeface="+mn-lt"/>
                </a:rPr>
                <a:t>Design </a:t>
              </a:r>
              <a:r>
                <a:rPr lang="en-US" sz="2000" b="0">
                  <a:ln w="0"/>
                  <a:solidFill>
                    <a:schemeClr val="bg1">
                      <a:lumMod val="50000"/>
                    </a:schemeClr>
                  </a:solidFill>
                  <a:effectLst/>
                  <a:latin typeface="+mn-lt"/>
                </a:rPr>
                <a:t>experiment(s)</a:t>
              </a:r>
            </a:p>
          </p:txBody>
        </p:sp>
        <p:sp>
          <p:nvSpPr>
            <p:cNvPr id="11" name="Rectangle 10">
              <a:extLst>
                <a:ext uri="{FF2B5EF4-FFF2-40B4-BE49-F238E27FC236}">
                  <a16:creationId xmlns:a16="http://schemas.microsoft.com/office/drawing/2014/main" id="{E2E99B28-1C5A-8CA8-BD8B-D04340053508}"/>
                </a:ext>
              </a:extLst>
            </p:cNvPr>
            <p:cNvSpPr/>
            <p:nvPr/>
          </p:nvSpPr>
          <p:spPr>
            <a:xfrm>
              <a:off x="8430354" y="3374693"/>
              <a:ext cx="3187830" cy="647814"/>
            </a:xfrm>
            <a:prstGeom prst="rect">
              <a:avLst/>
            </a:prstGeom>
            <a:noFill/>
          </p:spPr>
          <p:txBody>
            <a:bodyPr wrap="none" lIns="110411" tIns="55205" rIns="110411" bIns="55205">
              <a:spAutoFit/>
            </a:bodyPr>
            <a:lstStyle/>
            <a:p>
              <a:pPr algn="l"/>
              <a:r>
                <a:rPr lang="en-US" sz="2000" b="0">
                  <a:ln w="0"/>
                  <a:effectLst/>
                  <a:latin typeface="+mn-lt"/>
                </a:rPr>
                <a:t>Make </a:t>
              </a:r>
              <a:r>
                <a:rPr lang="en-US" sz="2000" b="0">
                  <a:ln w="0"/>
                  <a:solidFill>
                    <a:schemeClr val="bg1">
                      <a:lumMod val="50000"/>
                    </a:schemeClr>
                  </a:solidFill>
                  <a:effectLst/>
                  <a:latin typeface="+mn-lt"/>
                </a:rPr>
                <a:t>material(s)</a:t>
              </a:r>
            </a:p>
          </p:txBody>
        </p:sp>
        <p:sp>
          <p:nvSpPr>
            <p:cNvPr id="12" name="Oval 11">
              <a:extLst>
                <a:ext uri="{FF2B5EF4-FFF2-40B4-BE49-F238E27FC236}">
                  <a16:creationId xmlns:a16="http://schemas.microsoft.com/office/drawing/2014/main" id="{0FF36263-DBEE-19BD-03FF-27B813DB8CE3}"/>
                </a:ext>
              </a:extLst>
            </p:cNvPr>
            <p:cNvSpPr/>
            <p:nvPr/>
          </p:nvSpPr>
          <p:spPr>
            <a:xfrm>
              <a:off x="2945167" y="2469414"/>
              <a:ext cx="580058" cy="580058"/>
            </a:xfrm>
            <a:prstGeom prst="ellipse">
              <a:avLst/>
            </a:prstGeom>
            <a:noFill/>
            <a:ln w="4699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0">
                <a:effectLst/>
                <a:latin typeface="+mn-lt"/>
              </a:endParaRPr>
            </a:p>
          </p:txBody>
        </p:sp>
        <p:sp>
          <p:nvSpPr>
            <p:cNvPr id="13" name="Oval 12">
              <a:extLst>
                <a:ext uri="{FF2B5EF4-FFF2-40B4-BE49-F238E27FC236}">
                  <a16:creationId xmlns:a16="http://schemas.microsoft.com/office/drawing/2014/main" id="{D1667D82-2248-3632-4693-3912B5F585C0}"/>
                </a:ext>
              </a:extLst>
            </p:cNvPr>
            <p:cNvSpPr/>
            <p:nvPr/>
          </p:nvSpPr>
          <p:spPr>
            <a:xfrm>
              <a:off x="2947072" y="4408774"/>
              <a:ext cx="580058" cy="580058"/>
            </a:xfrm>
            <a:prstGeom prst="ellipse">
              <a:avLst/>
            </a:prstGeom>
            <a:noFill/>
            <a:ln w="4699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0">
                <a:effectLst/>
                <a:latin typeface="+mn-lt"/>
              </a:endParaRPr>
            </a:p>
          </p:txBody>
        </p:sp>
        <p:sp>
          <p:nvSpPr>
            <p:cNvPr id="14" name="Rectangle 13">
              <a:extLst>
                <a:ext uri="{FF2B5EF4-FFF2-40B4-BE49-F238E27FC236}">
                  <a16:creationId xmlns:a16="http://schemas.microsoft.com/office/drawing/2014/main" id="{EB51676C-1DBE-0185-CE95-C00339B17689}"/>
                </a:ext>
              </a:extLst>
            </p:cNvPr>
            <p:cNvSpPr/>
            <p:nvPr/>
          </p:nvSpPr>
          <p:spPr>
            <a:xfrm>
              <a:off x="2166501" y="1745825"/>
              <a:ext cx="3537161" cy="647814"/>
            </a:xfrm>
            <a:prstGeom prst="rect">
              <a:avLst/>
            </a:prstGeom>
            <a:noFill/>
          </p:spPr>
          <p:txBody>
            <a:bodyPr wrap="none" lIns="110411" tIns="55205" rIns="110411" bIns="55205">
              <a:spAutoFit/>
            </a:bodyPr>
            <a:lstStyle/>
            <a:p>
              <a:pPr algn="ctr"/>
              <a:r>
                <a:rPr lang="en-US" sz="2000" b="0">
                  <a:ln w="0"/>
                  <a:effectLst/>
                  <a:latin typeface="+mn-lt"/>
                </a:rPr>
                <a:t>Initialize </a:t>
              </a:r>
              <a:r>
                <a:rPr lang="en-US" sz="2000" b="0">
                  <a:ln w="0"/>
                  <a:solidFill>
                    <a:schemeClr val="bg1">
                      <a:lumMod val="50000"/>
                    </a:schemeClr>
                  </a:solidFill>
                  <a:effectLst/>
                  <a:latin typeface="+mn-lt"/>
                </a:rPr>
                <a:t>campaign</a:t>
              </a:r>
            </a:p>
          </p:txBody>
        </p:sp>
        <p:sp>
          <p:nvSpPr>
            <p:cNvPr id="15" name="Rectangle 14">
              <a:extLst>
                <a:ext uri="{FF2B5EF4-FFF2-40B4-BE49-F238E27FC236}">
                  <a16:creationId xmlns:a16="http://schemas.microsoft.com/office/drawing/2014/main" id="{A658C391-5EC0-7A27-4B9E-0A0F88CC7994}"/>
                </a:ext>
              </a:extLst>
            </p:cNvPr>
            <p:cNvSpPr/>
            <p:nvPr/>
          </p:nvSpPr>
          <p:spPr>
            <a:xfrm>
              <a:off x="2123004" y="5153498"/>
              <a:ext cx="3792473" cy="647814"/>
            </a:xfrm>
            <a:prstGeom prst="rect">
              <a:avLst/>
            </a:prstGeom>
            <a:noFill/>
          </p:spPr>
          <p:txBody>
            <a:bodyPr wrap="none" lIns="110411" tIns="55205" rIns="110411" bIns="55205">
              <a:spAutoFit/>
            </a:bodyPr>
            <a:lstStyle/>
            <a:p>
              <a:pPr algn="ctr"/>
              <a:r>
                <a:rPr lang="en-US" sz="2000" b="0">
                  <a:ln w="0"/>
                  <a:effectLst/>
                  <a:latin typeface="+mn-lt"/>
                </a:rPr>
                <a:t>Conclude </a:t>
              </a:r>
              <a:r>
                <a:rPr lang="en-US" sz="2000" b="0">
                  <a:ln w="0"/>
                  <a:solidFill>
                    <a:schemeClr val="bg1">
                      <a:lumMod val="50000"/>
                    </a:schemeClr>
                  </a:solidFill>
                  <a:effectLst/>
                  <a:latin typeface="+mn-lt"/>
                </a:rPr>
                <a:t>campaign</a:t>
              </a:r>
            </a:p>
          </p:txBody>
        </p:sp>
        <p:cxnSp>
          <p:nvCxnSpPr>
            <p:cNvPr id="16" name="Straight Arrow Connector 15">
              <a:extLst>
                <a:ext uri="{FF2B5EF4-FFF2-40B4-BE49-F238E27FC236}">
                  <a16:creationId xmlns:a16="http://schemas.microsoft.com/office/drawing/2014/main" id="{9CE78BFF-C47A-3683-0FD2-0BC193D167B2}"/>
                </a:ext>
              </a:extLst>
            </p:cNvPr>
            <p:cNvCxnSpPr>
              <a:cxnSpLocks/>
            </p:cNvCxnSpPr>
            <p:nvPr/>
          </p:nvCxnSpPr>
          <p:spPr>
            <a:xfrm>
              <a:off x="3782871" y="2759443"/>
              <a:ext cx="2121408" cy="0"/>
            </a:xfrm>
            <a:prstGeom prst="straightConnector1">
              <a:avLst/>
            </a:prstGeom>
            <a:ln w="4699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D525D69-11A4-8542-1F63-60A851B04F0C}"/>
                </a:ext>
              </a:extLst>
            </p:cNvPr>
            <p:cNvCxnSpPr>
              <a:cxnSpLocks/>
            </p:cNvCxnSpPr>
            <p:nvPr/>
          </p:nvCxnSpPr>
          <p:spPr>
            <a:xfrm flipH="1">
              <a:off x="3755439" y="4698803"/>
              <a:ext cx="2121408" cy="0"/>
            </a:xfrm>
            <a:prstGeom prst="straightConnector1">
              <a:avLst/>
            </a:prstGeom>
            <a:ln w="4699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8" name="Freeform: Shape 17">
              <a:extLst>
                <a:ext uri="{FF2B5EF4-FFF2-40B4-BE49-F238E27FC236}">
                  <a16:creationId xmlns:a16="http://schemas.microsoft.com/office/drawing/2014/main" id="{C1930567-2459-8F2A-C4EC-BECF997C8234}"/>
                </a:ext>
              </a:extLst>
            </p:cNvPr>
            <p:cNvSpPr/>
            <p:nvPr userDrawn="1"/>
          </p:nvSpPr>
          <p:spPr>
            <a:xfrm>
              <a:off x="6798709" y="2591444"/>
              <a:ext cx="1114552" cy="542915"/>
            </a:xfrm>
            <a:custGeom>
              <a:avLst/>
              <a:gdLst>
                <a:gd name="connsiteX0" fmla="*/ 0 w 1109472"/>
                <a:gd name="connsiteY0" fmla="*/ 14664 h 551112"/>
                <a:gd name="connsiteX1" fmla="*/ 347472 w 1109472"/>
                <a:gd name="connsiteY1" fmla="*/ 14664 h 551112"/>
                <a:gd name="connsiteX2" fmla="*/ 749808 w 1109472"/>
                <a:gd name="connsiteY2" fmla="*/ 167064 h 551112"/>
                <a:gd name="connsiteX3" fmla="*/ 1018032 w 1109472"/>
                <a:gd name="connsiteY3" fmla="*/ 423096 h 551112"/>
                <a:gd name="connsiteX4" fmla="*/ 1109472 w 1109472"/>
                <a:gd name="connsiteY4" fmla="*/ 551112 h 551112"/>
                <a:gd name="connsiteX0" fmla="*/ 0 w 1109472"/>
                <a:gd name="connsiteY0" fmla="*/ 14664 h 551112"/>
                <a:gd name="connsiteX1" fmla="*/ 347472 w 1109472"/>
                <a:gd name="connsiteY1" fmla="*/ 14664 h 551112"/>
                <a:gd name="connsiteX2" fmla="*/ 749808 w 1109472"/>
                <a:gd name="connsiteY2" fmla="*/ 167064 h 551112"/>
                <a:gd name="connsiteX3" fmla="*/ 1018032 w 1109472"/>
                <a:gd name="connsiteY3" fmla="*/ 423096 h 551112"/>
                <a:gd name="connsiteX4" fmla="*/ 1109472 w 1109472"/>
                <a:gd name="connsiteY4" fmla="*/ 551112 h 551112"/>
                <a:gd name="connsiteX0" fmla="*/ 0 w 1109472"/>
                <a:gd name="connsiteY0" fmla="*/ 15068 h 551516"/>
                <a:gd name="connsiteX1" fmla="*/ 347472 w 1109472"/>
                <a:gd name="connsiteY1" fmla="*/ 15068 h 551516"/>
                <a:gd name="connsiteX2" fmla="*/ 745998 w 1109472"/>
                <a:gd name="connsiteY2" fmla="*/ 173183 h 551516"/>
                <a:gd name="connsiteX3" fmla="*/ 1018032 w 1109472"/>
                <a:gd name="connsiteY3" fmla="*/ 423500 h 551516"/>
                <a:gd name="connsiteX4" fmla="*/ 1109472 w 1109472"/>
                <a:gd name="connsiteY4" fmla="*/ 551516 h 551516"/>
                <a:gd name="connsiteX0" fmla="*/ 0 w 1109472"/>
                <a:gd name="connsiteY0" fmla="*/ 9954 h 546402"/>
                <a:gd name="connsiteX1" fmla="*/ 347472 w 1109472"/>
                <a:gd name="connsiteY1" fmla="*/ 19479 h 546402"/>
                <a:gd name="connsiteX2" fmla="*/ 745998 w 1109472"/>
                <a:gd name="connsiteY2" fmla="*/ 168069 h 546402"/>
                <a:gd name="connsiteX3" fmla="*/ 1018032 w 1109472"/>
                <a:gd name="connsiteY3" fmla="*/ 418386 h 546402"/>
                <a:gd name="connsiteX4" fmla="*/ 1109472 w 1109472"/>
                <a:gd name="connsiteY4" fmla="*/ 546402 h 546402"/>
                <a:gd name="connsiteX0" fmla="*/ 0 w 1109472"/>
                <a:gd name="connsiteY0" fmla="*/ 9954 h 546402"/>
                <a:gd name="connsiteX1" fmla="*/ 347472 w 1109472"/>
                <a:gd name="connsiteY1" fmla="*/ 19479 h 546402"/>
                <a:gd name="connsiteX2" fmla="*/ 557403 w 1109472"/>
                <a:gd name="connsiteY2" fmla="*/ 83487 h 546402"/>
                <a:gd name="connsiteX3" fmla="*/ 745998 w 1109472"/>
                <a:gd name="connsiteY3" fmla="*/ 168069 h 546402"/>
                <a:gd name="connsiteX4" fmla="*/ 1018032 w 1109472"/>
                <a:gd name="connsiteY4" fmla="*/ 418386 h 546402"/>
                <a:gd name="connsiteX5" fmla="*/ 1109472 w 1109472"/>
                <a:gd name="connsiteY5" fmla="*/ 546402 h 546402"/>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1018032 w 1109472"/>
                <a:gd name="connsiteY4" fmla="*/ 414000 h 542016"/>
                <a:gd name="connsiteX5" fmla="*/ 1109472 w 1109472"/>
                <a:gd name="connsiteY5"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890778 w 1109472"/>
                <a:gd name="connsiteY4" fmla="*/ 290556 h 542016"/>
                <a:gd name="connsiteX5" fmla="*/ 1018032 w 1109472"/>
                <a:gd name="connsiteY5" fmla="*/ 414000 h 542016"/>
                <a:gd name="connsiteX6" fmla="*/ 1109472 w 1109472"/>
                <a:gd name="connsiteY6"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902208 w 1109472"/>
                <a:gd name="connsiteY4" fmla="*/ 279126 h 542016"/>
                <a:gd name="connsiteX5" fmla="*/ 1018032 w 1109472"/>
                <a:gd name="connsiteY5" fmla="*/ 414000 h 542016"/>
                <a:gd name="connsiteX6" fmla="*/ 1109472 w 1109472"/>
                <a:gd name="connsiteY6"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902208 w 1109472"/>
                <a:gd name="connsiteY4" fmla="*/ 279126 h 542016"/>
                <a:gd name="connsiteX5" fmla="*/ 1018032 w 1109472"/>
                <a:gd name="connsiteY5" fmla="*/ 414000 h 542016"/>
                <a:gd name="connsiteX6" fmla="*/ 1109472 w 1109472"/>
                <a:gd name="connsiteY6"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902208 w 1109472"/>
                <a:gd name="connsiteY4" fmla="*/ 279126 h 542016"/>
                <a:gd name="connsiteX5" fmla="*/ 1018032 w 1109472"/>
                <a:gd name="connsiteY5" fmla="*/ 414000 h 542016"/>
                <a:gd name="connsiteX6" fmla="*/ 1109472 w 1109472"/>
                <a:gd name="connsiteY6" fmla="*/ 542016 h 542016"/>
                <a:gd name="connsiteX0" fmla="*/ 0 w 1109472"/>
                <a:gd name="connsiteY0" fmla="*/ 4572 h 541020"/>
                <a:gd name="connsiteX1" fmla="*/ 347472 w 1109472"/>
                <a:gd name="connsiteY1" fmla="*/ 14097 h 541020"/>
                <a:gd name="connsiteX2" fmla="*/ 561213 w 1109472"/>
                <a:gd name="connsiteY2" fmla="*/ 68580 h 541020"/>
                <a:gd name="connsiteX3" fmla="*/ 745998 w 1109472"/>
                <a:gd name="connsiteY3" fmla="*/ 162687 h 541020"/>
                <a:gd name="connsiteX4" fmla="*/ 902208 w 1109472"/>
                <a:gd name="connsiteY4" fmla="*/ 278130 h 541020"/>
                <a:gd name="connsiteX5" fmla="*/ 1018032 w 1109472"/>
                <a:gd name="connsiteY5" fmla="*/ 413004 h 541020"/>
                <a:gd name="connsiteX6" fmla="*/ 1109472 w 1109472"/>
                <a:gd name="connsiteY6" fmla="*/ 541020 h 541020"/>
                <a:gd name="connsiteX0" fmla="*/ 0 w 1109472"/>
                <a:gd name="connsiteY0" fmla="*/ 4862 h 541310"/>
                <a:gd name="connsiteX1" fmla="*/ 163068 w 1109472"/>
                <a:gd name="connsiteY1" fmla="*/ 290 h 541310"/>
                <a:gd name="connsiteX2" fmla="*/ 347472 w 1109472"/>
                <a:gd name="connsiteY2" fmla="*/ 14387 h 541310"/>
                <a:gd name="connsiteX3" fmla="*/ 561213 w 1109472"/>
                <a:gd name="connsiteY3" fmla="*/ 68870 h 541310"/>
                <a:gd name="connsiteX4" fmla="*/ 745998 w 1109472"/>
                <a:gd name="connsiteY4" fmla="*/ 162977 h 541310"/>
                <a:gd name="connsiteX5" fmla="*/ 902208 w 1109472"/>
                <a:gd name="connsiteY5" fmla="*/ 278420 h 541310"/>
                <a:gd name="connsiteX6" fmla="*/ 1018032 w 1109472"/>
                <a:gd name="connsiteY6" fmla="*/ 413294 h 541310"/>
                <a:gd name="connsiteX7" fmla="*/ 1109472 w 1109472"/>
                <a:gd name="connsiteY7" fmla="*/ 541310 h 541310"/>
                <a:gd name="connsiteX0" fmla="*/ 0 w 1109472"/>
                <a:gd name="connsiteY0" fmla="*/ 4862 h 541310"/>
                <a:gd name="connsiteX1" fmla="*/ 168783 w 1109472"/>
                <a:gd name="connsiteY1" fmla="*/ 290 h 541310"/>
                <a:gd name="connsiteX2" fmla="*/ 347472 w 1109472"/>
                <a:gd name="connsiteY2" fmla="*/ 14387 h 541310"/>
                <a:gd name="connsiteX3" fmla="*/ 561213 w 1109472"/>
                <a:gd name="connsiteY3" fmla="*/ 68870 h 541310"/>
                <a:gd name="connsiteX4" fmla="*/ 745998 w 1109472"/>
                <a:gd name="connsiteY4" fmla="*/ 162977 h 541310"/>
                <a:gd name="connsiteX5" fmla="*/ 902208 w 1109472"/>
                <a:gd name="connsiteY5" fmla="*/ 278420 h 541310"/>
                <a:gd name="connsiteX6" fmla="*/ 1018032 w 1109472"/>
                <a:gd name="connsiteY6" fmla="*/ 413294 h 541310"/>
                <a:gd name="connsiteX7" fmla="*/ 1109472 w 1109472"/>
                <a:gd name="connsiteY7" fmla="*/ 541310 h 541310"/>
                <a:gd name="connsiteX0" fmla="*/ 0 w 1109472"/>
                <a:gd name="connsiteY0" fmla="*/ 10442 h 546890"/>
                <a:gd name="connsiteX1" fmla="*/ 168783 w 1109472"/>
                <a:gd name="connsiteY1" fmla="*/ 155 h 546890"/>
                <a:gd name="connsiteX2" fmla="*/ 347472 w 1109472"/>
                <a:gd name="connsiteY2" fmla="*/ 19967 h 546890"/>
                <a:gd name="connsiteX3" fmla="*/ 561213 w 1109472"/>
                <a:gd name="connsiteY3" fmla="*/ 74450 h 546890"/>
                <a:gd name="connsiteX4" fmla="*/ 745998 w 1109472"/>
                <a:gd name="connsiteY4" fmla="*/ 168557 h 546890"/>
                <a:gd name="connsiteX5" fmla="*/ 902208 w 1109472"/>
                <a:gd name="connsiteY5" fmla="*/ 284000 h 546890"/>
                <a:gd name="connsiteX6" fmla="*/ 1018032 w 1109472"/>
                <a:gd name="connsiteY6" fmla="*/ 418874 h 546890"/>
                <a:gd name="connsiteX7" fmla="*/ 1109472 w 1109472"/>
                <a:gd name="connsiteY7" fmla="*/ 546890 h 546890"/>
                <a:gd name="connsiteX0" fmla="*/ 0 w 1109472"/>
                <a:gd name="connsiteY0" fmla="*/ 16108 h 546841"/>
                <a:gd name="connsiteX1" fmla="*/ 168783 w 1109472"/>
                <a:gd name="connsiteY1" fmla="*/ 106 h 546841"/>
                <a:gd name="connsiteX2" fmla="*/ 347472 w 1109472"/>
                <a:gd name="connsiteY2" fmla="*/ 19918 h 546841"/>
                <a:gd name="connsiteX3" fmla="*/ 561213 w 1109472"/>
                <a:gd name="connsiteY3" fmla="*/ 74401 h 546841"/>
                <a:gd name="connsiteX4" fmla="*/ 745998 w 1109472"/>
                <a:gd name="connsiteY4" fmla="*/ 168508 h 546841"/>
                <a:gd name="connsiteX5" fmla="*/ 902208 w 1109472"/>
                <a:gd name="connsiteY5" fmla="*/ 283951 h 546841"/>
                <a:gd name="connsiteX6" fmla="*/ 1018032 w 1109472"/>
                <a:gd name="connsiteY6" fmla="*/ 418825 h 546841"/>
                <a:gd name="connsiteX7" fmla="*/ 1109472 w 1109472"/>
                <a:gd name="connsiteY7" fmla="*/ 546841 h 546841"/>
                <a:gd name="connsiteX0" fmla="*/ 0 w 1109472"/>
                <a:gd name="connsiteY0" fmla="*/ 8565 h 546918"/>
                <a:gd name="connsiteX1" fmla="*/ 168783 w 1109472"/>
                <a:gd name="connsiteY1" fmla="*/ 183 h 546918"/>
                <a:gd name="connsiteX2" fmla="*/ 347472 w 1109472"/>
                <a:gd name="connsiteY2" fmla="*/ 19995 h 546918"/>
                <a:gd name="connsiteX3" fmla="*/ 561213 w 1109472"/>
                <a:gd name="connsiteY3" fmla="*/ 74478 h 546918"/>
                <a:gd name="connsiteX4" fmla="*/ 745998 w 1109472"/>
                <a:gd name="connsiteY4" fmla="*/ 168585 h 546918"/>
                <a:gd name="connsiteX5" fmla="*/ 902208 w 1109472"/>
                <a:gd name="connsiteY5" fmla="*/ 284028 h 546918"/>
                <a:gd name="connsiteX6" fmla="*/ 1018032 w 1109472"/>
                <a:gd name="connsiteY6" fmla="*/ 418902 h 546918"/>
                <a:gd name="connsiteX7" fmla="*/ 1109472 w 1109472"/>
                <a:gd name="connsiteY7" fmla="*/ 546918 h 546918"/>
                <a:gd name="connsiteX0" fmla="*/ 0 w 1109472"/>
                <a:gd name="connsiteY0" fmla="*/ 9642 h 547995"/>
                <a:gd name="connsiteX1" fmla="*/ 168783 w 1109472"/>
                <a:gd name="connsiteY1" fmla="*/ 1260 h 547995"/>
                <a:gd name="connsiteX2" fmla="*/ 347472 w 1109472"/>
                <a:gd name="connsiteY2" fmla="*/ 21072 h 547995"/>
                <a:gd name="connsiteX3" fmla="*/ 561213 w 1109472"/>
                <a:gd name="connsiteY3" fmla="*/ 75555 h 547995"/>
                <a:gd name="connsiteX4" fmla="*/ 745998 w 1109472"/>
                <a:gd name="connsiteY4" fmla="*/ 169662 h 547995"/>
                <a:gd name="connsiteX5" fmla="*/ 902208 w 1109472"/>
                <a:gd name="connsiteY5" fmla="*/ 285105 h 547995"/>
                <a:gd name="connsiteX6" fmla="*/ 1018032 w 1109472"/>
                <a:gd name="connsiteY6" fmla="*/ 419979 h 547995"/>
                <a:gd name="connsiteX7" fmla="*/ 1109472 w 1109472"/>
                <a:gd name="connsiteY7" fmla="*/ 547995 h 547995"/>
                <a:gd name="connsiteX0" fmla="*/ 0 w 1109472"/>
                <a:gd name="connsiteY0" fmla="*/ 9642 h 547995"/>
                <a:gd name="connsiteX1" fmla="*/ 168783 w 1109472"/>
                <a:gd name="connsiteY1" fmla="*/ 1260 h 547995"/>
                <a:gd name="connsiteX2" fmla="*/ 367792 w 1109472"/>
                <a:gd name="connsiteY2" fmla="*/ 21072 h 547995"/>
                <a:gd name="connsiteX3" fmla="*/ 561213 w 1109472"/>
                <a:gd name="connsiteY3" fmla="*/ 75555 h 547995"/>
                <a:gd name="connsiteX4" fmla="*/ 745998 w 1109472"/>
                <a:gd name="connsiteY4" fmla="*/ 169662 h 547995"/>
                <a:gd name="connsiteX5" fmla="*/ 902208 w 1109472"/>
                <a:gd name="connsiteY5" fmla="*/ 285105 h 547995"/>
                <a:gd name="connsiteX6" fmla="*/ 1018032 w 1109472"/>
                <a:gd name="connsiteY6" fmla="*/ 419979 h 547995"/>
                <a:gd name="connsiteX7" fmla="*/ 1109472 w 1109472"/>
                <a:gd name="connsiteY7" fmla="*/ 547995 h 547995"/>
                <a:gd name="connsiteX0" fmla="*/ 0 w 1109472"/>
                <a:gd name="connsiteY0" fmla="*/ 9642 h 547995"/>
                <a:gd name="connsiteX1" fmla="*/ 168783 w 1109472"/>
                <a:gd name="connsiteY1" fmla="*/ 1260 h 547995"/>
                <a:gd name="connsiteX2" fmla="*/ 367792 w 1109472"/>
                <a:gd name="connsiteY2" fmla="*/ 21072 h 547995"/>
                <a:gd name="connsiteX3" fmla="*/ 561213 w 1109472"/>
                <a:gd name="connsiteY3" fmla="*/ 75555 h 547995"/>
                <a:gd name="connsiteX4" fmla="*/ 745998 w 1109472"/>
                <a:gd name="connsiteY4" fmla="*/ 169662 h 547995"/>
                <a:gd name="connsiteX5" fmla="*/ 902208 w 1109472"/>
                <a:gd name="connsiteY5" fmla="*/ 285105 h 547995"/>
                <a:gd name="connsiteX6" fmla="*/ 1025652 w 1109472"/>
                <a:gd name="connsiteY6" fmla="*/ 419979 h 547995"/>
                <a:gd name="connsiteX7" fmla="*/ 1109472 w 1109472"/>
                <a:gd name="connsiteY7" fmla="*/ 547995 h 547995"/>
                <a:gd name="connsiteX0" fmla="*/ 0 w 1114552"/>
                <a:gd name="connsiteY0" fmla="*/ 9642 h 542915"/>
                <a:gd name="connsiteX1" fmla="*/ 168783 w 1114552"/>
                <a:gd name="connsiteY1" fmla="*/ 1260 h 542915"/>
                <a:gd name="connsiteX2" fmla="*/ 367792 w 1114552"/>
                <a:gd name="connsiteY2" fmla="*/ 21072 h 542915"/>
                <a:gd name="connsiteX3" fmla="*/ 561213 w 1114552"/>
                <a:gd name="connsiteY3" fmla="*/ 75555 h 542915"/>
                <a:gd name="connsiteX4" fmla="*/ 745998 w 1114552"/>
                <a:gd name="connsiteY4" fmla="*/ 169662 h 542915"/>
                <a:gd name="connsiteX5" fmla="*/ 902208 w 1114552"/>
                <a:gd name="connsiteY5" fmla="*/ 285105 h 542915"/>
                <a:gd name="connsiteX6" fmla="*/ 1025652 w 1114552"/>
                <a:gd name="connsiteY6" fmla="*/ 419979 h 542915"/>
                <a:gd name="connsiteX7" fmla="*/ 1114552 w 1114552"/>
                <a:gd name="connsiteY7" fmla="*/ 542915 h 54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4552" h="542915">
                  <a:moveTo>
                    <a:pt x="0" y="9642"/>
                  </a:moveTo>
                  <a:cubicBezTo>
                    <a:pt x="76708" y="-2550"/>
                    <a:pt x="110871" y="-328"/>
                    <a:pt x="168783" y="1260"/>
                  </a:cubicBezTo>
                  <a:cubicBezTo>
                    <a:pt x="226695" y="2848"/>
                    <a:pt x="302387" y="8690"/>
                    <a:pt x="367792" y="21072"/>
                  </a:cubicBezTo>
                  <a:cubicBezTo>
                    <a:pt x="433197" y="33454"/>
                    <a:pt x="494792" y="50790"/>
                    <a:pt x="561213" y="75555"/>
                  </a:cubicBezTo>
                  <a:cubicBezTo>
                    <a:pt x="627634" y="100320"/>
                    <a:pt x="689166" y="134737"/>
                    <a:pt x="745998" y="169662"/>
                  </a:cubicBezTo>
                  <a:cubicBezTo>
                    <a:pt x="802830" y="204587"/>
                    <a:pt x="856869" y="243386"/>
                    <a:pt x="902208" y="285105"/>
                  </a:cubicBezTo>
                  <a:cubicBezTo>
                    <a:pt x="947547" y="326825"/>
                    <a:pt x="989203" y="378069"/>
                    <a:pt x="1025652" y="419979"/>
                  </a:cubicBezTo>
                  <a:cubicBezTo>
                    <a:pt x="1074166" y="476367"/>
                    <a:pt x="1065022" y="471795"/>
                    <a:pt x="1114552" y="542915"/>
                  </a:cubicBezTo>
                </a:path>
              </a:pathLst>
            </a:custGeom>
            <a:noFill/>
            <a:ln w="57150">
              <a:solidFill>
                <a:schemeClr val="tx1"/>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effectLst/>
                <a:latin typeface="+mn-lt"/>
              </a:endParaRPr>
            </a:p>
          </p:txBody>
        </p:sp>
        <p:sp>
          <p:nvSpPr>
            <p:cNvPr id="19" name="Freeform: Shape 18">
              <a:extLst>
                <a:ext uri="{FF2B5EF4-FFF2-40B4-BE49-F238E27FC236}">
                  <a16:creationId xmlns:a16="http://schemas.microsoft.com/office/drawing/2014/main" id="{F728446F-9A05-2F6C-C046-176771E4C48E}"/>
                </a:ext>
              </a:extLst>
            </p:cNvPr>
            <p:cNvSpPr/>
            <p:nvPr userDrawn="1"/>
          </p:nvSpPr>
          <p:spPr>
            <a:xfrm rot="7200000">
              <a:off x="6921323" y="4192289"/>
              <a:ext cx="1114552" cy="542915"/>
            </a:xfrm>
            <a:custGeom>
              <a:avLst/>
              <a:gdLst>
                <a:gd name="connsiteX0" fmla="*/ 0 w 1109472"/>
                <a:gd name="connsiteY0" fmla="*/ 14664 h 551112"/>
                <a:gd name="connsiteX1" fmla="*/ 347472 w 1109472"/>
                <a:gd name="connsiteY1" fmla="*/ 14664 h 551112"/>
                <a:gd name="connsiteX2" fmla="*/ 749808 w 1109472"/>
                <a:gd name="connsiteY2" fmla="*/ 167064 h 551112"/>
                <a:gd name="connsiteX3" fmla="*/ 1018032 w 1109472"/>
                <a:gd name="connsiteY3" fmla="*/ 423096 h 551112"/>
                <a:gd name="connsiteX4" fmla="*/ 1109472 w 1109472"/>
                <a:gd name="connsiteY4" fmla="*/ 551112 h 551112"/>
                <a:gd name="connsiteX0" fmla="*/ 0 w 1109472"/>
                <a:gd name="connsiteY0" fmla="*/ 14664 h 551112"/>
                <a:gd name="connsiteX1" fmla="*/ 347472 w 1109472"/>
                <a:gd name="connsiteY1" fmla="*/ 14664 h 551112"/>
                <a:gd name="connsiteX2" fmla="*/ 749808 w 1109472"/>
                <a:gd name="connsiteY2" fmla="*/ 167064 h 551112"/>
                <a:gd name="connsiteX3" fmla="*/ 1018032 w 1109472"/>
                <a:gd name="connsiteY3" fmla="*/ 423096 h 551112"/>
                <a:gd name="connsiteX4" fmla="*/ 1109472 w 1109472"/>
                <a:gd name="connsiteY4" fmla="*/ 551112 h 551112"/>
                <a:gd name="connsiteX0" fmla="*/ 0 w 1109472"/>
                <a:gd name="connsiteY0" fmla="*/ 15068 h 551516"/>
                <a:gd name="connsiteX1" fmla="*/ 347472 w 1109472"/>
                <a:gd name="connsiteY1" fmla="*/ 15068 h 551516"/>
                <a:gd name="connsiteX2" fmla="*/ 745998 w 1109472"/>
                <a:gd name="connsiteY2" fmla="*/ 173183 h 551516"/>
                <a:gd name="connsiteX3" fmla="*/ 1018032 w 1109472"/>
                <a:gd name="connsiteY3" fmla="*/ 423500 h 551516"/>
                <a:gd name="connsiteX4" fmla="*/ 1109472 w 1109472"/>
                <a:gd name="connsiteY4" fmla="*/ 551516 h 551516"/>
                <a:gd name="connsiteX0" fmla="*/ 0 w 1109472"/>
                <a:gd name="connsiteY0" fmla="*/ 9954 h 546402"/>
                <a:gd name="connsiteX1" fmla="*/ 347472 w 1109472"/>
                <a:gd name="connsiteY1" fmla="*/ 19479 h 546402"/>
                <a:gd name="connsiteX2" fmla="*/ 745998 w 1109472"/>
                <a:gd name="connsiteY2" fmla="*/ 168069 h 546402"/>
                <a:gd name="connsiteX3" fmla="*/ 1018032 w 1109472"/>
                <a:gd name="connsiteY3" fmla="*/ 418386 h 546402"/>
                <a:gd name="connsiteX4" fmla="*/ 1109472 w 1109472"/>
                <a:gd name="connsiteY4" fmla="*/ 546402 h 546402"/>
                <a:gd name="connsiteX0" fmla="*/ 0 w 1109472"/>
                <a:gd name="connsiteY0" fmla="*/ 9954 h 546402"/>
                <a:gd name="connsiteX1" fmla="*/ 347472 w 1109472"/>
                <a:gd name="connsiteY1" fmla="*/ 19479 h 546402"/>
                <a:gd name="connsiteX2" fmla="*/ 557403 w 1109472"/>
                <a:gd name="connsiteY2" fmla="*/ 83487 h 546402"/>
                <a:gd name="connsiteX3" fmla="*/ 745998 w 1109472"/>
                <a:gd name="connsiteY3" fmla="*/ 168069 h 546402"/>
                <a:gd name="connsiteX4" fmla="*/ 1018032 w 1109472"/>
                <a:gd name="connsiteY4" fmla="*/ 418386 h 546402"/>
                <a:gd name="connsiteX5" fmla="*/ 1109472 w 1109472"/>
                <a:gd name="connsiteY5" fmla="*/ 546402 h 546402"/>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1018032 w 1109472"/>
                <a:gd name="connsiteY4" fmla="*/ 414000 h 542016"/>
                <a:gd name="connsiteX5" fmla="*/ 1109472 w 1109472"/>
                <a:gd name="connsiteY5"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890778 w 1109472"/>
                <a:gd name="connsiteY4" fmla="*/ 290556 h 542016"/>
                <a:gd name="connsiteX5" fmla="*/ 1018032 w 1109472"/>
                <a:gd name="connsiteY5" fmla="*/ 414000 h 542016"/>
                <a:gd name="connsiteX6" fmla="*/ 1109472 w 1109472"/>
                <a:gd name="connsiteY6"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902208 w 1109472"/>
                <a:gd name="connsiteY4" fmla="*/ 279126 h 542016"/>
                <a:gd name="connsiteX5" fmla="*/ 1018032 w 1109472"/>
                <a:gd name="connsiteY5" fmla="*/ 414000 h 542016"/>
                <a:gd name="connsiteX6" fmla="*/ 1109472 w 1109472"/>
                <a:gd name="connsiteY6"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902208 w 1109472"/>
                <a:gd name="connsiteY4" fmla="*/ 279126 h 542016"/>
                <a:gd name="connsiteX5" fmla="*/ 1018032 w 1109472"/>
                <a:gd name="connsiteY5" fmla="*/ 414000 h 542016"/>
                <a:gd name="connsiteX6" fmla="*/ 1109472 w 1109472"/>
                <a:gd name="connsiteY6"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902208 w 1109472"/>
                <a:gd name="connsiteY4" fmla="*/ 279126 h 542016"/>
                <a:gd name="connsiteX5" fmla="*/ 1018032 w 1109472"/>
                <a:gd name="connsiteY5" fmla="*/ 414000 h 542016"/>
                <a:gd name="connsiteX6" fmla="*/ 1109472 w 1109472"/>
                <a:gd name="connsiteY6" fmla="*/ 542016 h 542016"/>
                <a:gd name="connsiteX0" fmla="*/ 0 w 1109472"/>
                <a:gd name="connsiteY0" fmla="*/ 4572 h 541020"/>
                <a:gd name="connsiteX1" fmla="*/ 347472 w 1109472"/>
                <a:gd name="connsiteY1" fmla="*/ 14097 h 541020"/>
                <a:gd name="connsiteX2" fmla="*/ 561213 w 1109472"/>
                <a:gd name="connsiteY2" fmla="*/ 68580 h 541020"/>
                <a:gd name="connsiteX3" fmla="*/ 745998 w 1109472"/>
                <a:gd name="connsiteY3" fmla="*/ 162687 h 541020"/>
                <a:gd name="connsiteX4" fmla="*/ 902208 w 1109472"/>
                <a:gd name="connsiteY4" fmla="*/ 278130 h 541020"/>
                <a:gd name="connsiteX5" fmla="*/ 1018032 w 1109472"/>
                <a:gd name="connsiteY5" fmla="*/ 413004 h 541020"/>
                <a:gd name="connsiteX6" fmla="*/ 1109472 w 1109472"/>
                <a:gd name="connsiteY6" fmla="*/ 541020 h 541020"/>
                <a:gd name="connsiteX0" fmla="*/ 0 w 1109472"/>
                <a:gd name="connsiteY0" fmla="*/ 4862 h 541310"/>
                <a:gd name="connsiteX1" fmla="*/ 163068 w 1109472"/>
                <a:gd name="connsiteY1" fmla="*/ 290 h 541310"/>
                <a:gd name="connsiteX2" fmla="*/ 347472 w 1109472"/>
                <a:gd name="connsiteY2" fmla="*/ 14387 h 541310"/>
                <a:gd name="connsiteX3" fmla="*/ 561213 w 1109472"/>
                <a:gd name="connsiteY3" fmla="*/ 68870 h 541310"/>
                <a:gd name="connsiteX4" fmla="*/ 745998 w 1109472"/>
                <a:gd name="connsiteY4" fmla="*/ 162977 h 541310"/>
                <a:gd name="connsiteX5" fmla="*/ 902208 w 1109472"/>
                <a:gd name="connsiteY5" fmla="*/ 278420 h 541310"/>
                <a:gd name="connsiteX6" fmla="*/ 1018032 w 1109472"/>
                <a:gd name="connsiteY6" fmla="*/ 413294 h 541310"/>
                <a:gd name="connsiteX7" fmla="*/ 1109472 w 1109472"/>
                <a:gd name="connsiteY7" fmla="*/ 541310 h 541310"/>
                <a:gd name="connsiteX0" fmla="*/ 0 w 1109472"/>
                <a:gd name="connsiteY0" fmla="*/ 4862 h 541310"/>
                <a:gd name="connsiteX1" fmla="*/ 168783 w 1109472"/>
                <a:gd name="connsiteY1" fmla="*/ 290 h 541310"/>
                <a:gd name="connsiteX2" fmla="*/ 347472 w 1109472"/>
                <a:gd name="connsiteY2" fmla="*/ 14387 h 541310"/>
                <a:gd name="connsiteX3" fmla="*/ 561213 w 1109472"/>
                <a:gd name="connsiteY3" fmla="*/ 68870 h 541310"/>
                <a:gd name="connsiteX4" fmla="*/ 745998 w 1109472"/>
                <a:gd name="connsiteY4" fmla="*/ 162977 h 541310"/>
                <a:gd name="connsiteX5" fmla="*/ 902208 w 1109472"/>
                <a:gd name="connsiteY5" fmla="*/ 278420 h 541310"/>
                <a:gd name="connsiteX6" fmla="*/ 1018032 w 1109472"/>
                <a:gd name="connsiteY6" fmla="*/ 413294 h 541310"/>
                <a:gd name="connsiteX7" fmla="*/ 1109472 w 1109472"/>
                <a:gd name="connsiteY7" fmla="*/ 541310 h 541310"/>
                <a:gd name="connsiteX0" fmla="*/ 0 w 1109472"/>
                <a:gd name="connsiteY0" fmla="*/ 10442 h 546890"/>
                <a:gd name="connsiteX1" fmla="*/ 168783 w 1109472"/>
                <a:gd name="connsiteY1" fmla="*/ 155 h 546890"/>
                <a:gd name="connsiteX2" fmla="*/ 347472 w 1109472"/>
                <a:gd name="connsiteY2" fmla="*/ 19967 h 546890"/>
                <a:gd name="connsiteX3" fmla="*/ 561213 w 1109472"/>
                <a:gd name="connsiteY3" fmla="*/ 74450 h 546890"/>
                <a:gd name="connsiteX4" fmla="*/ 745998 w 1109472"/>
                <a:gd name="connsiteY4" fmla="*/ 168557 h 546890"/>
                <a:gd name="connsiteX5" fmla="*/ 902208 w 1109472"/>
                <a:gd name="connsiteY5" fmla="*/ 284000 h 546890"/>
                <a:gd name="connsiteX6" fmla="*/ 1018032 w 1109472"/>
                <a:gd name="connsiteY6" fmla="*/ 418874 h 546890"/>
                <a:gd name="connsiteX7" fmla="*/ 1109472 w 1109472"/>
                <a:gd name="connsiteY7" fmla="*/ 546890 h 546890"/>
                <a:gd name="connsiteX0" fmla="*/ 0 w 1109472"/>
                <a:gd name="connsiteY0" fmla="*/ 16108 h 546841"/>
                <a:gd name="connsiteX1" fmla="*/ 168783 w 1109472"/>
                <a:gd name="connsiteY1" fmla="*/ 106 h 546841"/>
                <a:gd name="connsiteX2" fmla="*/ 347472 w 1109472"/>
                <a:gd name="connsiteY2" fmla="*/ 19918 h 546841"/>
                <a:gd name="connsiteX3" fmla="*/ 561213 w 1109472"/>
                <a:gd name="connsiteY3" fmla="*/ 74401 h 546841"/>
                <a:gd name="connsiteX4" fmla="*/ 745998 w 1109472"/>
                <a:gd name="connsiteY4" fmla="*/ 168508 h 546841"/>
                <a:gd name="connsiteX5" fmla="*/ 902208 w 1109472"/>
                <a:gd name="connsiteY5" fmla="*/ 283951 h 546841"/>
                <a:gd name="connsiteX6" fmla="*/ 1018032 w 1109472"/>
                <a:gd name="connsiteY6" fmla="*/ 418825 h 546841"/>
                <a:gd name="connsiteX7" fmla="*/ 1109472 w 1109472"/>
                <a:gd name="connsiteY7" fmla="*/ 546841 h 546841"/>
                <a:gd name="connsiteX0" fmla="*/ 0 w 1109472"/>
                <a:gd name="connsiteY0" fmla="*/ 8565 h 546918"/>
                <a:gd name="connsiteX1" fmla="*/ 168783 w 1109472"/>
                <a:gd name="connsiteY1" fmla="*/ 183 h 546918"/>
                <a:gd name="connsiteX2" fmla="*/ 347472 w 1109472"/>
                <a:gd name="connsiteY2" fmla="*/ 19995 h 546918"/>
                <a:gd name="connsiteX3" fmla="*/ 561213 w 1109472"/>
                <a:gd name="connsiteY3" fmla="*/ 74478 h 546918"/>
                <a:gd name="connsiteX4" fmla="*/ 745998 w 1109472"/>
                <a:gd name="connsiteY4" fmla="*/ 168585 h 546918"/>
                <a:gd name="connsiteX5" fmla="*/ 902208 w 1109472"/>
                <a:gd name="connsiteY5" fmla="*/ 284028 h 546918"/>
                <a:gd name="connsiteX6" fmla="*/ 1018032 w 1109472"/>
                <a:gd name="connsiteY6" fmla="*/ 418902 h 546918"/>
                <a:gd name="connsiteX7" fmla="*/ 1109472 w 1109472"/>
                <a:gd name="connsiteY7" fmla="*/ 546918 h 546918"/>
                <a:gd name="connsiteX0" fmla="*/ 0 w 1109472"/>
                <a:gd name="connsiteY0" fmla="*/ 9642 h 547995"/>
                <a:gd name="connsiteX1" fmla="*/ 168783 w 1109472"/>
                <a:gd name="connsiteY1" fmla="*/ 1260 h 547995"/>
                <a:gd name="connsiteX2" fmla="*/ 347472 w 1109472"/>
                <a:gd name="connsiteY2" fmla="*/ 21072 h 547995"/>
                <a:gd name="connsiteX3" fmla="*/ 561213 w 1109472"/>
                <a:gd name="connsiteY3" fmla="*/ 75555 h 547995"/>
                <a:gd name="connsiteX4" fmla="*/ 745998 w 1109472"/>
                <a:gd name="connsiteY4" fmla="*/ 169662 h 547995"/>
                <a:gd name="connsiteX5" fmla="*/ 902208 w 1109472"/>
                <a:gd name="connsiteY5" fmla="*/ 285105 h 547995"/>
                <a:gd name="connsiteX6" fmla="*/ 1018032 w 1109472"/>
                <a:gd name="connsiteY6" fmla="*/ 419979 h 547995"/>
                <a:gd name="connsiteX7" fmla="*/ 1109472 w 1109472"/>
                <a:gd name="connsiteY7" fmla="*/ 547995 h 547995"/>
                <a:gd name="connsiteX0" fmla="*/ 0 w 1109472"/>
                <a:gd name="connsiteY0" fmla="*/ 9642 h 547995"/>
                <a:gd name="connsiteX1" fmla="*/ 168783 w 1109472"/>
                <a:gd name="connsiteY1" fmla="*/ 1260 h 547995"/>
                <a:gd name="connsiteX2" fmla="*/ 367792 w 1109472"/>
                <a:gd name="connsiteY2" fmla="*/ 21072 h 547995"/>
                <a:gd name="connsiteX3" fmla="*/ 561213 w 1109472"/>
                <a:gd name="connsiteY3" fmla="*/ 75555 h 547995"/>
                <a:gd name="connsiteX4" fmla="*/ 745998 w 1109472"/>
                <a:gd name="connsiteY4" fmla="*/ 169662 h 547995"/>
                <a:gd name="connsiteX5" fmla="*/ 902208 w 1109472"/>
                <a:gd name="connsiteY5" fmla="*/ 285105 h 547995"/>
                <a:gd name="connsiteX6" fmla="*/ 1018032 w 1109472"/>
                <a:gd name="connsiteY6" fmla="*/ 419979 h 547995"/>
                <a:gd name="connsiteX7" fmla="*/ 1109472 w 1109472"/>
                <a:gd name="connsiteY7" fmla="*/ 547995 h 547995"/>
                <a:gd name="connsiteX0" fmla="*/ 0 w 1109472"/>
                <a:gd name="connsiteY0" fmla="*/ 9642 h 547995"/>
                <a:gd name="connsiteX1" fmla="*/ 168783 w 1109472"/>
                <a:gd name="connsiteY1" fmla="*/ 1260 h 547995"/>
                <a:gd name="connsiteX2" fmla="*/ 367792 w 1109472"/>
                <a:gd name="connsiteY2" fmla="*/ 21072 h 547995"/>
                <a:gd name="connsiteX3" fmla="*/ 561213 w 1109472"/>
                <a:gd name="connsiteY3" fmla="*/ 75555 h 547995"/>
                <a:gd name="connsiteX4" fmla="*/ 745998 w 1109472"/>
                <a:gd name="connsiteY4" fmla="*/ 169662 h 547995"/>
                <a:gd name="connsiteX5" fmla="*/ 902208 w 1109472"/>
                <a:gd name="connsiteY5" fmla="*/ 285105 h 547995"/>
                <a:gd name="connsiteX6" fmla="*/ 1025652 w 1109472"/>
                <a:gd name="connsiteY6" fmla="*/ 419979 h 547995"/>
                <a:gd name="connsiteX7" fmla="*/ 1109472 w 1109472"/>
                <a:gd name="connsiteY7" fmla="*/ 547995 h 547995"/>
                <a:gd name="connsiteX0" fmla="*/ 0 w 1114552"/>
                <a:gd name="connsiteY0" fmla="*/ 9642 h 542915"/>
                <a:gd name="connsiteX1" fmla="*/ 168783 w 1114552"/>
                <a:gd name="connsiteY1" fmla="*/ 1260 h 542915"/>
                <a:gd name="connsiteX2" fmla="*/ 367792 w 1114552"/>
                <a:gd name="connsiteY2" fmla="*/ 21072 h 542915"/>
                <a:gd name="connsiteX3" fmla="*/ 561213 w 1114552"/>
                <a:gd name="connsiteY3" fmla="*/ 75555 h 542915"/>
                <a:gd name="connsiteX4" fmla="*/ 745998 w 1114552"/>
                <a:gd name="connsiteY4" fmla="*/ 169662 h 542915"/>
                <a:gd name="connsiteX5" fmla="*/ 902208 w 1114552"/>
                <a:gd name="connsiteY5" fmla="*/ 285105 h 542915"/>
                <a:gd name="connsiteX6" fmla="*/ 1025652 w 1114552"/>
                <a:gd name="connsiteY6" fmla="*/ 419979 h 542915"/>
                <a:gd name="connsiteX7" fmla="*/ 1114552 w 1114552"/>
                <a:gd name="connsiteY7" fmla="*/ 542915 h 54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4552" h="542915">
                  <a:moveTo>
                    <a:pt x="0" y="9642"/>
                  </a:moveTo>
                  <a:cubicBezTo>
                    <a:pt x="76708" y="-2550"/>
                    <a:pt x="110871" y="-328"/>
                    <a:pt x="168783" y="1260"/>
                  </a:cubicBezTo>
                  <a:cubicBezTo>
                    <a:pt x="226695" y="2848"/>
                    <a:pt x="302387" y="8690"/>
                    <a:pt x="367792" y="21072"/>
                  </a:cubicBezTo>
                  <a:cubicBezTo>
                    <a:pt x="433197" y="33454"/>
                    <a:pt x="494792" y="50790"/>
                    <a:pt x="561213" y="75555"/>
                  </a:cubicBezTo>
                  <a:cubicBezTo>
                    <a:pt x="627634" y="100320"/>
                    <a:pt x="689166" y="134737"/>
                    <a:pt x="745998" y="169662"/>
                  </a:cubicBezTo>
                  <a:cubicBezTo>
                    <a:pt x="802830" y="204587"/>
                    <a:pt x="856869" y="243386"/>
                    <a:pt x="902208" y="285105"/>
                  </a:cubicBezTo>
                  <a:cubicBezTo>
                    <a:pt x="947547" y="326825"/>
                    <a:pt x="989203" y="378069"/>
                    <a:pt x="1025652" y="419979"/>
                  </a:cubicBezTo>
                  <a:cubicBezTo>
                    <a:pt x="1074166" y="476367"/>
                    <a:pt x="1065022" y="471795"/>
                    <a:pt x="1114552" y="542915"/>
                  </a:cubicBezTo>
                </a:path>
              </a:pathLst>
            </a:custGeom>
            <a:noFill/>
            <a:ln w="57150">
              <a:solidFill>
                <a:schemeClr val="tx1"/>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effectLst/>
                <a:latin typeface="+mn-lt"/>
              </a:endParaRPr>
            </a:p>
          </p:txBody>
        </p:sp>
        <p:sp>
          <p:nvSpPr>
            <p:cNvPr id="20" name="Freeform: Shape 19">
              <a:extLst>
                <a:ext uri="{FF2B5EF4-FFF2-40B4-BE49-F238E27FC236}">
                  <a16:creationId xmlns:a16="http://schemas.microsoft.com/office/drawing/2014/main" id="{876E7611-A351-CC74-F3E7-1632DC45AD20}"/>
                </a:ext>
              </a:extLst>
            </p:cNvPr>
            <p:cNvSpPr/>
            <p:nvPr userDrawn="1"/>
          </p:nvSpPr>
          <p:spPr>
            <a:xfrm rot="14400000">
              <a:off x="5455840" y="3506052"/>
              <a:ext cx="1114552" cy="542915"/>
            </a:xfrm>
            <a:custGeom>
              <a:avLst/>
              <a:gdLst>
                <a:gd name="connsiteX0" fmla="*/ 0 w 1109472"/>
                <a:gd name="connsiteY0" fmla="*/ 14664 h 551112"/>
                <a:gd name="connsiteX1" fmla="*/ 347472 w 1109472"/>
                <a:gd name="connsiteY1" fmla="*/ 14664 h 551112"/>
                <a:gd name="connsiteX2" fmla="*/ 749808 w 1109472"/>
                <a:gd name="connsiteY2" fmla="*/ 167064 h 551112"/>
                <a:gd name="connsiteX3" fmla="*/ 1018032 w 1109472"/>
                <a:gd name="connsiteY3" fmla="*/ 423096 h 551112"/>
                <a:gd name="connsiteX4" fmla="*/ 1109472 w 1109472"/>
                <a:gd name="connsiteY4" fmla="*/ 551112 h 551112"/>
                <a:gd name="connsiteX0" fmla="*/ 0 w 1109472"/>
                <a:gd name="connsiteY0" fmla="*/ 14664 h 551112"/>
                <a:gd name="connsiteX1" fmla="*/ 347472 w 1109472"/>
                <a:gd name="connsiteY1" fmla="*/ 14664 h 551112"/>
                <a:gd name="connsiteX2" fmla="*/ 749808 w 1109472"/>
                <a:gd name="connsiteY2" fmla="*/ 167064 h 551112"/>
                <a:gd name="connsiteX3" fmla="*/ 1018032 w 1109472"/>
                <a:gd name="connsiteY3" fmla="*/ 423096 h 551112"/>
                <a:gd name="connsiteX4" fmla="*/ 1109472 w 1109472"/>
                <a:gd name="connsiteY4" fmla="*/ 551112 h 551112"/>
                <a:gd name="connsiteX0" fmla="*/ 0 w 1109472"/>
                <a:gd name="connsiteY0" fmla="*/ 15068 h 551516"/>
                <a:gd name="connsiteX1" fmla="*/ 347472 w 1109472"/>
                <a:gd name="connsiteY1" fmla="*/ 15068 h 551516"/>
                <a:gd name="connsiteX2" fmla="*/ 745998 w 1109472"/>
                <a:gd name="connsiteY2" fmla="*/ 173183 h 551516"/>
                <a:gd name="connsiteX3" fmla="*/ 1018032 w 1109472"/>
                <a:gd name="connsiteY3" fmla="*/ 423500 h 551516"/>
                <a:gd name="connsiteX4" fmla="*/ 1109472 w 1109472"/>
                <a:gd name="connsiteY4" fmla="*/ 551516 h 551516"/>
                <a:gd name="connsiteX0" fmla="*/ 0 w 1109472"/>
                <a:gd name="connsiteY0" fmla="*/ 9954 h 546402"/>
                <a:gd name="connsiteX1" fmla="*/ 347472 w 1109472"/>
                <a:gd name="connsiteY1" fmla="*/ 19479 h 546402"/>
                <a:gd name="connsiteX2" fmla="*/ 745998 w 1109472"/>
                <a:gd name="connsiteY2" fmla="*/ 168069 h 546402"/>
                <a:gd name="connsiteX3" fmla="*/ 1018032 w 1109472"/>
                <a:gd name="connsiteY3" fmla="*/ 418386 h 546402"/>
                <a:gd name="connsiteX4" fmla="*/ 1109472 w 1109472"/>
                <a:gd name="connsiteY4" fmla="*/ 546402 h 546402"/>
                <a:gd name="connsiteX0" fmla="*/ 0 w 1109472"/>
                <a:gd name="connsiteY0" fmla="*/ 9954 h 546402"/>
                <a:gd name="connsiteX1" fmla="*/ 347472 w 1109472"/>
                <a:gd name="connsiteY1" fmla="*/ 19479 h 546402"/>
                <a:gd name="connsiteX2" fmla="*/ 557403 w 1109472"/>
                <a:gd name="connsiteY2" fmla="*/ 83487 h 546402"/>
                <a:gd name="connsiteX3" fmla="*/ 745998 w 1109472"/>
                <a:gd name="connsiteY3" fmla="*/ 168069 h 546402"/>
                <a:gd name="connsiteX4" fmla="*/ 1018032 w 1109472"/>
                <a:gd name="connsiteY4" fmla="*/ 418386 h 546402"/>
                <a:gd name="connsiteX5" fmla="*/ 1109472 w 1109472"/>
                <a:gd name="connsiteY5" fmla="*/ 546402 h 546402"/>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1018032 w 1109472"/>
                <a:gd name="connsiteY4" fmla="*/ 414000 h 542016"/>
                <a:gd name="connsiteX5" fmla="*/ 1109472 w 1109472"/>
                <a:gd name="connsiteY5"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890778 w 1109472"/>
                <a:gd name="connsiteY4" fmla="*/ 290556 h 542016"/>
                <a:gd name="connsiteX5" fmla="*/ 1018032 w 1109472"/>
                <a:gd name="connsiteY5" fmla="*/ 414000 h 542016"/>
                <a:gd name="connsiteX6" fmla="*/ 1109472 w 1109472"/>
                <a:gd name="connsiteY6"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902208 w 1109472"/>
                <a:gd name="connsiteY4" fmla="*/ 279126 h 542016"/>
                <a:gd name="connsiteX5" fmla="*/ 1018032 w 1109472"/>
                <a:gd name="connsiteY5" fmla="*/ 414000 h 542016"/>
                <a:gd name="connsiteX6" fmla="*/ 1109472 w 1109472"/>
                <a:gd name="connsiteY6"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902208 w 1109472"/>
                <a:gd name="connsiteY4" fmla="*/ 279126 h 542016"/>
                <a:gd name="connsiteX5" fmla="*/ 1018032 w 1109472"/>
                <a:gd name="connsiteY5" fmla="*/ 414000 h 542016"/>
                <a:gd name="connsiteX6" fmla="*/ 1109472 w 1109472"/>
                <a:gd name="connsiteY6" fmla="*/ 542016 h 542016"/>
                <a:gd name="connsiteX0" fmla="*/ 0 w 1109472"/>
                <a:gd name="connsiteY0" fmla="*/ 5568 h 542016"/>
                <a:gd name="connsiteX1" fmla="*/ 347472 w 1109472"/>
                <a:gd name="connsiteY1" fmla="*/ 15093 h 542016"/>
                <a:gd name="connsiteX2" fmla="*/ 561213 w 1109472"/>
                <a:gd name="connsiteY2" fmla="*/ 69576 h 542016"/>
                <a:gd name="connsiteX3" fmla="*/ 745998 w 1109472"/>
                <a:gd name="connsiteY3" fmla="*/ 163683 h 542016"/>
                <a:gd name="connsiteX4" fmla="*/ 902208 w 1109472"/>
                <a:gd name="connsiteY4" fmla="*/ 279126 h 542016"/>
                <a:gd name="connsiteX5" fmla="*/ 1018032 w 1109472"/>
                <a:gd name="connsiteY5" fmla="*/ 414000 h 542016"/>
                <a:gd name="connsiteX6" fmla="*/ 1109472 w 1109472"/>
                <a:gd name="connsiteY6" fmla="*/ 542016 h 542016"/>
                <a:gd name="connsiteX0" fmla="*/ 0 w 1109472"/>
                <a:gd name="connsiteY0" fmla="*/ 4572 h 541020"/>
                <a:gd name="connsiteX1" fmla="*/ 347472 w 1109472"/>
                <a:gd name="connsiteY1" fmla="*/ 14097 h 541020"/>
                <a:gd name="connsiteX2" fmla="*/ 561213 w 1109472"/>
                <a:gd name="connsiteY2" fmla="*/ 68580 h 541020"/>
                <a:gd name="connsiteX3" fmla="*/ 745998 w 1109472"/>
                <a:gd name="connsiteY3" fmla="*/ 162687 h 541020"/>
                <a:gd name="connsiteX4" fmla="*/ 902208 w 1109472"/>
                <a:gd name="connsiteY4" fmla="*/ 278130 h 541020"/>
                <a:gd name="connsiteX5" fmla="*/ 1018032 w 1109472"/>
                <a:gd name="connsiteY5" fmla="*/ 413004 h 541020"/>
                <a:gd name="connsiteX6" fmla="*/ 1109472 w 1109472"/>
                <a:gd name="connsiteY6" fmla="*/ 541020 h 541020"/>
                <a:gd name="connsiteX0" fmla="*/ 0 w 1109472"/>
                <a:gd name="connsiteY0" fmla="*/ 4862 h 541310"/>
                <a:gd name="connsiteX1" fmla="*/ 163068 w 1109472"/>
                <a:gd name="connsiteY1" fmla="*/ 290 h 541310"/>
                <a:gd name="connsiteX2" fmla="*/ 347472 w 1109472"/>
                <a:gd name="connsiteY2" fmla="*/ 14387 h 541310"/>
                <a:gd name="connsiteX3" fmla="*/ 561213 w 1109472"/>
                <a:gd name="connsiteY3" fmla="*/ 68870 h 541310"/>
                <a:gd name="connsiteX4" fmla="*/ 745998 w 1109472"/>
                <a:gd name="connsiteY4" fmla="*/ 162977 h 541310"/>
                <a:gd name="connsiteX5" fmla="*/ 902208 w 1109472"/>
                <a:gd name="connsiteY5" fmla="*/ 278420 h 541310"/>
                <a:gd name="connsiteX6" fmla="*/ 1018032 w 1109472"/>
                <a:gd name="connsiteY6" fmla="*/ 413294 h 541310"/>
                <a:gd name="connsiteX7" fmla="*/ 1109472 w 1109472"/>
                <a:gd name="connsiteY7" fmla="*/ 541310 h 541310"/>
                <a:gd name="connsiteX0" fmla="*/ 0 w 1109472"/>
                <a:gd name="connsiteY0" fmla="*/ 4862 h 541310"/>
                <a:gd name="connsiteX1" fmla="*/ 168783 w 1109472"/>
                <a:gd name="connsiteY1" fmla="*/ 290 h 541310"/>
                <a:gd name="connsiteX2" fmla="*/ 347472 w 1109472"/>
                <a:gd name="connsiteY2" fmla="*/ 14387 h 541310"/>
                <a:gd name="connsiteX3" fmla="*/ 561213 w 1109472"/>
                <a:gd name="connsiteY3" fmla="*/ 68870 h 541310"/>
                <a:gd name="connsiteX4" fmla="*/ 745998 w 1109472"/>
                <a:gd name="connsiteY4" fmla="*/ 162977 h 541310"/>
                <a:gd name="connsiteX5" fmla="*/ 902208 w 1109472"/>
                <a:gd name="connsiteY5" fmla="*/ 278420 h 541310"/>
                <a:gd name="connsiteX6" fmla="*/ 1018032 w 1109472"/>
                <a:gd name="connsiteY6" fmla="*/ 413294 h 541310"/>
                <a:gd name="connsiteX7" fmla="*/ 1109472 w 1109472"/>
                <a:gd name="connsiteY7" fmla="*/ 541310 h 541310"/>
                <a:gd name="connsiteX0" fmla="*/ 0 w 1109472"/>
                <a:gd name="connsiteY0" fmla="*/ 10442 h 546890"/>
                <a:gd name="connsiteX1" fmla="*/ 168783 w 1109472"/>
                <a:gd name="connsiteY1" fmla="*/ 155 h 546890"/>
                <a:gd name="connsiteX2" fmla="*/ 347472 w 1109472"/>
                <a:gd name="connsiteY2" fmla="*/ 19967 h 546890"/>
                <a:gd name="connsiteX3" fmla="*/ 561213 w 1109472"/>
                <a:gd name="connsiteY3" fmla="*/ 74450 h 546890"/>
                <a:gd name="connsiteX4" fmla="*/ 745998 w 1109472"/>
                <a:gd name="connsiteY4" fmla="*/ 168557 h 546890"/>
                <a:gd name="connsiteX5" fmla="*/ 902208 w 1109472"/>
                <a:gd name="connsiteY5" fmla="*/ 284000 h 546890"/>
                <a:gd name="connsiteX6" fmla="*/ 1018032 w 1109472"/>
                <a:gd name="connsiteY6" fmla="*/ 418874 h 546890"/>
                <a:gd name="connsiteX7" fmla="*/ 1109472 w 1109472"/>
                <a:gd name="connsiteY7" fmla="*/ 546890 h 546890"/>
                <a:gd name="connsiteX0" fmla="*/ 0 w 1109472"/>
                <a:gd name="connsiteY0" fmla="*/ 16108 h 546841"/>
                <a:gd name="connsiteX1" fmla="*/ 168783 w 1109472"/>
                <a:gd name="connsiteY1" fmla="*/ 106 h 546841"/>
                <a:gd name="connsiteX2" fmla="*/ 347472 w 1109472"/>
                <a:gd name="connsiteY2" fmla="*/ 19918 h 546841"/>
                <a:gd name="connsiteX3" fmla="*/ 561213 w 1109472"/>
                <a:gd name="connsiteY3" fmla="*/ 74401 h 546841"/>
                <a:gd name="connsiteX4" fmla="*/ 745998 w 1109472"/>
                <a:gd name="connsiteY4" fmla="*/ 168508 h 546841"/>
                <a:gd name="connsiteX5" fmla="*/ 902208 w 1109472"/>
                <a:gd name="connsiteY5" fmla="*/ 283951 h 546841"/>
                <a:gd name="connsiteX6" fmla="*/ 1018032 w 1109472"/>
                <a:gd name="connsiteY6" fmla="*/ 418825 h 546841"/>
                <a:gd name="connsiteX7" fmla="*/ 1109472 w 1109472"/>
                <a:gd name="connsiteY7" fmla="*/ 546841 h 546841"/>
                <a:gd name="connsiteX0" fmla="*/ 0 w 1109472"/>
                <a:gd name="connsiteY0" fmla="*/ 8565 h 546918"/>
                <a:gd name="connsiteX1" fmla="*/ 168783 w 1109472"/>
                <a:gd name="connsiteY1" fmla="*/ 183 h 546918"/>
                <a:gd name="connsiteX2" fmla="*/ 347472 w 1109472"/>
                <a:gd name="connsiteY2" fmla="*/ 19995 h 546918"/>
                <a:gd name="connsiteX3" fmla="*/ 561213 w 1109472"/>
                <a:gd name="connsiteY3" fmla="*/ 74478 h 546918"/>
                <a:gd name="connsiteX4" fmla="*/ 745998 w 1109472"/>
                <a:gd name="connsiteY4" fmla="*/ 168585 h 546918"/>
                <a:gd name="connsiteX5" fmla="*/ 902208 w 1109472"/>
                <a:gd name="connsiteY5" fmla="*/ 284028 h 546918"/>
                <a:gd name="connsiteX6" fmla="*/ 1018032 w 1109472"/>
                <a:gd name="connsiteY6" fmla="*/ 418902 h 546918"/>
                <a:gd name="connsiteX7" fmla="*/ 1109472 w 1109472"/>
                <a:gd name="connsiteY7" fmla="*/ 546918 h 546918"/>
                <a:gd name="connsiteX0" fmla="*/ 0 w 1109472"/>
                <a:gd name="connsiteY0" fmla="*/ 9642 h 547995"/>
                <a:gd name="connsiteX1" fmla="*/ 168783 w 1109472"/>
                <a:gd name="connsiteY1" fmla="*/ 1260 h 547995"/>
                <a:gd name="connsiteX2" fmla="*/ 347472 w 1109472"/>
                <a:gd name="connsiteY2" fmla="*/ 21072 h 547995"/>
                <a:gd name="connsiteX3" fmla="*/ 561213 w 1109472"/>
                <a:gd name="connsiteY3" fmla="*/ 75555 h 547995"/>
                <a:gd name="connsiteX4" fmla="*/ 745998 w 1109472"/>
                <a:gd name="connsiteY4" fmla="*/ 169662 h 547995"/>
                <a:gd name="connsiteX5" fmla="*/ 902208 w 1109472"/>
                <a:gd name="connsiteY5" fmla="*/ 285105 h 547995"/>
                <a:gd name="connsiteX6" fmla="*/ 1018032 w 1109472"/>
                <a:gd name="connsiteY6" fmla="*/ 419979 h 547995"/>
                <a:gd name="connsiteX7" fmla="*/ 1109472 w 1109472"/>
                <a:gd name="connsiteY7" fmla="*/ 547995 h 547995"/>
                <a:gd name="connsiteX0" fmla="*/ 0 w 1109472"/>
                <a:gd name="connsiteY0" fmla="*/ 9642 h 547995"/>
                <a:gd name="connsiteX1" fmla="*/ 168783 w 1109472"/>
                <a:gd name="connsiteY1" fmla="*/ 1260 h 547995"/>
                <a:gd name="connsiteX2" fmla="*/ 367792 w 1109472"/>
                <a:gd name="connsiteY2" fmla="*/ 21072 h 547995"/>
                <a:gd name="connsiteX3" fmla="*/ 561213 w 1109472"/>
                <a:gd name="connsiteY3" fmla="*/ 75555 h 547995"/>
                <a:gd name="connsiteX4" fmla="*/ 745998 w 1109472"/>
                <a:gd name="connsiteY4" fmla="*/ 169662 h 547995"/>
                <a:gd name="connsiteX5" fmla="*/ 902208 w 1109472"/>
                <a:gd name="connsiteY5" fmla="*/ 285105 h 547995"/>
                <a:gd name="connsiteX6" fmla="*/ 1018032 w 1109472"/>
                <a:gd name="connsiteY6" fmla="*/ 419979 h 547995"/>
                <a:gd name="connsiteX7" fmla="*/ 1109472 w 1109472"/>
                <a:gd name="connsiteY7" fmla="*/ 547995 h 547995"/>
                <a:gd name="connsiteX0" fmla="*/ 0 w 1109472"/>
                <a:gd name="connsiteY0" fmla="*/ 9642 h 547995"/>
                <a:gd name="connsiteX1" fmla="*/ 168783 w 1109472"/>
                <a:gd name="connsiteY1" fmla="*/ 1260 h 547995"/>
                <a:gd name="connsiteX2" fmla="*/ 367792 w 1109472"/>
                <a:gd name="connsiteY2" fmla="*/ 21072 h 547995"/>
                <a:gd name="connsiteX3" fmla="*/ 561213 w 1109472"/>
                <a:gd name="connsiteY3" fmla="*/ 75555 h 547995"/>
                <a:gd name="connsiteX4" fmla="*/ 745998 w 1109472"/>
                <a:gd name="connsiteY4" fmla="*/ 169662 h 547995"/>
                <a:gd name="connsiteX5" fmla="*/ 902208 w 1109472"/>
                <a:gd name="connsiteY5" fmla="*/ 285105 h 547995"/>
                <a:gd name="connsiteX6" fmla="*/ 1025652 w 1109472"/>
                <a:gd name="connsiteY6" fmla="*/ 419979 h 547995"/>
                <a:gd name="connsiteX7" fmla="*/ 1109472 w 1109472"/>
                <a:gd name="connsiteY7" fmla="*/ 547995 h 547995"/>
                <a:gd name="connsiteX0" fmla="*/ 0 w 1114552"/>
                <a:gd name="connsiteY0" fmla="*/ 9642 h 542915"/>
                <a:gd name="connsiteX1" fmla="*/ 168783 w 1114552"/>
                <a:gd name="connsiteY1" fmla="*/ 1260 h 542915"/>
                <a:gd name="connsiteX2" fmla="*/ 367792 w 1114552"/>
                <a:gd name="connsiteY2" fmla="*/ 21072 h 542915"/>
                <a:gd name="connsiteX3" fmla="*/ 561213 w 1114552"/>
                <a:gd name="connsiteY3" fmla="*/ 75555 h 542915"/>
                <a:gd name="connsiteX4" fmla="*/ 745998 w 1114552"/>
                <a:gd name="connsiteY4" fmla="*/ 169662 h 542915"/>
                <a:gd name="connsiteX5" fmla="*/ 902208 w 1114552"/>
                <a:gd name="connsiteY5" fmla="*/ 285105 h 542915"/>
                <a:gd name="connsiteX6" fmla="*/ 1025652 w 1114552"/>
                <a:gd name="connsiteY6" fmla="*/ 419979 h 542915"/>
                <a:gd name="connsiteX7" fmla="*/ 1114552 w 1114552"/>
                <a:gd name="connsiteY7" fmla="*/ 542915 h 54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4552" h="542915">
                  <a:moveTo>
                    <a:pt x="0" y="9642"/>
                  </a:moveTo>
                  <a:cubicBezTo>
                    <a:pt x="76708" y="-2550"/>
                    <a:pt x="110871" y="-328"/>
                    <a:pt x="168783" y="1260"/>
                  </a:cubicBezTo>
                  <a:cubicBezTo>
                    <a:pt x="226695" y="2848"/>
                    <a:pt x="302387" y="8690"/>
                    <a:pt x="367792" y="21072"/>
                  </a:cubicBezTo>
                  <a:cubicBezTo>
                    <a:pt x="433197" y="33454"/>
                    <a:pt x="494792" y="50790"/>
                    <a:pt x="561213" y="75555"/>
                  </a:cubicBezTo>
                  <a:cubicBezTo>
                    <a:pt x="627634" y="100320"/>
                    <a:pt x="689166" y="134737"/>
                    <a:pt x="745998" y="169662"/>
                  </a:cubicBezTo>
                  <a:cubicBezTo>
                    <a:pt x="802830" y="204587"/>
                    <a:pt x="856869" y="243386"/>
                    <a:pt x="902208" y="285105"/>
                  </a:cubicBezTo>
                  <a:cubicBezTo>
                    <a:pt x="947547" y="326825"/>
                    <a:pt x="989203" y="378069"/>
                    <a:pt x="1025652" y="419979"/>
                  </a:cubicBezTo>
                  <a:cubicBezTo>
                    <a:pt x="1074166" y="476367"/>
                    <a:pt x="1065022" y="471795"/>
                    <a:pt x="1114552" y="542915"/>
                  </a:cubicBezTo>
                </a:path>
              </a:pathLst>
            </a:custGeom>
            <a:noFill/>
            <a:ln w="57150">
              <a:solidFill>
                <a:schemeClr val="tx1"/>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effectLst/>
                <a:latin typeface="+mn-lt"/>
              </a:endParaRPr>
            </a:p>
          </p:txBody>
        </p:sp>
        <p:sp>
          <p:nvSpPr>
            <p:cNvPr id="22" name="Oval 21">
              <a:extLst>
                <a:ext uri="{FF2B5EF4-FFF2-40B4-BE49-F238E27FC236}">
                  <a16:creationId xmlns:a16="http://schemas.microsoft.com/office/drawing/2014/main" id="{3796C49C-52A7-3023-9B34-645ACC8DE764}"/>
                </a:ext>
              </a:extLst>
            </p:cNvPr>
            <p:cNvSpPr/>
            <p:nvPr userDrawn="1"/>
          </p:nvSpPr>
          <p:spPr>
            <a:xfrm>
              <a:off x="6087250" y="2469414"/>
              <a:ext cx="580058" cy="580058"/>
            </a:xfrm>
            <a:prstGeom prst="ellipse">
              <a:avLst/>
            </a:prstGeom>
            <a:noFill/>
            <a:ln w="4699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0">
                <a:effectLst/>
                <a:latin typeface="+mn-lt"/>
              </a:endParaRPr>
            </a:p>
          </p:txBody>
        </p:sp>
        <p:sp>
          <p:nvSpPr>
            <p:cNvPr id="23" name="Oval 22">
              <a:extLst>
                <a:ext uri="{FF2B5EF4-FFF2-40B4-BE49-F238E27FC236}">
                  <a16:creationId xmlns:a16="http://schemas.microsoft.com/office/drawing/2014/main" id="{5D9DF80F-2CE2-60F9-E158-4340D2A2BDCA}"/>
                </a:ext>
              </a:extLst>
            </p:cNvPr>
            <p:cNvSpPr/>
            <p:nvPr userDrawn="1"/>
          </p:nvSpPr>
          <p:spPr>
            <a:xfrm>
              <a:off x="7778396" y="3383191"/>
              <a:ext cx="580058" cy="580058"/>
            </a:xfrm>
            <a:prstGeom prst="ellipse">
              <a:avLst/>
            </a:prstGeom>
            <a:noFill/>
            <a:ln w="4699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0">
                <a:effectLst/>
                <a:latin typeface="+mn-lt"/>
              </a:endParaRPr>
            </a:p>
          </p:txBody>
        </p:sp>
        <p:sp>
          <p:nvSpPr>
            <p:cNvPr id="24" name="Oval 23">
              <a:extLst>
                <a:ext uri="{FF2B5EF4-FFF2-40B4-BE49-F238E27FC236}">
                  <a16:creationId xmlns:a16="http://schemas.microsoft.com/office/drawing/2014/main" id="{31866248-08B8-C847-0F11-3C9E098245EB}"/>
                </a:ext>
              </a:extLst>
            </p:cNvPr>
            <p:cNvSpPr/>
            <p:nvPr userDrawn="1"/>
          </p:nvSpPr>
          <p:spPr>
            <a:xfrm>
              <a:off x="6121605" y="4408774"/>
              <a:ext cx="580058" cy="580058"/>
            </a:xfrm>
            <a:prstGeom prst="ellipse">
              <a:avLst/>
            </a:prstGeom>
            <a:noFill/>
            <a:ln w="4699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0">
                <a:effectLst/>
                <a:latin typeface="+mn-lt"/>
              </a:endParaRPr>
            </a:p>
          </p:txBody>
        </p:sp>
      </p:grpSp>
    </p:spTree>
    <p:extLst>
      <p:ext uri="{BB962C8B-B14F-4D97-AF65-F5344CB8AC3E}">
        <p14:creationId xmlns:p14="http://schemas.microsoft.com/office/powerpoint/2010/main" val="3175942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2" name="Title 17">
            <a:extLst>
              <a:ext uri="{FF2B5EF4-FFF2-40B4-BE49-F238E27FC236}">
                <a16:creationId xmlns:a16="http://schemas.microsoft.com/office/drawing/2014/main" id="{819DE802-D2F8-6776-5CD8-A8A8DD222B4B}"/>
              </a:ext>
            </a:extLst>
          </p:cNvPr>
          <p:cNvSpPr>
            <a:spLocks noGrp="1"/>
          </p:cNvSpPr>
          <p:nvPr>
            <p:ph type="title"/>
          </p:nvPr>
        </p:nvSpPr>
        <p:spPr>
          <a:xfrm>
            <a:off x="385486" y="408953"/>
            <a:ext cx="11421028" cy="864035"/>
          </a:xfrm>
          <a:prstGeom prst="rect">
            <a:avLst/>
          </a:prstGeom>
        </p:spPr>
        <p:txBody>
          <a:bodyPr anchor="t" anchorCtr="0"/>
          <a:lstStyle>
            <a:lvl1pPr>
              <a:defRPr sz="3200">
                <a:solidFill>
                  <a:schemeClr val="tx1"/>
                </a:solidFill>
              </a:defRPr>
            </a:lvl1pPr>
          </a:lstStyle>
          <a:p>
            <a:r>
              <a:rPr lang="en-US"/>
              <a:t>Click to edit Master title style</a:t>
            </a:r>
            <a:endParaRPr lang="en-CA"/>
          </a:p>
        </p:txBody>
      </p:sp>
    </p:spTree>
    <p:extLst>
      <p:ext uri="{BB962C8B-B14F-4D97-AF65-F5344CB8AC3E}">
        <p14:creationId xmlns:p14="http://schemas.microsoft.com/office/powerpoint/2010/main" val="2245525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Only">
    <p:bg>
      <p:bgPr>
        <a:solidFill>
          <a:schemeClr val="bg1"/>
        </a:solidFill>
        <a:effectLst/>
      </p:bgPr>
    </p:bg>
    <p:spTree>
      <p:nvGrpSpPr>
        <p:cNvPr id="1" name=""/>
        <p:cNvGrpSpPr/>
        <p:nvPr/>
      </p:nvGrpSpPr>
      <p:grpSpPr>
        <a:xfrm>
          <a:off x="0" y="0"/>
          <a:ext cx="0" cy="0"/>
          <a:chOff x="0" y="0"/>
          <a:chExt cx="0" cy="0"/>
        </a:xfrm>
      </p:grpSpPr>
      <p:sp>
        <p:nvSpPr>
          <p:cNvPr id="2" name="Title 17">
            <a:extLst>
              <a:ext uri="{FF2B5EF4-FFF2-40B4-BE49-F238E27FC236}">
                <a16:creationId xmlns:a16="http://schemas.microsoft.com/office/drawing/2014/main" id="{819DE802-D2F8-6776-5CD8-A8A8DD222B4B}"/>
              </a:ext>
            </a:extLst>
          </p:cNvPr>
          <p:cNvSpPr>
            <a:spLocks noGrp="1"/>
          </p:cNvSpPr>
          <p:nvPr>
            <p:ph type="title"/>
          </p:nvPr>
        </p:nvSpPr>
        <p:spPr>
          <a:xfrm>
            <a:off x="385486" y="408953"/>
            <a:ext cx="11421028" cy="864035"/>
          </a:xfrm>
          <a:prstGeom prst="rect">
            <a:avLst/>
          </a:prstGeom>
        </p:spPr>
        <p:txBody>
          <a:bodyPr anchor="t" anchorCtr="0"/>
          <a:lstStyle>
            <a:lvl1pPr>
              <a:defRPr sz="3200">
                <a:solidFill>
                  <a:schemeClr val="tx1"/>
                </a:solidFill>
              </a:defRPr>
            </a:lvl1pPr>
          </a:lstStyle>
          <a:p>
            <a:r>
              <a:rPr lang="en-US"/>
              <a:t>Click to edit Master title style</a:t>
            </a:r>
            <a:endParaRPr lang="en-CA"/>
          </a:p>
        </p:txBody>
      </p:sp>
      <p:pic>
        <p:nvPicPr>
          <p:cNvPr id="4" name="Picture 3">
            <a:extLst>
              <a:ext uri="{FF2B5EF4-FFF2-40B4-BE49-F238E27FC236}">
                <a16:creationId xmlns:a16="http://schemas.microsoft.com/office/drawing/2014/main" id="{F61585C5-64C4-3387-1FCE-0D216BE58D2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03697" y="3987879"/>
            <a:ext cx="2147564" cy="2632496"/>
          </a:xfrm>
          <a:prstGeom prst="rect">
            <a:avLst/>
          </a:prstGeom>
        </p:spPr>
      </p:pic>
      <p:pic>
        <p:nvPicPr>
          <p:cNvPr id="6" name="Picture 5">
            <a:extLst>
              <a:ext uri="{FF2B5EF4-FFF2-40B4-BE49-F238E27FC236}">
                <a16:creationId xmlns:a16="http://schemas.microsoft.com/office/drawing/2014/main" id="{87F41BB8-E9FD-55FD-21EB-C261B41A4A7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241844" y="1684869"/>
            <a:ext cx="2402959" cy="2255839"/>
          </a:xfrm>
          <a:prstGeom prst="rect">
            <a:avLst/>
          </a:prstGeom>
        </p:spPr>
      </p:pic>
      <p:pic>
        <p:nvPicPr>
          <p:cNvPr id="8" name="Picture 7">
            <a:extLst>
              <a:ext uri="{FF2B5EF4-FFF2-40B4-BE49-F238E27FC236}">
                <a16:creationId xmlns:a16="http://schemas.microsoft.com/office/drawing/2014/main" id="{130370A1-9227-B962-286B-46EC5C58CE3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03931" y="1739459"/>
            <a:ext cx="1905011" cy="2248420"/>
          </a:xfrm>
          <a:prstGeom prst="rect">
            <a:avLst/>
          </a:prstGeom>
        </p:spPr>
      </p:pic>
      <p:pic>
        <p:nvPicPr>
          <p:cNvPr id="10" name="Picture 9">
            <a:extLst>
              <a:ext uri="{FF2B5EF4-FFF2-40B4-BE49-F238E27FC236}">
                <a16:creationId xmlns:a16="http://schemas.microsoft.com/office/drawing/2014/main" id="{BDC0169E-9D75-29A3-A5E1-5F36F4521598}"/>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81257" y="4136098"/>
            <a:ext cx="2229920" cy="2312949"/>
          </a:xfrm>
          <a:prstGeom prst="rect">
            <a:avLst/>
          </a:prstGeom>
        </p:spPr>
      </p:pic>
    </p:spTree>
    <p:extLst>
      <p:ext uri="{BB962C8B-B14F-4D97-AF65-F5344CB8AC3E}">
        <p14:creationId xmlns:p14="http://schemas.microsoft.com/office/powerpoint/2010/main" val="65447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BB93A15F-2433-C3A1-8D94-80BB6E04BB78}"/>
              </a:ext>
            </a:extLst>
          </p:cNvPr>
          <p:cNvSpPr txBox="1">
            <a:spLocks/>
          </p:cNvSpPr>
          <p:nvPr userDrawn="1"/>
        </p:nvSpPr>
        <p:spPr>
          <a:xfrm>
            <a:off x="5414838" y="1527859"/>
            <a:ext cx="6548563" cy="4694348"/>
          </a:xfrm>
          <a:prstGeom prst="rect">
            <a:avLst/>
          </a:prstGeom>
        </p:spPr>
        <p:txBody>
          <a:bodyPr lIns="324000" rIns="180000"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spcBef>
                <a:spcPts val="3000"/>
              </a:spcBef>
              <a:buClr>
                <a:schemeClr val="tx1">
                  <a:lumMod val="50000"/>
                  <a:lumOff val="50000"/>
                </a:schemeClr>
              </a:buClr>
              <a:buFont typeface="+mj-lt"/>
              <a:buAutoNum type="arabicPeriod"/>
            </a:pPr>
            <a:r>
              <a:rPr lang="en-CA" sz="3200"/>
              <a:t> Vertical automation</a:t>
            </a:r>
            <a:endParaRPr lang="en-CA" sz="3200">
              <a:solidFill>
                <a:schemeClr val="tx1">
                  <a:lumMod val="50000"/>
                  <a:lumOff val="50000"/>
                </a:schemeClr>
              </a:solidFill>
            </a:endParaRPr>
          </a:p>
          <a:p>
            <a:pPr marL="342900" indent="-342900" algn="l">
              <a:spcBef>
                <a:spcPts val="3000"/>
              </a:spcBef>
              <a:buClr>
                <a:schemeClr val="tx1">
                  <a:lumMod val="50000"/>
                  <a:lumOff val="50000"/>
                </a:schemeClr>
              </a:buClr>
              <a:buFont typeface="+mj-lt"/>
              <a:buAutoNum type="arabicPeriod"/>
            </a:pPr>
            <a:r>
              <a:rPr lang="en-CA" sz="3200">
                <a:solidFill>
                  <a:schemeClr val="tx1"/>
                </a:solidFill>
              </a:rPr>
              <a:t> Additively manufactured alloys</a:t>
            </a:r>
            <a:endParaRPr lang="en-CA" sz="3200">
              <a:solidFill>
                <a:schemeClr val="tx1">
                  <a:lumMod val="50000"/>
                  <a:lumOff val="50000"/>
                </a:schemeClr>
              </a:solidFill>
            </a:endParaRPr>
          </a:p>
          <a:p>
            <a:pPr marL="342900" indent="-342900" algn="l">
              <a:spcBef>
                <a:spcPts val="3000"/>
              </a:spcBef>
              <a:buClr>
                <a:schemeClr val="tx1">
                  <a:lumMod val="50000"/>
                  <a:lumOff val="50000"/>
                </a:schemeClr>
              </a:buClr>
              <a:buFont typeface="+mj-lt"/>
              <a:buAutoNum type="arabicPeriod"/>
            </a:pPr>
            <a:r>
              <a:rPr lang="en-CA" sz="3200"/>
              <a:t> Advanced optimization</a:t>
            </a:r>
            <a:endParaRPr lang="en-CA" sz="3200">
              <a:solidFill>
                <a:schemeClr val="bg1">
                  <a:lumMod val="50000"/>
                </a:schemeClr>
              </a:solidFill>
            </a:endParaRPr>
          </a:p>
        </p:txBody>
      </p:sp>
      <p:pic>
        <p:nvPicPr>
          <p:cNvPr id="2" name="Picture 1">
            <a:extLst>
              <a:ext uri="{FF2B5EF4-FFF2-40B4-BE49-F238E27FC236}">
                <a16:creationId xmlns:a16="http://schemas.microsoft.com/office/drawing/2014/main" id="{82162DC2-770A-C1F9-8BFE-6107B3363429}"/>
              </a:ext>
            </a:extLst>
          </p:cNvPr>
          <p:cNvPicPr>
            <a:picLocks noChangeAspect="1"/>
          </p:cNvPicPr>
          <p:nvPr userDrawn="1"/>
        </p:nvPicPr>
        <p:blipFill>
          <a:blip r:embed="rId2"/>
          <a:stretch>
            <a:fillRect/>
          </a:stretch>
        </p:blipFill>
        <p:spPr>
          <a:xfrm>
            <a:off x="1839759" y="2118124"/>
            <a:ext cx="3026095" cy="3513817"/>
          </a:xfrm>
          <a:prstGeom prst="rect">
            <a:avLst/>
          </a:prstGeom>
        </p:spPr>
      </p:pic>
    </p:spTree>
    <p:extLst>
      <p:ext uri="{BB962C8B-B14F-4D97-AF65-F5344CB8AC3E}">
        <p14:creationId xmlns:p14="http://schemas.microsoft.com/office/powerpoint/2010/main" val="1135509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6797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content">
    <p:bg>
      <p:bgPr>
        <a:solidFill>
          <a:schemeClr val="bg1"/>
        </a:solidFill>
        <a:effectLst/>
      </p:bgPr>
    </p:bg>
    <p:spTree>
      <p:nvGrpSpPr>
        <p:cNvPr id="1" name=""/>
        <p:cNvGrpSpPr/>
        <p:nvPr/>
      </p:nvGrpSpPr>
      <p:grpSpPr>
        <a:xfrm>
          <a:off x="0" y="0"/>
          <a:ext cx="0" cy="0"/>
          <a:chOff x="0" y="0"/>
          <a:chExt cx="0" cy="0"/>
        </a:xfrm>
      </p:grpSpPr>
      <p:sp>
        <p:nvSpPr>
          <p:cNvPr id="2" name="Title 17">
            <a:extLst>
              <a:ext uri="{FF2B5EF4-FFF2-40B4-BE49-F238E27FC236}">
                <a16:creationId xmlns:a16="http://schemas.microsoft.com/office/drawing/2014/main" id="{819DE802-D2F8-6776-5CD8-A8A8DD222B4B}"/>
              </a:ext>
            </a:extLst>
          </p:cNvPr>
          <p:cNvSpPr>
            <a:spLocks noGrp="1"/>
          </p:cNvSpPr>
          <p:nvPr>
            <p:ph type="title"/>
          </p:nvPr>
        </p:nvSpPr>
        <p:spPr>
          <a:xfrm>
            <a:off x="385486" y="408953"/>
            <a:ext cx="11421028" cy="864035"/>
          </a:xfrm>
          <a:prstGeom prst="rect">
            <a:avLst/>
          </a:prstGeom>
        </p:spPr>
        <p:txBody>
          <a:bodyPr anchor="t" anchorCtr="0"/>
          <a:lstStyle>
            <a:lvl1pPr>
              <a:defRPr sz="3200">
                <a:solidFill>
                  <a:schemeClr val="tx1"/>
                </a:solidFill>
              </a:defRPr>
            </a:lvl1pPr>
          </a:lstStyle>
          <a:p>
            <a:r>
              <a:rPr lang="en-US"/>
              <a:t>Click to edit Master title style</a:t>
            </a:r>
            <a:endParaRPr lang="en-CA"/>
          </a:p>
        </p:txBody>
      </p:sp>
      <p:sp>
        <p:nvSpPr>
          <p:cNvPr id="5" name="Content Placeholder 2">
            <a:extLst>
              <a:ext uri="{FF2B5EF4-FFF2-40B4-BE49-F238E27FC236}">
                <a16:creationId xmlns:a16="http://schemas.microsoft.com/office/drawing/2014/main" id="{810EE577-F868-D5D1-AD97-AC04612A9467}"/>
              </a:ext>
            </a:extLst>
          </p:cNvPr>
          <p:cNvSpPr>
            <a:spLocks noGrp="1"/>
          </p:cNvSpPr>
          <p:nvPr>
            <p:ph idx="1"/>
          </p:nvPr>
        </p:nvSpPr>
        <p:spPr>
          <a:xfrm>
            <a:off x="385485" y="1272989"/>
            <a:ext cx="11421027" cy="4868115"/>
          </a:xfrm>
        </p:spPr>
        <p:txBody>
          <a:bodyPr/>
          <a:lstStyle>
            <a:lvl1pPr marL="228600" indent="-228600">
              <a:buClr>
                <a:schemeClr val="bg1"/>
              </a:buClr>
              <a:buFont typeface="Aptos" panose="020B0004020202020204" pitchFamily="34" charset="0"/>
              <a:buChar char="‌"/>
              <a:defRPr sz="2400">
                <a:solidFill>
                  <a:schemeClr val="tx1"/>
                </a:solidFill>
              </a:defRPr>
            </a:lvl1pPr>
            <a:lvl2pPr marL="685800" indent="-228600">
              <a:buClr>
                <a:schemeClr val="bg1"/>
              </a:buClr>
              <a:buFont typeface="Aptos" panose="020B0004020202020204" pitchFamily="34" charset="0"/>
              <a:buChar char="‌"/>
              <a:defRPr sz="2000">
                <a:solidFill>
                  <a:schemeClr val="tx1"/>
                </a:solidFill>
              </a:defRPr>
            </a:lvl2pPr>
            <a:lvl3pPr marL="1143000" indent="-228600">
              <a:buClr>
                <a:schemeClr val="bg1"/>
              </a:buClr>
              <a:buFont typeface="Aptos" panose="020B0004020202020204" pitchFamily="34" charset="0"/>
              <a:buChar char="‌"/>
              <a:defRPr sz="1800">
                <a:solidFill>
                  <a:schemeClr val="tx1"/>
                </a:solidFill>
              </a:defRPr>
            </a:lvl3pPr>
            <a:lvl4pPr marL="1600200" indent="-228600">
              <a:buClr>
                <a:schemeClr val="bg1"/>
              </a:buClr>
              <a:buFont typeface="Aptos" panose="020B0004020202020204" pitchFamily="34" charset="0"/>
              <a:buChar char="‌"/>
              <a:defRPr sz="1600">
                <a:solidFill>
                  <a:schemeClr val="tx1"/>
                </a:solidFill>
              </a:defRPr>
            </a:lvl4pPr>
            <a:lvl5pPr marL="2057400" indent="-228600">
              <a:buClr>
                <a:schemeClr val="bg1"/>
              </a:buClr>
              <a:buFont typeface="Aptos" panose="020B0004020202020204" pitchFamily="34" charset="0"/>
              <a:buChar cha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547237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0879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Blank">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1118550"/>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_Quote_Lon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74CE54C-EDC5-7697-9750-79172C72984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20E0F55C-DBBC-DB34-DC7D-17C621C5D1B5}"/>
              </a:ext>
            </a:extLst>
          </p:cNvPr>
          <p:cNvSpPr>
            <a:spLocks noGrp="1"/>
          </p:cNvSpPr>
          <p:nvPr>
            <p:ph type="title"/>
          </p:nvPr>
        </p:nvSpPr>
        <p:spPr>
          <a:xfrm>
            <a:off x="1110318" y="3429000"/>
            <a:ext cx="9971364" cy="643404"/>
          </a:xfrm>
          <a:prstGeom prst="rect">
            <a:avLst/>
          </a:prstGeom>
        </p:spPr>
        <p:txBody>
          <a:bodyPr anchor="b"/>
          <a:lstStyle>
            <a:lvl1pPr>
              <a:lnSpc>
                <a:spcPct val="150000"/>
              </a:lnSpc>
              <a:defRPr sz="2800" b="0" i="0">
                <a:solidFill>
                  <a:schemeClr val="bg1"/>
                </a:solidFill>
                <a:latin typeface="Rubik" panose="02000604000000020004" pitchFamily="2" charset="-79"/>
              </a:defRPr>
            </a:lvl1pPr>
          </a:lstStyle>
          <a:p>
            <a:r>
              <a:rPr lang="en-US"/>
              <a:t>Click to edit Master title style</a:t>
            </a:r>
            <a:endParaRPr lang="en-CA"/>
          </a:p>
        </p:txBody>
      </p:sp>
      <p:sp>
        <p:nvSpPr>
          <p:cNvPr id="4" name="Footer Placeholder 3">
            <a:extLst>
              <a:ext uri="{FF2B5EF4-FFF2-40B4-BE49-F238E27FC236}">
                <a16:creationId xmlns:a16="http://schemas.microsoft.com/office/drawing/2014/main" id="{DEFB1CF9-666E-5B46-654F-496C416FE3FF}"/>
              </a:ext>
            </a:extLst>
          </p:cNvPr>
          <p:cNvSpPr>
            <a:spLocks noGrp="1"/>
          </p:cNvSpPr>
          <p:nvPr>
            <p:ph type="ftr" sz="quarter" idx="11"/>
          </p:nvPr>
        </p:nvSpPr>
        <p:spPr>
          <a:xfrm>
            <a:off x="498432" y="6333245"/>
            <a:ext cx="11173375" cy="365125"/>
          </a:xfrm>
          <a:prstGeom prst="rect">
            <a:avLst/>
          </a:prstGeom>
        </p:spPr>
        <p:txBody>
          <a:bodyPr/>
          <a:lstStyle/>
          <a:p>
            <a:endParaRPr lang="en-CA"/>
          </a:p>
        </p:txBody>
      </p:sp>
      <p:sp>
        <p:nvSpPr>
          <p:cNvPr id="5" name="Slide Number Placeholder 4">
            <a:extLst>
              <a:ext uri="{FF2B5EF4-FFF2-40B4-BE49-F238E27FC236}">
                <a16:creationId xmlns:a16="http://schemas.microsoft.com/office/drawing/2014/main" id="{17661AB8-062E-E481-F841-9C0B78F1A536}"/>
              </a:ext>
            </a:extLst>
          </p:cNvPr>
          <p:cNvSpPr>
            <a:spLocks noGrp="1"/>
          </p:cNvSpPr>
          <p:nvPr>
            <p:ph type="sldNum" sz="quarter" idx="12"/>
          </p:nvPr>
        </p:nvSpPr>
        <p:spPr>
          <a:xfrm>
            <a:off x="11806512" y="6340402"/>
            <a:ext cx="385488" cy="365124"/>
          </a:xfrm>
          <a:prstGeom prst="rect">
            <a:avLst/>
          </a:prstGeom>
        </p:spPr>
        <p:txBody>
          <a:bodyPr/>
          <a:lstStyle/>
          <a:p>
            <a:fld id="{0645393A-235C-445C-AD8B-799520A9F52F}" type="slidenum">
              <a:rPr lang="en-CA" smtClean="0"/>
              <a:pPr/>
              <a:t>‹#›</a:t>
            </a:fld>
            <a:endParaRPr lang="en-CA"/>
          </a:p>
        </p:txBody>
      </p:sp>
      <p:cxnSp>
        <p:nvCxnSpPr>
          <p:cNvPr id="9" name="Straight Connector 8">
            <a:extLst>
              <a:ext uri="{FF2B5EF4-FFF2-40B4-BE49-F238E27FC236}">
                <a16:creationId xmlns:a16="http://schemas.microsoft.com/office/drawing/2014/main" id="{FD903BC1-3773-2C1B-ADDD-290B0120C472}"/>
              </a:ext>
            </a:extLst>
          </p:cNvPr>
          <p:cNvCxnSpPr>
            <a:cxnSpLocks/>
          </p:cNvCxnSpPr>
          <p:nvPr/>
        </p:nvCxnSpPr>
        <p:spPr>
          <a:xfrm>
            <a:off x="7156450" y="4438650"/>
            <a:ext cx="32385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ext Placeholder 11">
            <a:extLst>
              <a:ext uri="{FF2B5EF4-FFF2-40B4-BE49-F238E27FC236}">
                <a16:creationId xmlns:a16="http://schemas.microsoft.com/office/drawing/2014/main" id="{752C156A-626B-4A31-4C19-C4D7706B8165}"/>
              </a:ext>
            </a:extLst>
          </p:cNvPr>
          <p:cNvSpPr>
            <a:spLocks noGrp="1"/>
          </p:cNvSpPr>
          <p:nvPr>
            <p:ph type="body" sz="quarter" idx="13"/>
          </p:nvPr>
        </p:nvSpPr>
        <p:spPr>
          <a:xfrm>
            <a:off x="7612767" y="4230245"/>
            <a:ext cx="3468916" cy="416809"/>
          </a:xfrm>
        </p:spPr>
        <p:txBody>
          <a:bodyPr anchor="ctr"/>
          <a:lstStyle>
            <a:lvl1pPr marL="0" indent="0">
              <a:buNone/>
              <a:defRPr sz="1800" b="1">
                <a:solidFill>
                  <a:schemeClr val="bg1"/>
                </a:solidFill>
              </a:defRPr>
            </a:lvl1pPr>
            <a:lvl2pPr marL="457200" indent="0">
              <a:buNone/>
              <a:defRPr sz="1800" b="1">
                <a:solidFill>
                  <a:schemeClr val="bg1"/>
                </a:solidFill>
              </a:defRPr>
            </a:lvl2pPr>
            <a:lvl3pPr marL="914400" indent="0">
              <a:buNone/>
              <a:defRPr sz="1800" b="1">
                <a:solidFill>
                  <a:schemeClr val="bg1"/>
                </a:solidFill>
              </a:defRPr>
            </a:lvl3pPr>
            <a:lvl4pPr marL="1371600" indent="0">
              <a:buNone/>
              <a:defRPr sz="1800" b="1">
                <a:solidFill>
                  <a:schemeClr val="bg1"/>
                </a:solidFill>
              </a:defRPr>
            </a:lvl4pPr>
            <a:lvl5pPr marL="1828800" indent="0">
              <a:buNone/>
              <a:defRPr sz="1800" b="1">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235430739"/>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Title Only">
    <p:bg>
      <p:bgPr>
        <a:solidFill>
          <a:schemeClr val="bg1"/>
        </a:solidFill>
        <a:effectLst/>
      </p:bgPr>
    </p:bg>
    <p:spTree>
      <p:nvGrpSpPr>
        <p:cNvPr id="1" name=""/>
        <p:cNvGrpSpPr/>
        <p:nvPr/>
      </p:nvGrpSpPr>
      <p:grpSpPr>
        <a:xfrm>
          <a:off x="0" y="0"/>
          <a:ext cx="0" cy="0"/>
          <a:chOff x="0" y="0"/>
          <a:chExt cx="0" cy="0"/>
        </a:xfrm>
      </p:grpSpPr>
      <p:sp>
        <p:nvSpPr>
          <p:cNvPr id="2" name="Title 17">
            <a:extLst>
              <a:ext uri="{FF2B5EF4-FFF2-40B4-BE49-F238E27FC236}">
                <a16:creationId xmlns:a16="http://schemas.microsoft.com/office/drawing/2014/main" id="{819DE802-D2F8-6776-5CD8-A8A8DD222B4B}"/>
              </a:ext>
            </a:extLst>
          </p:cNvPr>
          <p:cNvSpPr>
            <a:spLocks noGrp="1"/>
          </p:cNvSpPr>
          <p:nvPr>
            <p:ph type="title"/>
          </p:nvPr>
        </p:nvSpPr>
        <p:spPr>
          <a:xfrm>
            <a:off x="385486" y="408953"/>
            <a:ext cx="11421028" cy="864035"/>
          </a:xfrm>
          <a:prstGeom prst="rect">
            <a:avLst/>
          </a:prstGeom>
        </p:spPr>
        <p:txBody>
          <a:bodyPr anchor="t" anchorCtr="0"/>
          <a:lstStyle>
            <a:lvl1pPr>
              <a:defRPr sz="3200">
                <a:solidFill>
                  <a:schemeClr val="tx1"/>
                </a:solidFill>
              </a:defRPr>
            </a:lvl1pPr>
          </a:lstStyle>
          <a:p>
            <a:r>
              <a:rPr lang="en-US"/>
              <a:t>Click to edit Master title style</a:t>
            </a:r>
            <a:endParaRPr lang="en-CA"/>
          </a:p>
        </p:txBody>
      </p:sp>
    </p:spTree>
    <p:extLst>
      <p:ext uri="{BB962C8B-B14F-4D97-AF65-F5344CB8AC3E}">
        <p14:creationId xmlns:p14="http://schemas.microsoft.com/office/powerpoint/2010/main" val="22981847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A4B39215-C2C8-07F3-B45C-B365654D7D41}"/>
              </a:ext>
            </a:extLst>
          </p:cNvPr>
          <p:cNvSpPr txBox="1">
            <a:spLocks/>
          </p:cNvSpPr>
          <p:nvPr userDrawn="1"/>
        </p:nvSpPr>
        <p:spPr>
          <a:xfrm>
            <a:off x="0" y="479612"/>
            <a:ext cx="12192000" cy="1267907"/>
          </a:xfrm>
          <a:prstGeom prst="rect">
            <a:avLst/>
          </a:prstGeom>
        </p:spPr>
        <p:txBody>
          <a:bodyPr anchor="t" anchorCtr="0">
            <a:noAutofit/>
          </a:bodyPr>
          <a:lstStyle>
            <a:lvl1pPr algn="ctr"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algn="l"/>
            <a:r>
              <a:rPr lang="en-CA" b="0" dirty="0"/>
              <a:t>	Let’s discover high-performing alloys</a:t>
            </a:r>
            <a:br>
              <a:rPr lang="en-CA" b="0" dirty="0"/>
            </a:br>
            <a:r>
              <a:rPr lang="en-CA" b="0" dirty="0"/>
              <a:t>	10x faster with AI at a tenth of the cost</a:t>
            </a:r>
            <a:br>
              <a:rPr lang="en-CA" b="0" dirty="0"/>
            </a:br>
            <a:r>
              <a:rPr lang="en-CA" b="0" dirty="0"/>
              <a:t>	</a:t>
            </a:r>
            <a:r>
              <a:rPr lang="en-CA" b="0" dirty="0">
                <a:solidFill>
                  <a:schemeClr val="bg1">
                    <a:lumMod val="50000"/>
                  </a:schemeClr>
                </a:solidFill>
              </a:rPr>
              <a:t>+ vertical cloud labs and frugal twins</a:t>
            </a:r>
          </a:p>
        </p:txBody>
      </p:sp>
    </p:spTree>
    <p:extLst>
      <p:ext uri="{BB962C8B-B14F-4D97-AF65-F5344CB8AC3E}">
        <p14:creationId xmlns:p14="http://schemas.microsoft.com/office/powerpoint/2010/main" val="22916143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0" r:id="rId3"/>
    <p:sldLayoutId id="2147483663" r:id="rId4"/>
    <p:sldLayoutId id="2147483664" r:id="rId5"/>
    <p:sldLayoutId id="2147483665" r:id="rId6"/>
    <p:sldLayoutId id="2147483666" r:id="rId7"/>
    <p:sldLayoutId id="2147483667" r:id="rId8"/>
    <p:sldLayoutId id="2147483668" r:id="rId9"/>
    <p:sldLayoutId id="2147483669"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ideo" Target="https://www.youtube.com/embed/1wce-mB69mE?feature=oembed" TargetMode="External"/><Relationship Id="rId4" Type="http://schemas.openxmlformats.org/officeDocument/2006/relationships/image" Target="../media/image1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video" Target="https://www.youtube.com/embed/8gtvxYZ0GIg?feature=oembed" TargetMode="External"/><Relationship Id="rId7" Type="http://schemas.openxmlformats.org/officeDocument/2006/relationships/image" Target="../media/image13.jpe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2.png"/><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2.mp4"/><Relationship Id="rId1" Type="http://schemas.openxmlformats.org/officeDocument/2006/relationships/video" Target="NULL" TargetMode="External"/><Relationship Id="rId6" Type="http://schemas.openxmlformats.org/officeDocument/2006/relationships/image" Target="../media/image10.jpeg"/><Relationship Id="rId5" Type="http://schemas.openxmlformats.org/officeDocument/2006/relationships/image" Target="../media/image1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7.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27EEA-AC2C-8A2B-90C0-683BC24C6980}"/>
              </a:ext>
            </a:extLst>
          </p:cNvPr>
          <p:cNvSpPr>
            <a:spLocks noGrp="1"/>
          </p:cNvSpPr>
          <p:nvPr>
            <p:ph type="title"/>
          </p:nvPr>
        </p:nvSpPr>
        <p:spPr>
          <a:xfrm>
            <a:off x="293207" y="383786"/>
            <a:ext cx="11421028" cy="864035"/>
          </a:xfrm>
        </p:spPr>
        <p:txBody>
          <a:bodyPr/>
          <a:lstStyle/>
          <a:p>
            <a:r>
              <a:rPr lang="en-US" dirty="0"/>
              <a:t>Let’s build better tensegrity structures faster</a:t>
            </a:r>
          </a:p>
        </p:txBody>
      </p:sp>
      <p:pic>
        <p:nvPicPr>
          <p:cNvPr id="4" name="Picture 3">
            <a:extLst>
              <a:ext uri="{FF2B5EF4-FFF2-40B4-BE49-F238E27FC236}">
                <a16:creationId xmlns:a16="http://schemas.microsoft.com/office/drawing/2014/main" id="{ECFCE079-07E6-AF29-17F0-F233118E7424}"/>
              </a:ext>
            </a:extLst>
          </p:cNvPr>
          <p:cNvPicPr>
            <a:picLocks noChangeAspect="1"/>
          </p:cNvPicPr>
          <p:nvPr/>
        </p:nvPicPr>
        <p:blipFill>
          <a:blip r:embed="rId3"/>
          <a:stretch>
            <a:fillRect/>
          </a:stretch>
        </p:blipFill>
        <p:spPr>
          <a:xfrm>
            <a:off x="7916116" y="3248213"/>
            <a:ext cx="3473629" cy="1111307"/>
          </a:xfrm>
          <a:prstGeom prst="rect">
            <a:avLst/>
          </a:prstGeom>
        </p:spPr>
      </p:pic>
      <p:sp>
        <p:nvSpPr>
          <p:cNvPr id="5" name="TextBox 4">
            <a:extLst>
              <a:ext uri="{FF2B5EF4-FFF2-40B4-BE49-F238E27FC236}">
                <a16:creationId xmlns:a16="http://schemas.microsoft.com/office/drawing/2014/main" id="{4502DB55-8C5C-7CEF-944E-F1511EC04D98}"/>
              </a:ext>
            </a:extLst>
          </p:cNvPr>
          <p:cNvSpPr txBox="1"/>
          <p:nvPr/>
        </p:nvSpPr>
        <p:spPr>
          <a:xfrm>
            <a:off x="7841202" y="2324883"/>
            <a:ext cx="3548543" cy="923330"/>
          </a:xfrm>
          <a:prstGeom prst="rect">
            <a:avLst/>
          </a:prstGeom>
          <a:noFill/>
        </p:spPr>
        <p:txBody>
          <a:bodyPr wrap="square" rtlCol="0">
            <a:spAutoFit/>
          </a:bodyPr>
          <a:lstStyle/>
          <a:p>
            <a:pPr algn="ctr"/>
            <a:r>
              <a:rPr lang="en-US" dirty="0"/>
              <a:t>Marcus Madsen</a:t>
            </a:r>
          </a:p>
          <a:p>
            <a:pPr algn="ctr"/>
            <a:r>
              <a:rPr lang="en-US" dirty="0"/>
              <a:t>Undergraduate researcher under Sterling Baird, Ph.D.</a:t>
            </a:r>
          </a:p>
        </p:txBody>
      </p:sp>
      <p:sp>
        <p:nvSpPr>
          <p:cNvPr id="7" name="TextBox 6">
            <a:extLst>
              <a:ext uri="{FF2B5EF4-FFF2-40B4-BE49-F238E27FC236}">
                <a16:creationId xmlns:a16="http://schemas.microsoft.com/office/drawing/2014/main" id="{2ED4209F-D35E-0D1D-23D4-258A86B1FCA7}"/>
              </a:ext>
            </a:extLst>
          </p:cNvPr>
          <p:cNvSpPr txBox="1"/>
          <p:nvPr/>
        </p:nvSpPr>
        <p:spPr>
          <a:xfrm>
            <a:off x="7916116" y="4359520"/>
            <a:ext cx="3548543" cy="369332"/>
          </a:xfrm>
          <a:prstGeom prst="rect">
            <a:avLst/>
          </a:prstGeom>
          <a:noFill/>
        </p:spPr>
        <p:txBody>
          <a:bodyPr wrap="square" rtlCol="0">
            <a:spAutoFit/>
          </a:bodyPr>
          <a:lstStyle/>
          <a:p>
            <a:pPr algn="ctr"/>
            <a:r>
              <a:rPr lang="en-US" dirty="0"/>
              <a:t>IDETC 2026</a:t>
            </a:r>
          </a:p>
        </p:txBody>
      </p:sp>
      <p:pic>
        <p:nvPicPr>
          <p:cNvPr id="9" name="Picture 8">
            <a:extLst>
              <a:ext uri="{FF2B5EF4-FFF2-40B4-BE49-F238E27FC236}">
                <a16:creationId xmlns:a16="http://schemas.microsoft.com/office/drawing/2014/main" id="{FC24CD1F-58CF-3E72-F886-D7A44CA5C2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1467" y="1615232"/>
            <a:ext cx="5294489" cy="3970867"/>
          </a:xfrm>
          <a:prstGeom prst="rect">
            <a:avLst/>
          </a:prstGeom>
        </p:spPr>
      </p:pic>
    </p:spTree>
    <p:extLst>
      <p:ext uri="{BB962C8B-B14F-4D97-AF65-F5344CB8AC3E}">
        <p14:creationId xmlns:p14="http://schemas.microsoft.com/office/powerpoint/2010/main" val="580679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725DF-2B01-BBCD-94E5-D3706932319F}"/>
              </a:ext>
            </a:extLst>
          </p:cNvPr>
          <p:cNvSpPr>
            <a:spLocks noGrp="1"/>
          </p:cNvSpPr>
          <p:nvPr>
            <p:ph type="title"/>
          </p:nvPr>
        </p:nvSpPr>
        <p:spPr/>
        <p:txBody>
          <a:bodyPr/>
          <a:lstStyle/>
          <a:p>
            <a:r>
              <a:rPr lang="en-US" dirty="0"/>
              <a:t>Tensegrity provides robust, reusable, solutions to issues posed by planetary landings—and to problems closer to home.</a:t>
            </a:r>
          </a:p>
        </p:txBody>
      </p:sp>
      <p:pic>
        <p:nvPicPr>
          <p:cNvPr id="6" name="Online Media 5" title="Human Exploration Telerobotics 2 (HET2) SUPERball Bot Task NIAC Mission concept">
            <a:hlinkClick r:id="" action="ppaction://media"/>
            <a:extLst>
              <a:ext uri="{FF2B5EF4-FFF2-40B4-BE49-F238E27FC236}">
                <a16:creationId xmlns:a16="http://schemas.microsoft.com/office/drawing/2014/main" id="{E3C35B58-196B-552D-6031-562BAEC726AC}"/>
              </a:ext>
            </a:extLst>
          </p:cNvPr>
          <p:cNvPicPr>
            <a:picLocks noRot="1" noChangeAspect="1"/>
          </p:cNvPicPr>
          <p:nvPr>
            <a:videoFile r:link="rId1"/>
          </p:nvPr>
        </p:nvPicPr>
        <p:blipFill>
          <a:blip r:embed="rId4"/>
          <a:stretch>
            <a:fillRect/>
          </a:stretch>
        </p:blipFill>
        <p:spPr>
          <a:xfrm>
            <a:off x="0" y="1789118"/>
            <a:ext cx="8971472" cy="5068882"/>
          </a:xfrm>
          <a:prstGeom prst="rect">
            <a:avLst/>
          </a:prstGeom>
        </p:spPr>
      </p:pic>
    </p:spTree>
    <p:extLst>
      <p:ext uri="{BB962C8B-B14F-4D97-AF65-F5344CB8AC3E}">
        <p14:creationId xmlns:p14="http://schemas.microsoft.com/office/powerpoint/2010/main" val="3662329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F909B-24C8-FC51-398F-326221C1F28B}"/>
              </a:ext>
            </a:extLst>
          </p:cNvPr>
          <p:cNvSpPr>
            <a:spLocks noGrp="1"/>
          </p:cNvSpPr>
          <p:nvPr>
            <p:ph type="title"/>
          </p:nvPr>
        </p:nvSpPr>
        <p:spPr/>
        <p:txBody>
          <a:bodyPr/>
          <a:lstStyle/>
          <a:p>
            <a:r>
              <a:rPr lang="en-US" dirty="0"/>
              <a:t>Could use a slide to talk about why tensegrity is useful (i.e. avoiding mechanical ware due to struts isolated in sea of tensile moments)</a:t>
            </a:r>
          </a:p>
        </p:txBody>
      </p:sp>
      <p:sp>
        <p:nvSpPr>
          <p:cNvPr id="3" name="TextBox 2">
            <a:extLst>
              <a:ext uri="{FF2B5EF4-FFF2-40B4-BE49-F238E27FC236}">
                <a16:creationId xmlns:a16="http://schemas.microsoft.com/office/drawing/2014/main" id="{4DA472FC-6C6F-7A28-5ED1-8E40131AF5E6}"/>
              </a:ext>
            </a:extLst>
          </p:cNvPr>
          <p:cNvSpPr txBox="1"/>
          <p:nvPr/>
        </p:nvSpPr>
        <p:spPr>
          <a:xfrm>
            <a:off x="2167466" y="2551837"/>
            <a:ext cx="1930400" cy="1754326"/>
          </a:xfrm>
          <a:prstGeom prst="rect">
            <a:avLst/>
          </a:prstGeom>
          <a:noFill/>
        </p:spPr>
        <p:txBody>
          <a:bodyPr wrap="square" rtlCol="0">
            <a:spAutoFit/>
          </a:bodyPr>
          <a:lstStyle/>
          <a:p>
            <a:r>
              <a:rPr lang="en-US" dirty="0"/>
              <a:t>*a gif showing an elbow joint bending back and forth to indicate mechanical grinding friction*</a:t>
            </a:r>
          </a:p>
        </p:txBody>
      </p:sp>
      <p:sp>
        <p:nvSpPr>
          <p:cNvPr id="5" name="TextBox 4">
            <a:extLst>
              <a:ext uri="{FF2B5EF4-FFF2-40B4-BE49-F238E27FC236}">
                <a16:creationId xmlns:a16="http://schemas.microsoft.com/office/drawing/2014/main" id="{595CF2C9-2CB5-064E-D777-A791C150E4E2}"/>
              </a:ext>
            </a:extLst>
          </p:cNvPr>
          <p:cNvSpPr txBox="1"/>
          <p:nvPr/>
        </p:nvSpPr>
        <p:spPr>
          <a:xfrm>
            <a:off x="8094134" y="2551837"/>
            <a:ext cx="1930400" cy="2031325"/>
          </a:xfrm>
          <a:prstGeom prst="rect">
            <a:avLst/>
          </a:prstGeom>
          <a:noFill/>
        </p:spPr>
        <p:txBody>
          <a:bodyPr wrap="square" rtlCol="0">
            <a:spAutoFit/>
          </a:bodyPr>
          <a:lstStyle/>
          <a:p>
            <a:r>
              <a:rPr lang="en-US" dirty="0"/>
              <a:t>*Gif showing tensegrity part being squished to indicate part can stay in elastic region under applied stress*</a:t>
            </a:r>
          </a:p>
        </p:txBody>
      </p:sp>
    </p:spTree>
    <p:extLst>
      <p:ext uri="{BB962C8B-B14F-4D97-AF65-F5344CB8AC3E}">
        <p14:creationId xmlns:p14="http://schemas.microsoft.com/office/powerpoint/2010/main" val="2688556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AdobeStock_207717222">
            <a:hlinkClick r:id="" action="ppaction://media"/>
            <a:extLst>
              <a:ext uri="{FF2B5EF4-FFF2-40B4-BE49-F238E27FC236}">
                <a16:creationId xmlns:a16="http://schemas.microsoft.com/office/drawing/2014/main" id="{EAEEB212-2D94-BC53-4C5F-790AD31132E3}"/>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7275768" y="2732092"/>
            <a:ext cx="3638025" cy="2046389"/>
          </a:xfrm>
          <a:prstGeom prst="rect">
            <a:avLst/>
          </a:prstGeom>
        </p:spPr>
      </p:pic>
      <p:sp>
        <p:nvSpPr>
          <p:cNvPr id="2" name="Title 1">
            <a:extLst>
              <a:ext uri="{FF2B5EF4-FFF2-40B4-BE49-F238E27FC236}">
                <a16:creationId xmlns:a16="http://schemas.microsoft.com/office/drawing/2014/main" id="{E520566D-7C68-D713-F451-3D1AF0D6D9E2}"/>
              </a:ext>
            </a:extLst>
          </p:cNvPr>
          <p:cNvSpPr>
            <a:spLocks noGrp="1"/>
          </p:cNvSpPr>
          <p:nvPr>
            <p:ph type="title"/>
          </p:nvPr>
        </p:nvSpPr>
        <p:spPr/>
        <p:txBody>
          <a:bodyPr/>
          <a:lstStyle/>
          <a:p>
            <a:r>
              <a:rPr lang="en-US" dirty="0"/>
              <a:t>Currently, tensegrity design is slow and resource intensive.</a:t>
            </a:r>
          </a:p>
        </p:txBody>
      </p:sp>
      <p:pic>
        <p:nvPicPr>
          <p:cNvPr id="3" name="Online Media 2" title="How to build a Tensegrity Model - LATTC">
            <a:hlinkClick r:id="" action="ppaction://media"/>
            <a:extLst>
              <a:ext uri="{FF2B5EF4-FFF2-40B4-BE49-F238E27FC236}">
                <a16:creationId xmlns:a16="http://schemas.microsoft.com/office/drawing/2014/main" id="{D889C1E9-10DD-C346-AF37-2A05B1770965}"/>
              </a:ext>
            </a:extLst>
          </p:cNvPr>
          <p:cNvPicPr>
            <a:picLocks noRot="1" noChangeAspect="1"/>
          </p:cNvPicPr>
          <p:nvPr>
            <a:videoFile r:link="rId3"/>
          </p:nvPr>
        </p:nvPicPr>
        <p:blipFill>
          <a:blip r:embed="rId7"/>
          <a:stretch>
            <a:fillRect/>
          </a:stretch>
        </p:blipFill>
        <p:spPr>
          <a:xfrm>
            <a:off x="450235" y="1676193"/>
            <a:ext cx="4851633" cy="3638725"/>
          </a:xfrm>
          <a:prstGeom prst="rect">
            <a:avLst/>
          </a:prstGeom>
        </p:spPr>
      </p:pic>
      <p:sp>
        <p:nvSpPr>
          <p:cNvPr id="4" name="TextBox 3">
            <a:extLst>
              <a:ext uri="{FF2B5EF4-FFF2-40B4-BE49-F238E27FC236}">
                <a16:creationId xmlns:a16="http://schemas.microsoft.com/office/drawing/2014/main" id="{EB6A7FEF-B553-FD40-3AF1-6C3CFA512C7B}"/>
              </a:ext>
            </a:extLst>
          </p:cNvPr>
          <p:cNvSpPr txBox="1"/>
          <p:nvPr/>
        </p:nvSpPr>
        <p:spPr>
          <a:xfrm>
            <a:off x="8444963" y="1676193"/>
            <a:ext cx="1989615" cy="584775"/>
          </a:xfrm>
          <a:prstGeom prst="rect">
            <a:avLst/>
          </a:prstGeom>
          <a:noFill/>
        </p:spPr>
        <p:txBody>
          <a:bodyPr wrap="square" rtlCol="0">
            <a:spAutoFit/>
          </a:bodyPr>
          <a:lstStyle/>
          <a:p>
            <a:r>
              <a:rPr lang="en-US" sz="3200" dirty="0"/>
              <a:t>Iteration</a:t>
            </a:r>
          </a:p>
        </p:txBody>
      </p:sp>
      <p:sp>
        <p:nvSpPr>
          <p:cNvPr id="6" name="TextBox 5">
            <a:extLst>
              <a:ext uri="{FF2B5EF4-FFF2-40B4-BE49-F238E27FC236}">
                <a16:creationId xmlns:a16="http://schemas.microsoft.com/office/drawing/2014/main" id="{F472E982-33D2-0EF9-84D1-3BA0041244B7}"/>
              </a:ext>
            </a:extLst>
          </p:cNvPr>
          <p:cNvSpPr txBox="1"/>
          <p:nvPr/>
        </p:nvSpPr>
        <p:spPr>
          <a:xfrm>
            <a:off x="9674286" y="4636303"/>
            <a:ext cx="1989615" cy="584775"/>
          </a:xfrm>
          <a:prstGeom prst="rect">
            <a:avLst/>
          </a:prstGeom>
          <a:noFill/>
        </p:spPr>
        <p:txBody>
          <a:bodyPr wrap="square" rtlCol="0">
            <a:spAutoFit/>
          </a:bodyPr>
          <a:lstStyle/>
          <a:p>
            <a:r>
              <a:rPr lang="en-US" sz="3200" dirty="0"/>
              <a:t>Building</a:t>
            </a:r>
          </a:p>
        </p:txBody>
      </p:sp>
      <p:sp>
        <p:nvSpPr>
          <p:cNvPr id="8" name="TextBox 7">
            <a:extLst>
              <a:ext uri="{FF2B5EF4-FFF2-40B4-BE49-F238E27FC236}">
                <a16:creationId xmlns:a16="http://schemas.microsoft.com/office/drawing/2014/main" id="{6036A19F-5848-0AD1-2CDB-7DF630FB9C8C}"/>
              </a:ext>
            </a:extLst>
          </p:cNvPr>
          <p:cNvSpPr txBox="1"/>
          <p:nvPr/>
        </p:nvSpPr>
        <p:spPr>
          <a:xfrm>
            <a:off x="6484662" y="4512512"/>
            <a:ext cx="1989615" cy="584775"/>
          </a:xfrm>
          <a:prstGeom prst="rect">
            <a:avLst/>
          </a:prstGeom>
          <a:noFill/>
        </p:spPr>
        <p:txBody>
          <a:bodyPr wrap="square" rtlCol="0">
            <a:spAutoFit/>
          </a:bodyPr>
          <a:lstStyle/>
          <a:p>
            <a:r>
              <a:rPr lang="en-US" sz="3200" dirty="0"/>
              <a:t>Testing</a:t>
            </a:r>
          </a:p>
        </p:txBody>
      </p:sp>
      <p:pic>
        <p:nvPicPr>
          <p:cNvPr id="15" name="Picture 14">
            <a:extLst>
              <a:ext uri="{FF2B5EF4-FFF2-40B4-BE49-F238E27FC236}">
                <a16:creationId xmlns:a16="http://schemas.microsoft.com/office/drawing/2014/main" id="{B4BF7CDE-8E37-F236-680D-478C6E23AEA4}"/>
              </a:ext>
            </a:extLst>
          </p:cNvPr>
          <p:cNvPicPr>
            <a:picLocks noChangeAspect="1"/>
          </p:cNvPicPr>
          <p:nvPr/>
        </p:nvPicPr>
        <p:blipFill>
          <a:blip r:embed="rId8"/>
          <a:stretch>
            <a:fillRect/>
          </a:stretch>
        </p:blipFill>
        <p:spPr>
          <a:xfrm rot="1008590">
            <a:off x="7857891" y="5097287"/>
            <a:ext cx="2166954" cy="1119353"/>
          </a:xfrm>
          <a:prstGeom prst="rect">
            <a:avLst/>
          </a:prstGeom>
        </p:spPr>
      </p:pic>
      <p:pic>
        <p:nvPicPr>
          <p:cNvPr id="17" name="Picture 16">
            <a:extLst>
              <a:ext uri="{FF2B5EF4-FFF2-40B4-BE49-F238E27FC236}">
                <a16:creationId xmlns:a16="http://schemas.microsoft.com/office/drawing/2014/main" id="{B375467E-686C-E66F-8182-20E0BA5E87FA}"/>
              </a:ext>
            </a:extLst>
          </p:cNvPr>
          <p:cNvPicPr>
            <a:picLocks noChangeAspect="1"/>
          </p:cNvPicPr>
          <p:nvPr/>
        </p:nvPicPr>
        <p:blipFill>
          <a:blip r:embed="rId8"/>
          <a:stretch>
            <a:fillRect/>
          </a:stretch>
        </p:blipFill>
        <p:spPr>
          <a:xfrm rot="7748499">
            <a:off x="6395992" y="2589527"/>
            <a:ext cx="2166954" cy="1119353"/>
          </a:xfrm>
          <a:prstGeom prst="rect">
            <a:avLst/>
          </a:prstGeom>
        </p:spPr>
      </p:pic>
      <p:pic>
        <p:nvPicPr>
          <p:cNvPr id="19" name="Picture 18">
            <a:extLst>
              <a:ext uri="{FF2B5EF4-FFF2-40B4-BE49-F238E27FC236}">
                <a16:creationId xmlns:a16="http://schemas.microsoft.com/office/drawing/2014/main" id="{DA485992-7BA5-A715-B2DB-648B94244F02}"/>
              </a:ext>
            </a:extLst>
          </p:cNvPr>
          <p:cNvPicPr>
            <a:picLocks noChangeAspect="1"/>
          </p:cNvPicPr>
          <p:nvPr/>
        </p:nvPicPr>
        <p:blipFill>
          <a:blip r:embed="rId8"/>
          <a:stretch>
            <a:fillRect/>
          </a:stretch>
        </p:blipFill>
        <p:spPr>
          <a:xfrm rot="16200000">
            <a:off x="9910778" y="2715746"/>
            <a:ext cx="2166954" cy="1119353"/>
          </a:xfrm>
          <a:prstGeom prst="rect">
            <a:avLst/>
          </a:prstGeom>
        </p:spPr>
      </p:pic>
    </p:spTree>
    <p:extLst>
      <p:ext uri="{BB962C8B-B14F-4D97-AF65-F5344CB8AC3E}">
        <p14:creationId xmlns:p14="http://schemas.microsoft.com/office/powerpoint/2010/main" val="3455777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par>
                          <p:cTn id="7" fill="hold">
                            <p:stCondLst>
                              <p:cond delay="1"/>
                            </p:stCondLst>
                            <p:childTnLst>
                              <p:par>
                                <p:cTn id="8" presetID="1" presetClass="mediacall" presetSubtype="0" fill="hold" nodeType="afterEffect">
                                  <p:stCondLst>
                                    <p:cond delay="0"/>
                                  </p:stCondLst>
                                  <p:childTnLst>
                                    <p:cmd type="call" cmd="playFrom(0.0)">
                                      <p:cBhvr>
                                        <p:cTn id="9" dur="794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0" fill="hold" display="0">
                  <p:stCondLst>
                    <p:cond delay="indefinite"/>
                  </p:stCondLst>
                </p:cTn>
                <p:tgtEl>
                  <p:spTgt spid="3"/>
                </p:tgtEl>
              </p:cMediaNode>
            </p:video>
            <p:seq concurrent="1" nextAc="seek">
              <p:cTn id="11" restart="whenNotActive" fill="hold" evtFilter="cancelBubble" nodeType="interactiveSeq">
                <p:stCondLst>
                  <p:cond evt="onClick" delay="0">
                    <p:tgtEl>
                      <p:spTgt spid="3"/>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3"/>
                                        </p:tgtEl>
                                      </p:cBhvr>
                                    </p:cmd>
                                  </p:childTnLst>
                                </p:cTn>
                              </p:par>
                            </p:childTnLst>
                          </p:cTn>
                        </p:par>
                      </p:childTnLst>
                    </p:cTn>
                  </p:par>
                </p:childTnLst>
              </p:cTn>
              <p:nextCondLst>
                <p:cond evt="onClick" delay="0">
                  <p:tgtEl>
                    <p:spTgt spid="3"/>
                  </p:tgtEl>
                </p:cond>
              </p:nextCondLst>
            </p:seq>
            <p:video>
              <p:cMediaNode vol="80000" mute="1">
                <p:cTn id="16" fill="hold" display="0">
                  <p:stCondLst>
                    <p:cond delay="indefinite"/>
                  </p:stCondLst>
                </p:cTn>
                <p:tgtEl>
                  <p:spTgt spid="13"/>
                </p:tgtEl>
              </p:cMediaNode>
            </p:video>
            <p:seq concurrent="1" nextAc="seek">
              <p:cTn id="17" restart="whenNotActive" fill="hold" evtFilter="cancelBubble" nodeType="interactiveSeq">
                <p:stCondLst>
                  <p:cond evt="onClick" delay="0">
                    <p:tgtEl>
                      <p:spTgt spid="13"/>
                    </p:tgtEl>
                  </p:cond>
                </p:stCondLst>
                <p:endSync evt="end" delay="0">
                  <p:rtn val="all"/>
                </p:endSync>
                <p:childTnLst>
                  <p:par>
                    <p:cTn id="18" fill="hold">
                      <p:stCondLst>
                        <p:cond delay="0"/>
                      </p:stCondLst>
                      <p:childTnLst>
                        <p:par>
                          <p:cTn id="19" fill="hold">
                            <p:stCondLst>
                              <p:cond delay="0"/>
                            </p:stCondLst>
                            <p:childTnLst>
                              <p:par>
                                <p:cTn id="20" presetID="2" presetClass="mediacall" presetSubtype="0" fill="hold" nodeType="clickEffect">
                                  <p:stCondLst>
                                    <p:cond delay="0"/>
                                  </p:stCondLst>
                                  <p:childTnLst>
                                    <p:cmd type="call" cmd="togglePause">
                                      <p:cBhvr>
                                        <p:cTn id="21" dur="1" fill="hold"/>
                                        <p:tgtEl>
                                          <p:spTgt spid="13"/>
                                        </p:tgtEl>
                                      </p:cBhvr>
                                    </p:cmd>
                                  </p:childTnLst>
                                </p:cTn>
                              </p:par>
                            </p:childTnLst>
                          </p:cTn>
                        </p:par>
                      </p:childTnLst>
                    </p:cTn>
                  </p:par>
                </p:childTnLst>
              </p:cTn>
              <p:nextCondLst>
                <p:cond evt="onClick" delay="0">
                  <p:tgtEl>
                    <p:spTgt spid="13"/>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087B1-086D-C093-9E69-B06052742727}"/>
              </a:ext>
            </a:extLst>
          </p:cNvPr>
          <p:cNvSpPr>
            <a:spLocks noGrp="1"/>
          </p:cNvSpPr>
          <p:nvPr>
            <p:ph type="title"/>
          </p:nvPr>
        </p:nvSpPr>
        <p:spPr/>
        <p:txBody>
          <a:bodyPr/>
          <a:lstStyle/>
          <a:p>
            <a:r>
              <a:rPr lang="en-US" dirty="0"/>
              <a:t>Bayesian Optimization makes physical experimentation affordable.</a:t>
            </a:r>
          </a:p>
        </p:txBody>
      </p:sp>
      <p:grpSp>
        <p:nvGrpSpPr>
          <p:cNvPr id="3" name="Group 2">
            <a:extLst>
              <a:ext uri="{FF2B5EF4-FFF2-40B4-BE49-F238E27FC236}">
                <a16:creationId xmlns:a16="http://schemas.microsoft.com/office/drawing/2014/main" id="{B86BDBD8-6CAC-A5DA-146F-38AB5C56736D}"/>
              </a:ext>
            </a:extLst>
          </p:cNvPr>
          <p:cNvGrpSpPr/>
          <p:nvPr/>
        </p:nvGrpSpPr>
        <p:grpSpPr>
          <a:xfrm>
            <a:off x="420477" y="1945830"/>
            <a:ext cx="11351045" cy="3310553"/>
            <a:chOff x="824975" y="2050876"/>
            <a:chExt cx="10351260" cy="3290730"/>
          </a:xfrm>
        </p:grpSpPr>
        <p:pic>
          <p:nvPicPr>
            <p:cNvPr id="4" name="Picture 3">
              <a:extLst>
                <a:ext uri="{FF2B5EF4-FFF2-40B4-BE49-F238E27FC236}">
                  <a16:creationId xmlns:a16="http://schemas.microsoft.com/office/drawing/2014/main" id="{15656748-9C79-265B-72F1-25D78A434A16}"/>
                </a:ext>
              </a:extLst>
            </p:cNvPr>
            <p:cNvPicPr>
              <a:picLocks noChangeAspect="1"/>
            </p:cNvPicPr>
            <p:nvPr/>
          </p:nvPicPr>
          <p:blipFill>
            <a:blip r:embed="rId3">
              <a:clrChange>
                <a:clrFrom>
                  <a:srgbClr val="FFFFFF"/>
                </a:clrFrom>
                <a:clrTo>
                  <a:srgbClr val="FFFFFF">
                    <a:alpha val="0"/>
                  </a:srgbClr>
                </a:clrTo>
              </a:clrChange>
            </a:blip>
            <a:srcRect l="8814" b="10394"/>
            <a:stretch/>
          </p:blipFill>
          <p:spPr>
            <a:xfrm>
              <a:off x="2275840" y="2050876"/>
              <a:ext cx="5928914" cy="2837121"/>
            </a:xfrm>
            <a:prstGeom prst="rect">
              <a:avLst/>
            </a:prstGeom>
            <a:solidFill>
              <a:schemeClr val="bg1"/>
            </a:solidFill>
          </p:spPr>
        </p:pic>
        <p:grpSp>
          <p:nvGrpSpPr>
            <p:cNvPr id="5" name="Group 4">
              <a:extLst>
                <a:ext uri="{FF2B5EF4-FFF2-40B4-BE49-F238E27FC236}">
                  <a16:creationId xmlns:a16="http://schemas.microsoft.com/office/drawing/2014/main" id="{B3EFE118-7BD5-7018-EFB5-854367442EF9}"/>
                </a:ext>
              </a:extLst>
            </p:cNvPr>
            <p:cNvGrpSpPr/>
            <p:nvPr/>
          </p:nvGrpSpPr>
          <p:grpSpPr>
            <a:xfrm>
              <a:off x="7076618" y="3095825"/>
              <a:ext cx="4099617" cy="1739022"/>
              <a:chOff x="8199415" y="2828691"/>
              <a:chExt cx="4093671" cy="1736500"/>
            </a:xfrm>
          </p:grpSpPr>
          <p:sp>
            <p:nvSpPr>
              <p:cNvPr id="11" name="Rectangle 10">
                <a:extLst>
                  <a:ext uri="{FF2B5EF4-FFF2-40B4-BE49-F238E27FC236}">
                    <a16:creationId xmlns:a16="http://schemas.microsoft.com/office/drawing/2014/main" id="{98376692-8E03-F44B-558C-4BFA5DD6527B}"/>
                  </a:ext>
                </a:extLst>
              </p:cNvPr>
              <p:cNvSpPr/>
              <p:nvPr/>
            </p:nvSpPr>
            <p:spPr>
              <a:xfrm>
                <a:off x="8644821" y="4042730"/>
                <a:ext cx="3648265" cy="522461"/>
              </a:xfrm>
              <a:prstGeom prst="rect">
                <a:avLst/>
              </a:prstGeom>
              <a:noFill/>
            </p:spPr>
            <p:txBody>
              <a:bodyPr wrap="none" lIns="91440" tIns="45720" rIns="91440" bIns="45720">
                <a:spAutoFit/>
              </a:bodyPr>
              <a:lstStyle/>
              <a:p>
                <a:pPr algn="ctr"/>
                <a:r>
                  <a:rPr lang="en-US" sz="2800" cap="none" spc="0">
                    <a:ln w="0"/>
                    <a:solidFill>
                      <a:srgbClr val="0716DF"/>
                    </a:solidFill>
                  </a:rPr>
                  <a:t>Bayesian Optimization</a:t>
                </a:r>
              </a:p>
            </p:txBody>
          </p:sp>
          <p:sp>
            <p:nvSpPr>
              <p:cNvPr id="12" name="Arrow: Curved Left 11">
                <a:extLst>
                  <a:ext uri="{FF2B5EF4-FFF2-40B4-BE49-F238E27FC236}">
                    <a16:creationId xmlns:a16="http://schemas.microsoft.com/office/drawing/2014/main" id="{3BE6A6CB-7CCC-924E-9DCF-DCC2FF8CAF48}"/>
                  </a:ext>
                </a:extLst>
              </p:cNvPr>
              <p:cNvSpPr/>
              <p:nvPr/>
            </p:nvSpPr>
            <p:spPr>
              <a:xfrm>
                <a:off x="8199415" y="3235322"/>
                <a:ext cx="393196" cy="1143224"/>
              </a:xfrm>
              <a:prstGeom prst="curvedLef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13" name="Rectangle 12">
                <a:extLst>
                  <a:ext uri="{FF2B5EF4-FFF2-40B4-BE49-F238E27FC236}">
                    <a16:creationId xmlns:a16="http://schemas.microsoft.com/office/drawing/2014/main" id="{67DF754E-D22F-F7BD-0420-EF305A078872}"/>
                  </a:ext>
                </a:extLst>
              </p:cNvPr>
              <p:cNvSpPr/>
              <p:nvPr/>
            </p:nvSpPr>
            <p:spPr>
              <a:xfrm>
                <a:off x="8772406" y="2828691"/>
                <a:ext cx="3316888" cy="885921"/>
              </a:xfrm>
              <a:prstGeom prst="rect">
                <a:avLst/>
              </a:prstGeom>
              <a:noFill/>
            </p:spPr>
            <p:txBody>
              <a:bodyPr wrap="none" lIns="91440" tIns="45720" rIns="91440" bIns="45720">
                <a:spAutoFit/>
              </a:bodyPr>
              <a:lstStyle/>
              <a:p>
                <a:pPr algn="ctr"/>
                <a:r>
                  <a:rPr lang="en-US" sz="2800" cap="none" spc="0" dirty="0">
                    <a:ln w="0"/>
                    <a:solidFill>
                      <a:srgbClr val="7E6C76"/>
                    </a:solidFill>
                  </a:rPr>
                  <a:t>Design of Experiments</a:t>
                </a:r>
              </a:p>
              <a:p>
                <a:pPr algn="ctr"/>
                <a:r>
                  <a:rPr lang="en-US" sz="2400" cap="none" spc="0" dirty="0">
                    <a:ln w="0"/>
                    <a:solidFill>
                      <a:srgbClr val="7E6C76"/>
                    </a:solidFill>
                  </a:rPr>
                  <a:t>(Traditional)</a:t>
                </a:r>
              </a:p>
            </p:txBody>
          </p:sp>
        </p:grpSp>
        <p:sp>
          <p:nvSpPr>
            <p:cNvPr id="6" name="Rectangle 5">
              <a:extLst>
                <a:ext uri="{FF2B5EF4-FFF2-40B4-BE49-F238E27FC236}">
                  <a16:creationId xmlns:a16="http://schemas.microsoft.com/office/drawing/2014/main" id="{88136CE2-9841-EE39-BFB4-D16A42A87F5D}"/>
                </a:ext>
              </a:extLst>
            </p:cNvPr>
            <p:cNvSpPr/>
            <p:nvPr/>
          </p:nvSpPr>
          <p:spPr>
            <a:xfrm>
              <a:off x="3231696" y="5023416"/>
              <a:ext cx="3008820" cy="318190"/>
            </a:xfrm>
            <a:prstGeom prst="rect">
              <a:avLst/>
            </a:prstGeom>
            <a:solidFill>
              <a:schemeClr val="bg1"/>
            </a:solidFill>
          </p:spPr>
          <p:txBody>
            <a:bodyPr wrap="none" lIns="0" tIns="0" rIns="0" bIns="0">
              <a:noAutofit/>
            </a:bodyPr>
            <a:lstStyle/>
            <a:p>
              <a:pPr algn="ctr"/>
              <a:r>
                <a:rPr lang="en-US" sz="2000" cap="none" spc="0">
                  <a:ln w="0"/>
                  <a:solidFill>
                    <a:schemeClr val="tx1"/>
                  </a:solidFill>
                </a:rPr>
                <a:t>Experiment #</a:t>
              </a: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D1B6E511-D7FE-4F87-65E2-7484019BB7F6}"/>
                    </a:ext>
                  </a:extLst>
                </p:cNvPr>
                <p:cNvSpPr/>
                <p:nvPr/>
              </p:nvSpPr>
              <p:spPr>
                <a:xfrm>
                  <a:off x="824975" y="3095825"/>
                  <a:ext cx="1371148" cy="738664"/>
                </a:xfrm>
                <a:prstGeom prst="rect">
                  <a:avLst/>
                </a:prstGeom>
                <a:noFill/>
              </p:spPr>
              <p:txBody>
                <a:bodyPr wrap="none" lIns="0" tIns="0" rIns="0" bIns="0">
                  <a:noAutofit/>
                </a:bodyPr>
                <a:lstStyle/>
                <a:p>
                  <a:r>
                    <a:rPr lang="en-US" sz="2000" cap="none" spc="0">
                      <a:ln w="0"/>
                      <a:solidFill>
                        <a:schemeClr val="tx1"/>
                      </a:solidFill>
                    </a:rPr>
                    <a:t>Property</a:t>
                  </a:r>
                </a:p>
                <a:p>
                  <a:r>
                    <a:rPr lang="en-US" sz="2000" cap="none" spc="0">
                      <a:ln w="0"/>
                      <a:solidFill>
                        <a:schemeClr val="bg1">
                          <a:lumMod val="50000"/>
                        </a:schemeClr>
                      </a:solidFill>
                      <a:ea typeface="Cambria Math" panose="02040503050406030204" pitchFamily="18" charset="0"/>
                    </a:rPr>
                    <a:t>(</a:t>
                  </a:r>
                  <a14:m>
                    <m:oMath xmlns:m="http://schemas.openxmlformats.org/officeDocument/2006/math">
                      <m:r>
                        <a:rPr lang="en-US" sz="2000" i="1" cap="none" spc="0" smtClean="0">
                          <a:ln w="0"/>
                          <a:solidFill>
                            <a:schemeClr val="bg1">
                              <a:lumMod val="50000"/>
                            </a:schemeClr>
                          </a:solidFill>
                          <a:latin typeface="Cambria Math" panose="02040503050406030204" pitchFamily="18" charset="0"/>
                          <a:ea typeface="Cambria Math" panose="02040503050406030204" pitchFamily="18" charset="0"/>
                        </a:rPr>
                        <m:t>↓</m:t>
                      </m:r>
                    </m:oMath>
                  </a14:m>
                  <a:r>
                    <a:rPr lang="en-US" sz="2000" cap="none" spc="0">
                      <a:ln w="0"/>
                      <a:solidFill>
                        <a:schemeClr val="bg1">
                          <a:lumMod val="50000"/>
                        </a:schemeClr>
                      </a:solidFill>
                    </a:rPr>
                    <a:t> is better)</a:t>
                  </a:r>
                </a:p>
              </p:txBody>
            </p:sp>
          </mc:Choice>
          <mc:Fallback xmlns="">
            <p:sp>
              <p:nvSpPr>
                <p:cNvPr id="10" name="Rectangle 9">
                  <a:extLst>
                    <a:ext uri="{FF2B5EF4-FFF2-40B4-BE49-F238E27FC236}">
                      <a16:creationId xmlns:a16="http://schemas.microsoft.com/office/drawing/2014/main" id="{7FA9CA78-00AB-FCCE-DAC4-85CCDDC3F8D0}"/>
                    </a:ext>
                  </a:extLst>
                </p:cNvPr>
                <p:cNvSpPr>
                  <a:spLocks noRot="1" noChangeAspect="1" noMove="1" noResize="1" noEditPoints="1" noAdjustHandles="1" noChangeArrowheads="1" noChangeShapeType="1" noTextEdit="1"/>
                </p:cNvSpPr>
                <p:nvPr/>
              </p:nvSpPr>
              <p:spPr>
                <a:xfrm>
                  <a:off x="824975" y="3095825"/>
                  <a:ext cx="1371148" cy="738664"/>
                </a:xfrm>
                <a:prstGeom prst="rect">
                  <a:avLst/>
                </a:prstGeom>
                <a:blipFill>
                  <a:blip r:embed="rId4"/>
                  <a:stretch>
                    <a:fillRect l="-11111" t="-11712" r="-1333" b="-13514"/>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7D86FCE3-1792-14AD-AEDC-42DC800F8555}"/>
                </a:ext>
              </a:extLst>
            </p:cNvPr>
            <p:cNvSpPr/>
            <p:nvPr/>
          </p:nvSpPr>
          <p:spPr>
            <a:xfrm>
              <a:off x="7076618" y="2110835"/>
              <a:ext cx="1053707" cy="984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TextBox 8">
              <a:extLst>
                <a:ext uri="{FF2B5EF4-FFF2-40B4-BE49-F238E27FC236}">
                  <a16:creationId xmlns:a16="http://schemas.microsoft.com/office/drawing/2014/main" id="{EFF9038E-61E1-93FD-25A2-68FA7BA6CA05}"/>
                </a:ext>
              </a:extLst>
            </p:cNvPr>
            <p:cNvSpPr txBox="1"/>
            <p:nvPr/>
          </p:nvSpPr>
          <p:spPr>
            <a:xfrm>
              <a:off x="2283275" y="4834106"/>
              <a:ext cx="308098" cy="369332"/>
            </a:xfrm>
            <a:prstGeom prst="rect">
              <a:avLst/>
            </a:prstGeom>
            <a:noFill/>
          </p:spPr>
          <p:txBody>
            <a:bodyPr wrap="none" rtlCol="0">
              <a:spAutoFit/>
            </a:bodyPr>
            <a:lstStyle/>
            <a:p>
              <a:r>
                <a:rPr lang="en-US"/>
                <a:t>0</a:t>
              </a:r>
            </a:p>
          </p:txBody>
        </p:sp>
        <p:sp>
          <p:nvSpPr>
            <p:cNvPr id="10" name="TextBox 9">
              <a:extLst>
                <a:ext uri="{FF2B5EF4-FFF2-40B4-BE49-F238E27FC236}">
                  <a16:creationId xmlns:a16="http://schemas.microsoft.com/office/drawing/2014/main" id="{9FCD09E3-A226-AC74-6E49-10AF7C15065B}"/>
                </a:ext>
              </a:extLst>
            </p:cNvPr>
            <p:cNvSpPr txBox="1"/>
            <p:nvPr/>
          </p:nvSpPr>
          <p:spPr>
            <a:xfrm>
              <a:off x="6782760" y="4838305"/>
              <a:ext cx="431528" cy="369332"/>
            </a:xfrm>
            <a:prstGeom prst="rect">
              <a:avLst/>
            </a:prstGeom>
            <a:noFill/>
          </p:spPr>
          <p:txBody>
            <a:bodyPr wrap="none" rtlCol="0">
              <a:spAutoFit/>
            </a:bodyPr>
            <a:lstStyle/>
            <a:p>
              <a:r>
                <a:rPr lang="en-US"/>
                <a:t>50</a:t>
              </a:r>
            </a:p>
          </p:txBody>
        </p:sp>
      </p:grpSp>
      <p:sp>
        <p:nvSpPr>
          <p:cNvPr id="15" name="TextBox 14">
            <a:extLst>
              <a:ext uri="{FF2B5EF4-FFF2-40B4-BE49-F238E27FC236}">
                <a16:creationId xmlns:a16="http://schemas.microsoft.com/office/drawing/2014/main" id="{80CDFE7B-B49D-5A33-6A6D-4CB9FDAA26C8}"/>
              </a:ext>
            </a:extLst>
          </p:cNvPr>
          <p:cNvSpPr txBox="1"/>
          <p:nvPr/>
        </p:nvSpPr>
        <p:spPr>
          <a:xfrm>
            <a:off x="6359082" y="5929225"/>
            <a:ext cx="3495634" cy="461665"/>
          </a:xfrm>
          <a:prstGeom prst="rect">
            <a:avLst/>
          </a:prstGeom>
          <a:noFill/>
        </p:spPr>
        <p:txBody>
          <a:bodyPr wrap="square">
            <a:spAutoFit/>
          </a:bodyPr>
          <a:lstStyle/>
          <a:p>
            <a:r>
              <a:rPr lang="da-DK" sz="2400" dirty="0">
                <a:solidFill>
                  <a:schemeClr val="bg1">
                    <a:lumMod val="50000"/>
                  </a:schemeClr>
                </a:solidFill>
              </a:rPr>
              <a:t>Baird et al. </a:t>
            </a:r>
            <a:r>
              <a:rPr lang="da-DK" sz="2400" i="1" dirty="0">
                <a:solidFill>
                  <a:schemeClr val="bg1">
                    <a:lumMod val="50000"/>
                  </a:schemeClr>
                </a:solidFill>
              </a:rPr>
              <a:t>Matter</a:t>
            </a:r>
            <a:r>
              <a:rPr lang="da-DK" sz="2400" dirty="0">
                <a:solidFill>
                  <a:schemeClr val="bg1">
                    <a:lumMod val="50000"/>
                  </a:schemeClr>
                </a:solidFill>
              </a:rPr>
              <a:t> (2022)</a:t>
            </a:r>
          </a:p>
        </p:txBody>
      </p:sp>
    </p:spTree>
    <p:extLst>
      <p:ext uri="{BB962C8B-B14F-4D97-AF65-F5344CB8AC3E}">
        <p14:creationId xmlns:p14="http://schemas.microsoft.com/office/powerpoint/2010/main" val="1472609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FFB8F-B351-62DC-D45F-D2117582515B}"/>
              </a:ext>
            </a:extLst>
          </p:cNvPr>
          <p:cNvSpPr>
            <a:spLocks noGrp="1"/>
          </p:cNvSpPr>
          <p:nvPr>
            <p:ph type="title"/>
          </p:nvPr>
        </p:nvSpPr>
        <p:spPr/>
        <p:txBody>
          <a:bodyPr/>
          <a:lstStyle/>
          <a:p>
            <a:r>
              <a:rPr lang="en-US" dirty="0"/>
              <a:t>Model calibration and testing are costly, so we need to be careful about what specimens we choose.</a:t>
            </a:r>
          </a:p>
        </p:txBody>
      </p:sp>
      <p:sp>
        <p:nvSpPr>
          <p:cNvPr id="3" name="TextBox 2">
            <a:extLst>
              <a:ext uri="{FF2B5EF4-FFF2-40B4-BE49-F238E27FC236}">
                <a16:creationId xmlns:a16="http://schemas.microsoft.com/office/drawing/2014/main" id="{41C1AEA4-57A7-5CB8-3420-5AA99595D838}"/>
              </a:ext>
            </a:extLst>
          </p:cNvPr>
          <p:cNvSpPr txBox="1"/>
          <p:nvPr/>
        </p:nvSpPr>
        <p:spPr>
          <a:xfrm>
            <a:off x="4703233" y="2650067"/>
            <a:ext cx="2785533" cy="1754326"/>
          </a:xfrm>
          <a:prstGeom prst="rect">
            <a:avLst/>
          </a:prstGeom>
          <a:noFill/>
        </p:spPr>
        <p:txBody>
          <a:bodyPr wrap="square" rtlCol="0">
            <a:spAutoFit/>
          </a:bodyPr>
          <a:lstStyle/>
          <a:p>
            <a:r>
              <a:rPr lang="en-US" dirty="0"/>
              <a:t>*Image over white of two separate T-3 prisms with obviously different characteristics (different size, tendon diameters, etc.)</a:t>
            </a:r>
          </a:p>
        </p:txBody>
      </p:sp>
    </p:spTree>
    <p:extLst>
      <p:ext uri="{BB962C8B-B14F-4D97-AF65-F5344CB8AC3E}">
        <p14:creationId xmlns:p14="http://schemas.microsoft.com/office/powerpoint/2010/main" val="2193407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72616-6F1D-2923-2477-FA26F1CB60BB}"/>
              </a:ext>
            </a:extLst>
          </p:cNvPr>
          <p:cNvSpPr>
            <a:spLocks noGrp="1"/>
          </p:cNvSpPr>
          <p:nvPr>
            <p:ph type="title"/>
          </p:nvPr>
        </p:nvSpPr>
        <p:spPr/>
        <p:txBody>
          <a:bodyPr/>
          <a:lstStyle/>
          <a:p>
            <a:r>
              <a:rPr lang="en-US" dirty="0"/>
              <a:t>Bayesian optimization makes physical experimentation affordable, even with limited, noisy data.</a:t>
            </a:r>
          </a:p>
        </p:txBody>
      </p:sp>
      <p:sp>
        <p:nvSpPr>
          <p:cNvPr id="6" name="TextBox 5">
            <a:extLst>
              <a:ext uri="{FF2B5EF4-FFF2-40B4-BE49-F238E27FC236}">
                <a16:creationId xmlns:a16="http://schemas.microsoft.com/office/drawing/2014/main" id="{A39931E4-F45C-3902-2B71-4D4BAB5AE0A5}"/>
              </a:ext>
            </a:extLst>
          </p:cNvPr>
          <p:cNvSpPr txBox="1"/>
          <p:nvPr/>
        </p:nvSpPr>
        <p:spPr>
          <a:xfrm>
            <a:off x="965201" y="3429000"/>
            <a:ext cx="1701800" cy="369332"/>
          </a:xfrm>
          <a:prstGeom prst="rect">
            <a:avLst/>
          </a:prstGeom>
          <a:noFill/>
        </p:spPr>
        <p:txBody>
          <a:bodyPr wrap="square" rtlCol="0">
            <a:spAutoFit/>
          </a:bodyPr>
          <a:lstStyle/>
          <a:p>
            <a:r>
              <a:rPr lang="en-US" dirty="0"/>
              <a:t>6 variables</a:t>
            </a:r>
          </a:p>
        </p:txBody>
      </p:sp>
      <p:sp>
        <p:nvSpPr>
          <p:cNvPr id="8" name="TextBox 7">
            <a:extLst>
              <a:ext uri="{FF2B5EF4-FFF2-40B4-BE49-F238E27FC236}">
                <a16:creationId xmlns:a16="http://schemas.microsoft.com/office/drawing/2014/main" id="{A79E932F-0369-4FBD-76F6-59C6CED37DE5}"/>
              </a:ext>
            </a:extLst>
          </p:cNvPr>
          <p:cNvSpPr txBox="1"/>
          <p:nvPr/>
        </p:nvSpPr>
        <p:spPr>
          <a:xfrm>
            <a:off x="965200" y="4521200"/>
            <a:ext cx="2362199" cy="369332"/>
          </a:xfrm>
          <a:prstGeom prst="rect">
            <a:avLst/>
          </a:prstGeom>
          <a:noFill/>
        </p:spPr>
        <p:txBody>
          <a:bodyPr wrap="square" rtlCol="0">
            <a:spAutoFit/>
          </a:bodyPr>
          <a:lstStyle/>
          <a:p>
            <a:r>
              <a:rPr lang="en-US" dirty="0"/>
              <a:t>2 types of input data</a:t>
            </a:r>
          </a:p>
        </p:txBody>
      </p:sp>
      <p:sp>
        <p:nvSpPr>
          <p:cNvPr id="10" name="TextBox 9">
            <a:extLst>
              <a:ext uri="{FF2B5EF4-FFF2-40B4-BE49-F238E27FC236}">
                <a16:creationId xmlns:a16="http://schemas.microsoft.com/office/drawing/2014/main" id="{C365D4B4-53B9-D404-A314-7E144280A57F}"/>
              </a:ext>
            </a:extLst>
          </p:cNvPr>
          <p:cNvSpPr txBox="1"/>
          <p:nvPr/>
        </p:nvSpPr>
        <p:spPr>
          <a:xfrm>
            <a:off x="1117601" y="2489200"/>
            <a:ext cx="1701800" cy="369332"/>
          </a:xfrm>
          <a:prstGeom prst="rect">
            <a:avLst/>
          </a:prstGeom>
          <a:noFill/>
        </p:spPr>
        <p:txBody>
          <a:bodyPr wrap="square" rtlCol="0">
            <a:spAutoFit/>
          </a:bodyPr>
          <a:lstStyle/>
          <a:p>
            <a:r>
              <a:rPr lang="en-US" dirty="0"/>
              <a:t>2 objectives</a:t>
            </a:r>
          </a:p>
        </p:txBody>
      </p:sp>
      <p:cxnSp>
        <p:nvCxnSpPr>
          <p:cNvPr id="12" name="Connector: Curved 11">
            <a:extLst>
              <a:ext uri="{FF2B5EF4-FFF2-40B4-BE49-F238E27FC236}">
                <a16:creationId xmlns:a16="http://schemas.microsoft.com/office/drawing/2014/main" id="{7701B3DB-D9AE-96D3-46B3-DC115F2BE774}"/>
              </a:ext>
            </a:extLst>
          </p:cNvPr>
          <p:cNvCxnSpPr>
            <a:stCxn id="10" idx="3"/>
          </p:cNvCxnSpPr>
          <p:nvPr/>
        </p:nvCxnSpPr>
        <p:spPr>
          <a:xfrm>
            <a:off x="2819401" y="2673866"/>
            <a:ext cx="1896532" cy="893633"/>
          </a:xfrm>
          <a:prstGeom prst="curvedConnector3">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Curved 13">
            <a:extLst>
              <a:ext uri="{FF2B5EF4-FFF2-40B4-BE49-F238E27FC236}">
                <a16:creationId xmlns:a16="http://schemas.microsoft.com/office/drawing/2014/main" id="{B82EA0D0-3B75-1C63-CC64-B607AEAA8947}"/>
              </a:ext>
            </a:extLst>
          </p:cNvPr>
          <p:cNvCxnSpPr>
            <a:stCxn id="6" idx="3"/>
          </p:cNvCxnSpPr>
          <p:nvPr/>
        </p:nvCxnSpPr>
        <p:spPr>
          <a:xfrm flipV="1">
            <a:off x="2667001" y="3567499"/>
            <a:ext cx="1904999" cy="46167"/>
          </a:xfrm>
          <a:prstGeom prst="curvedConnector3">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Connector: Curved 15">
            <a:extLst>
              <a:ext uri="{FF2B5EF4-FFF2-40B4-BE49-F238E27FC236}">
                <a16:creationId xmlns:a16="http://schemas.microsoft.com/office/drawing/2014/main" id="{57409471-269D-8B27-8817-19F0E5D23DCE}"/>
              </a:ext>
            </a:extLst>
          </p:cNvPr>
          <p:cNvCxnSpPr>
            <a:stCxn id="8" idx="3"/>
          </p:cNvCxnSpPr>
          <p:nvPr/>
        </p:nvCxnSpPr>
        <p:spPr>
          <a:xfrm flipV="1">
            <a:off x="3327399" y="3567499"/>
            <a:ext cx="1244601" cy="1138367"/>
          </a:xfrm>
          <a:prstGeom prst="curvedConnector3">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0569602B-703B-21D4-7672-6814DA1A1B3D}"/>
              </a:ext>
            </a:extLst>
          </p:cNvPr>
          <p:cNvSpPr txBox="1"/>
          <p:nvPr/>
        </p:nvSpPr>
        <p:spPr>
          <a:xfrm>
            <a:off x="5113867" y="3396734"/>
            <a:ext cx="1701800" cy="646331"/>
          </a:xfrm>
          <a:prstGeom prst="rect">
            <a:avLst/>
          </a:prstGeom>
          <a:noFill/>
        </p:spPr>
        <p:txBody>
          <a:bodyPr wrap="square" rtlCol="0">
            <a:spAutoFit/>
          </a:bodyPr>
          <a:lstStyle/>
          <a:p>
            <a:r>
              <a:rPr lang="en-US" dirty="0"/>
              <a:t>*image of </a:t>
            </a:r>
            <a:r>
              <a:rPr lang="en-US" dirty="0" err="1"/>
              <a:t>blackbox</a:t>
            </a:r>
            <a:r>
              <a:rPr lang="en-US" dirty="0"/>
              <a:t>*</a:t>
            </a:r>
          </a:p>
        </p:txBody>
      </p:sp>
    </p:spTree>
    <p:extLst>
      <p:ext uri="{BB962C8B-B14F-4D97-AF65-F5344CB8AC3E}">
        <p14:creationId xmlns:p14="http://schemas.microsoft.com/office/powerpoint/2010/main" val="683771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55194-E93C-BC0F-29EE-BDE49ACA54AD}"/>
              </a:ext>
            </a:extLst>
          </p:cNvPr>
          <p:cNvSpPr>
            <a:spLocks noGrp="1"/>
          </p:cNvSpPr>
          <p:nvPr>
            <p:ph type="title"/>
          </p:nvPr>
        </p:nvSpPr>
        <p:spPr/>
        <p:txBody>
          <a:bodyPr/>
          <a:lstStyle/>
          <a:p>
            <a:r>
              <a:rPr lang="en-US" dirty="0"/>
              <a:t>Multi-material additive manufacturing supplies that data fast — single-build co-fabrication, with no joining of parts.</a:t>
            </a:r>
          </a:p>
        </p:txBody>
      </p:sp>
      <p:pic>
        <p:nvPicPr>
          <p:cNvPr id="3" name="TT3_01 Figuring Out TPU Print Parameters (part 1)">
            <a:hlinkClick r:id="" action="ppaction://media"/>
            <a:extLst>
              <a:ext uri="{FF2B5EF4-FFF2-40B4-BE49-F238E27FC236}">
                <a16:creationId xmlns:a16="http://schemas.microsoft.com/office/drawing/2014/main" id="{5E9B6FFC-762C-ECE3-E95C-030F3B3A7228}"/>
              </a:ext>
            </a:extLst>
          </p:cNvPr>
          <p:cNvPicPr>
            <a:picLocks noChangeAspect="1"/>
          </p:cNvPicPr>
          <p:nvPr>
            <a:videoFile r:link="rId1"/>
            <p:extLst>
              <p:ext uri="{DAA4B4D4-6D71-4841-9C94-3DE7FCFB9230}">
                <p14:media xmlns:p14="http://schemas.microsoft.com/office/powerpoint/2010/main" r:embed="rId2">
                  <p14:trim end="864.2805"/>
                </p14:media>
              </p:ext>
            </p:extLst>
          </p:nvPr>
        </p:nvPicPr>
        <p:blipFill>
          <a:blip r:embed="rId5"/>
          <a:stretch>
            <a:fillRect/>
          </a:stretch>
        </p:blipFill>
        <p:spPr>
          <a:xfrm>
            <a:off x="211667" y="2275417"/>
            <a:ext cx="6252633" cy="4019550"/>
          </a:xfrm>
          <a:prstGeom prst="rect">
            <a:avLst/>
          </a:prstGeom>
        </p:spPr>
      </p:pic>
      <p:pic>
        <p:nvPicPr>
          <p:cNvPr id="5" name="Picture 4">
            <a:extLst>
              <a:ext uri="{FF2B5EF4-FFF2-40B4-BE49-F238E27FC236}">
                <a16:creationId xmlns:a16="http://schemas.microsoft.com/office/drawing/2014/main" id="{74495B16-D5BD-AE3E-C67B-A1D04BFC9A5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42100" y="2291292"/>
            <a:ext cx="5338233" cy="4003675"/>
          </a:xfrm>
          <a:prstGeom prst="rect">
            <a:avLst/>
          </a:prstGeom>
        </p:spPr>
      </p:pic>
    </p:spTree>
    <p:extLst>
      <p:ext uri="{BB962C8B-B14F-4D97-AF65-F5344CB8AC3E}">
        <p14:creationId xmlns:p14="http://schemas.microsoft.com/office/powerpoint/2010/main" val="2047012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669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3"/>
                </p:tgtEl>
              </p:cMediaNode>
            </p:video>
            <p:seq concurrent="1" nextAc="seek">
              <p:cTn id="12" restart="whenNotActive" fill="hold" evtFilter="cancelBubble" nodeType="interactiveSeq">
                <p:stCondLst>
                  <p:cond evt="onClick" delay="0">
                    <p:tgtEl>
                      <p:spTgt spid="3"/>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40476-7C7A-C9D1-6AB4-F04BF7C14E5B}"/>
              </a:ext>
            </a:extLst>
          </p:cNvPr>
          <p:cNvSpPr>
            <a:spLocks noGrp="1"/>
          </p:cNvSpPr>
          <p:nvPr>
            <p:ph type="title"/>
          </p:nvPr>
        </p:nvSpPr>
        <p:spPr/>
        <p:txBody>
          <a:bodyPr/>
          <a:lstStyle/>
          <a:p>
            <a:r>
              <a:rPr lang="en-US" dirty="0"/>
              <a:t>We use a drop tower and accelerometers to gather real data on these 3D-printed specimens.</a:t>
            </a:r>
          </a:p>
        </p:txBody>
      </p:sp>
      <p:sp>
        <p:nvSpPr>
          <p:cNvPr id="4" name="TextBox 3">
            <a:extLst>
              <a:ext uri="{FF2B5EF4-FFF2-40B4-BE49-F238E27FC236}">
                <a16:creationId xmlns:a16="http://schemas.microsoft.com/office/drawing/2014/main" id="{60544246-A097-752F-2B75-84C4D9E62753}"/>
              </a:ext>
            </a:extLst>
          </p:cNvPr>
          <p:cNvSpPr txBox="1"/>
          <p:nvPr/>
        </p:nvSpPr>
        <p:spPr>
          <a:xfrm>
            <a:off x="1388533" y="3429000"/>
            <a:ext cx="2099734" cy="923330"/>
          </a:xfrm>
          <a:prstGeom prst="rect">
            <a:avLst/>
          </a:prstGeom>
          <a:noFill/>
        </p:spPr>
        <p:txBody>
          <a:bodyPr wrap="square" rtlCol="0">
            <a:spAutoFit/>
          </a:bodyPr>
          <a:lstStyle/>
          <a:p>
            <a:r>
              <a:rPr lang="en-US" dirty="0"/>
              <a:t>*placeholder for looped gif of drop test at 60 in*</a:t>
            </a:r>
          </a:p>
        </p:txBody>
      </p:sp>
      <p:sp>
        <p:nvSpPr>
          <p:cNvPr id="6" name="TextBox 5">
            <a:extLst>
              <a:ext uri="{FF2B5EF4-FFF2-40B4-BE49-F238E27FC236}">
                <a16:creationId xmlns:a16="http://schemas.microsoft.com/office/drawing/2014/main" id="{55AB2C7A-A8C1-71A9-CAAB-DB52922AD54F}"/>
              </a:ext>
            </a:extLst>
          </p:cNvPr>
          <p:cNvSpPr txBox="1"/>
          <p:nvPr/>
        </p:nvSpPr>
        <p:spPr>
          <a:xfrm>
            <a:off x="8068733" y="3429000"/>
            <a:ext cx="2099734" cy="923330"/>
          </a:xfrm>
          <a:prstGeom prst="rect">
            <a:avLst/>
          </a:prstGeom>
          <a:noFill/>
        </p:spPr>
        <p:txBody>
          <a:bodyPr wrap="square" rtlCol="0">
            <a:spAutoFit/>
          </a:bodyPr>
          <a:lstStyle/>
          <a:p>
            <a:r>
              <a:rPr lang="en-US" dirty="0"/>
              <a:t>*placeholder for </a:t>
            </a:r>
            <a:r>
              <a:rPr lang="en-US" dirty="0" err="1"/>
              <a:t>slo</a:t>
            </a:r>
            <a:r>
              <a:rPr lang="en-US" dirty="0"/>
              <a:t> motion of drop test*</a:t>
            </a:r>
          </a:p>
        </p:txBody>
      </p:sp>
    </p:spTree>
    <p:extLst>
      <p:ext uri="{BB962C8B-B14F-4D97-AF65-F5344CB8AC3E}">
        <p14:creationId xmlns:p14="http://schemas.microsoft.com/office/powerpoint/2010/main" val="1839427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0566D-7C68-D713-F451-3D1AF0D6D9E2}"/>
              </a:ext>
            </a:extLst>
          </p:cNvPr>
          <p:cNvSpPr>
            <a:spLocks noGrp="1"/>
          </p:cNvSpPr>
          <p:nvPr>
            <p:ph type="title"/>
          </p:nvPr>
        </p:nvSpPr>
        <p:spPr/>
        <p:txBody>
          <a:bodyPr/>
          <a:lstStyle/>
          <a:p>
            <a:r>
              <a:rPr lang="en-US" dirty="0"/>
              <a:t>By connecting these ideas, we significantly accelerate the workflow to optimize tensegrity inspired structures:</a:t>
            </a:r>
          </a:p>
        </p:txBody>
      </p:sp>
      <p:sp>
        <p:nvSpPr>
          <p:cNvPr id="4" name="TextBox 3">
            <a:extLst>
              <a:ext uri="{FF2B5EF4-FFF2-40B4-BE49-F238E27FC236}">
                <a16:creationId xmlns:a16="http://schemas.microsoft.com/office/drawing/2014/main" id="{EB6A7FEF-B553-FD40-3AF1-6C3CFA512C7B}"/>
              </a:ext>
            </a:extLst>
          </p:cNvPr>
          <p:cNvSpPr txBox="1"/>
          <p:nvPr/>
        </p:nvSpPr>
        <p:spPr>
          <a:xfrm>
            <a:off x="5049829" y="1705576"/>
            <a:ext cx="1989615" cy="584775"/>
          </a:xfrm>
          <a:prstGeom prst="rect">
            <a:avLst/>
          </a:prstGeom>
          <a:noFill/>
        </p:spPr>
        <p:txBody>
          <a:bodyPr wrap="square" rtlCol="0">
            <a:spAutoFit/>
          </a:bodyPr>
          <a:lstStyle/>
          <a:p>
            <a:r>
              <a:rPr lang="en-US" sz="3200" dirty="0"/>
              <a:t>Printing</a:t>
            </a:r>
          </a:p>
        </p:txBody>
      </p:sp>
      <p:sp>
        <p:nvSpPr>
          <p:cNvPr id="6" name="TextBox 5">
            <a:extLst>
              <a:ext uri="{FF2B5EF4-FFF2-40B4-BE49-F238E27FC236}">
                <a16:creationId xmlns:a16="http://schemas.microsoft.com/office/drawing/2014/main" id="{F472E982-33D2-0EF9-84D1-3BA0041244B7}"/>
              </a:ext>
            </a:extLst>
          </p:cNvPr>
          <p:cNvSpPr txBox="1"/>
          <p:nvPr/>
        </p:nvSpPr>
        <p:spPr>
          <a:xfrm>
            <a:off x="6279152" y="4665686"/>
            <a:ext cx="1989615" cy="584775"/>
          </a:xfrm>
          <a:prstGeom prst="rect">
            <a:avLst/>
          </a:prstGeom>
          <a:noFill/>
        </p:spPr>
        <p:txBody>
          <a:bodyPr wrap="square" rtlCol="0">
            <a:spAutoFit/>
          </a:bodyPr>
          <a:lstStyle/>
          <a:p>
            <a:r>
              <a:rPr lang="en-US" sz="3200" dirty="0"/>
              <a:t>Testing</a:t>
            </a:r>
          </a:p>
        </p:txBody>
      </p:sp>
      <p:sp>
        <p:nvSpPr>
          <p:cNvPr id="8" name="TextBox 7">
            <a:extLst>
              <a:ext uri="{FF2B5EF4-FFF2-40B4-BE49-F238E27FC236}">
                <a16:creationId xmlns:a16="http://schemas.microsoft.com/office/drawing/2014/main" id="{6036A19F-5848-0AD1-2CDB-7DF630FB9C8C}"/>
              </a:ext>
            </a:extLst>
          </p:cNvPr>
          <p:cNvSpPr txBox="1"/>
          <p:nvPr/>
        </p:nvSpPr>
        <p:spPr>
          <a:xfrm>
            <a:off x="3089528" y="4541895"/>
            <a:ext cx="1989615" cy="584775"/>
          </a:xfrm>
          <a:prstGeom prst="rect">
            <a:avLst/>
          </a:prstGeom>
          <a:noFill/>
        </p:spPr>
        <p:txBody>
          <a:bodyPr wrap="square" rtlCol="0">
            <a:spAutoFit/>
          </a:bodyPr>
          <a:lstStyle/>
          <a:p>
            <a:r>
              <a:rPr lang="en-US" sz="3200" dirty="0"/>
              <a:t>BO feed</a:t>
            </a:r>
          </a:p>
        </p:txBody>
      </p:sp>
      <p:pic>
        <p:nvPicPr>
          <p:cNvPr id="15" name="Picture 14">
            <a:extLst>
              <a:ext uri="{FF2B5EF4-FFF2-40B4-BE49-F238E27FC236}">
                <a16:creationId xmlns:a16="http://schemas.microsoft.com/office/drawing/2014/main" id="{B4BF7CDE-8E37-F236-680D-478C6E23AEA4}"/>
              </a:ext>
            </a:extLst>
          </p:cNvPr>
          <p:cNvPicPr>
            <a:picLocks noChangeAspect="1"/>
          </p:cNvPicPr>
          <p:nvPr/>
        </p:nvPicPr>
        <p:blipFill>
          <a:blip r:embed="rId3"/>
          <a:stretch>
            <a:fillRect/>
          </a:stretch>
        </p:blipFill>
        <p:spPr>
          <a:xfrm rot="1008590">
            <a:off x="4616169" y="5024699"/>
            <a:ext cx="2166954" cy="1119353"/>
          </a:xfrm>
          <a:prstGeom prst="rect">
            <a:avLst/>
          </a:prstGeom>
        </p:spPr>
      </p:pic>
      <p:pic>
        <p:nvPicPr>
          <p:cNvPr id="17" name="Picture 16">
            <a:extLst>
              <a:ext uri="{FF2B5EF4-FFF2-40B4-BE49-F238E27FC236}">
                <a16:creationId xmlns:a16="http://schemas.microsoft.com/office/drawing/2014/main" id="{B375467E-686C-E66F-8182-20E0BA5E87FA}"/>
              </a:ext>
            </a:extLst>
          </p:cNvPr>
          <p:cNvPicPr>
            <a:picLocks noChangeAspect="1"/>
          </p:cNvPicPr>
          <p:nvPr/>
        </p:nvPicPr>
        <p:blipFill>
          <a:blip r:embed="rId3"/>
          <a:stretch>
            <a:fillRect/>
          </a:stretch>
        </p:blipFill>
        <p:spPr>
          <a:xfrm rot="7748499">
            <a:off x="3000858" y="2618910"/>
            <a:ext cx="2166954" cy="1119353"/>
          </a:xfrm>
          <a:prstGeom prst="rect">
            <a:avLst/>
          </a:prstGeom>
        </p:spPr>
      </p:pic>
      <p:pic>
        <p:nvPicPr>
          <p:cNvPr id="19" name="Picture 18">
            <a:extLst>
              <a:ext uri="{FF2B5EF4-FFF2-40B4-BE49-F238E27FC236}">
                <a16:creationId xmlns:a16="http://schemas.microsoft.com/office/drawing/2014/main" id="{DA485992-7BA5-A715-B2DB-648B94244F02}"/>
              </a:ext>
            </a:extLst>
          </p:cNvPr>
          <p:cNvPicPr>
            <a:picLocks noChangeAspect="1"/>
          </p:cNvPicPr>
          <p:nvPr/>
        </p:nvPicPr>
        <p:blipFill>
          <a:blip r:embed="rId3"/>
          <a:stretch>
            <a:fillRect/>
          </a:stretch>
        </p:blipFill>
        <p:spPr>
          <a:xfrm rot="16200000">
            <a:off x="6515644" y="2745129"/>
            <a:ext cx="2166954" cy="1119353"/>
          </a:xfrm>
          <a:prstGeom prst="rect">
            <a:avLst/>
          </a:prstGeom>
        </p:spPr>
      </p:pic>
      <p:pic>
        <p:nvPicPr>
          <p:cNvPr id="9" name="Graphic 8">
            <a:extLst>
              <a:ext uri="{FF2B5EF4-FFF2-40B4-BE49-F238E27FC236}">
                <a16:creationId xmlns:a16="http://schemas.microsoft.com/office/drawing/2014/main" id="{149AD7CD-DCC9-14C2-4401-25A3AF265F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83696" y="2602383"/>
            <a:ext cx="2231899" cy="2231899"/>
          </a:xfrm>
          <a:prstGeom prst="rect">
            <a:avLst/>
          </a:prstGeom>
        </p:spPr>
      </p:pic>
    </p:spTree>
    <p:extLst>
      <p:ext uri="{BB962C8B-B14F-4D97-AF65-F5344CB8AC3E}">
        <p14:creationId xmlns:p14="http://schemas.microsoft.com/office/powerpoint/2010/main" val="3926849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C4815-CFEC-11FA-8403-DD9347F0A060}"/>
              </a:ext>
            </a:extLst>
          </p:cNvPr>
          <p:cNvSpPr>
            <a:spLocks noGrp="1"/>
          </p:cNvSpPr>
          <p:nvPr>
            <p:ph type="title"/>
          </p:nvPr>
        </p:nvSpPr>
        <p:spPr/>
        <p:txBody>
          <a:bodyPr/>
          <a:lstStyle/>
          <a:p>
            <a:r>
              <a:rPr lang="en-US" dirty="0"/>
              <a:t>Reserved for results</a:t>
            </a:r>
          </a:p>
        </p:txBody>
      </p:sp>
    </p:spTree>
    <p:extLst>
      <p:ext uri="{BB962C8B-B14F-4D97-AF65-F5344CB8AC3E}">
        <p14:creationId xmlns:p14="http://schemas.microsoft.com/office/powerpoint/2010/main" val="2069072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71D46-8FEC-E841-DCC9-1A29AFE7B4BF}"/>
              </a:ext>
            </a:extLst>
          </p:cNvPr>
          <p:cNvSpPr>
            <a:spLocks noGrp="1"/>
          </p:cNvSpPr>
          <p:nvPr>
            <p:ph type="title"/>
          </p:nvPr>
        </p:nvSpPr>
        <p:spPr/>
        <p:txBody>
          <a:bodyPr/>
          <a:lstStyle/>
          <a:p>
            <a:r>
              <a:rPr lang="en-US" dirty="0"/>
              <a:t>We will take this workflow and use it for some of the vast potential applications of tensegrity.</a:t>
            </a:r>
          </a:p>
        </p:txBody>
      </p:sp>
      <p:sp>
        <p:nvSpPr>
          <p:cNvPr id="3" name="TextBox 2">
            <a:extLst>
              <a:ext uri="{FF2B5EF4-FFF2-40B4-BE49-F238E27FC236}">
                <a16:creationId xmlns:a16="http://schemas.microsoft.com/office/drawing/2014/main" id="{81911DDC-EE07-BD5D-E359-CBBE72DBCB30}"/>
              </a:ext>
            </a:extLst>
          </p:cNvPr>
          <p:cNvSpPr txBox="1"/>
          <p:nvPr/>
        </p:nvSpPr>
        <p:spPr>
          <a:xfrm>
            <a:off x="1312333" y="2667000"/>
            <a:ext cx="3606800" cy="923330"/>
          </a:xfrm>
          <a:prstGeom prst="rect">
            <a:avLst/>
          </a:prstGeom>
          <a:noFill/>
        </p:spPr>
        <p:txBody>
          <a:bodyPr wrap="square" rtlCol="0">
            <a:spAutoFit/>
          </a:bodyPr>
          <a:lstStyle/>
          <a:p>
            <a:r>
              <a:rPr lang="en-US" dirty="0"/>
              <a:t>*image of crutch tip, perhaps from that paper and properly attributed*</a:t>
            </a:r>
          </a:p>
        </p:txBody>
      </p:sp>
      <p:sp>
        <p:nvSpPr>
          <p:cNvPr id="4" name="TextBox 3">
            <a:extLst>
              <a:ext uri="{FF2B5EF4-FFF2-40B4-BE49-F238E27FC236}">
                <a16:creationId xmlns:a16="http://schemas.microsoft.com/office/drawing/2014/main" id="{108E89AC-FC81-1770-D8D8-5DDC98059AFD}"/>
              </a:ext>
            </a:extLst>
          </p:cNvPr>
          <p:cNvSpPr txBox="1"/>
          <p:nvPr/>
        </p:nvSpPr>
        <p:spPr>
          <a:xfrm>
            <a:off x="7247467" y="2463800"/>
            <a:ext cx="3793066" cy="369332"/>
          </a:xfrm>
          <a:prstGeom prst="rect">
            <a:avLst/>
          </a:prstGeom>
          <a:noFill/>
        </p:spPr>
        <p:txBody>
          <a:bodyPr wrap="square" rtlCol="0">
            <a:spAutoFit/>
          </a:bodyPr>
          <a:lstStyle/>
          <a:p>
            <a:r>
              <a:rPr lang="en-US" dirty="0"/>
              <a:t>*image to show lattice structure</a:t>
            </a:r>
          </a:p>
        </p:txBody>
      </p:sp>
    </p:spTree>
    <p:extLst>
      <p:ext uri="{BB962C8B-B14F-4D97-AF65-F5344CB8AC3E}">
        <p14:creationId xmlns:p14="http://schemas.microsoft.com/office/powerpoint/2010/main" val="2441445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DD8EBA-3D1D-248B-7087-37BD44539528}"/>
              </a:ext>
            </a:extLst>
          </p:cNvPr>
          <p:cNvPicPr>
            <a:picLocks noChangeAspect="1"/>
          </p:cNvPicPr>
          <p:nvPr/>
        </p:nvPicPr>
        <p:blipFill>
          <a:blip r:embed="rId3"/>
          <a:stretch>
            <a:fillRect/>
          </a:stretch>
        </p:blipFill>
        <p:spPr>
          <a:xfrm>
            <a:off x="2597398" y="2309703"/>
            <a:ext cx="6997204" cy="2238593"/>
          </a:xfrm>
          <a:prstGeom prst="rect">
            <a:avLst/>
          </a:prstGeom>
        </p:spPr>
      </p:pic>
    </p:spTree>
    <p:extLst>
      <p:ext uri="{BB962C8B-B14F-4D97-AF65-F5344CB8AC3E}">
        <p14:creationId xmlns:p14="http://schemas.microsoft.com/office/powerpoint/2010/main" val="2295898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3915719"/>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a:solidFill>
            <a:schemeClr val="tx1"/>
          </a:solid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tx1"/>
          </a:solidFill>
        </a:ln>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lank.potx" id="{583A4490-4107-4867-98B6-E209B4695BA6}" vid="{EEDB0EC2-2D00-4AAF-BCF4-B17A9EE8DB6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F002C6D2083C14D880425A2D512A95A" ma:contentTypeVersion="11" ma:contentTypeDescription="Create a new document." ma:contentTypeScope="" ma:versionID="2e327afab502282238ba3f59b97ea26c">
  <xsd:schema xmlns:xsd="http://www.w3.org/2001/XMLSchema" xmlns:xs="http://www.w3.org/2001/XMLSchema" xmlns:p="http://schemas.microsoft.com/office/2006/metadata/properties" xmlns:ns3="2b374ecd-bf80-4cf8-b454-4082db99efce" targetNamespace="http://schemas.microsoft.com/office/2006/metadata/properties" ma:root="true" ma:fieldsID="1dc70f757040af9f8f2d79e49b073c0f" ns3:_="">
    <xsd:import namespace="2b374ecd-bf80-4cf8-b454-4082db99efce"/>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element ref="ns3:MediaServiceLocation" minOccurs="0"/>
                <xsd:element ref="ns3:MediaLengthInSecond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374ecd-bf80-4cf8-b454-4082db99efce"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_activity" ma:index="18"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2b374ecd-bf80-4cf8-b454-4082db99efce" xsi:nil="true"/>
  </documentManagement>
</p:properties>
</file>

<file path=customXml/itemProps1.xml><?xml version="1.0" encoding="utf-8"?>
<ds:datastoreItem xmlns:ds="http://schemas.openxmlformats.org/officeDocument/2006/customXml" ds:itemID="{CB2F0077-FF83-4755-8F87-4234A4EB89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b374ecd-bf80-4cf8-b454-4082db99efc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6FB9829-5056-466B-B692-7122D2296D9E}">
  <ds:schemaRefs>
    <ds:schemaRef ds:uri="http://schemas.microsoft.com/sharepoint/v3/contenttype/forms"/>
  </ds:schemaRefs>
</ds:datastoreItem>
</file>

<file path=customXml/itemProps3.xml><?xml version="1.0" encoding="utf-8"?>
<ds:datastoreItem xmlns:ds="http://schemas.openxmlformats.org/officeDocument/2006/customXml" ds:itemID="{648F5A07-DD19-4724-95E6-12EFE2F5C777}">
  <ds:schemaRefs>
    <ds:schemaRef ds:uri="2b374ecd-bf80-4cf8-b454-4082db99efce"/>
    <ds:schemaRef ds:uri="http://purl.org/dc/dcmitype/"/>
    <ds:schemaRef ds:uri="http://www.w3.org/XML/1998/namespace"/>
    <ds:schemaRef ds:uri="http://purl.org/dc/elements/1.1/"/>
    <ds:schemaRef ds:uri="http://purl.org/dc/terms/"/>
    <ds:schemaRef ds:uri="http://schemas.openxmlformats.org/package/2006/metadata/core-properties"/>
    <ds:schemaRef ds:uri="http://schemas.microsoft.com/office/infopath/2007/PartnerControls"/>
    <ds:schemaRef ds:uri="http://schemas.microsoft.com/office/2006/documentManagement/types"/>
    <ds:schemaRef ds:uri="http://schemas.microsoft.com/office/2006/metadata/properties"/>
  </ds:schemaRefs>
</ds:datastoreItem>
</file>

<file path=docMetadata/LabelInfo.xml><?xml version="1.0" encoding="utf-8"?>
<clbl:labelList xmlns:clbl="http://schemas.microsoft.com/office/2020/mipLabelMetadata">
  <clbl:label id="{78aac226-2f03-4b4d-9037-b46d56c55210}" enabled="0" method="" siteId="{78aac226-2f03-4b4d-9037-b46d56c55210}" removed="1"/>
</clbl:labelList>
</file>

<file path=docProps/app.xml><?xml version="1.0" encoding="utf-8"?>
<Properties xmlns="http://schemas.openxmlformats.org/officeDocument/2006/extended-properties" xmlns:vt="http://schemas.openxmlformats.org/officeDocument/2006/docPropsVTypes">
  <Template>blank</Template>
  <TotalTime>4745</TotalTime>
  <Words>870</Words>
  <Application>Microsoft Office PowerPoint</Application>
  <PresentationFormat>Widescreen</PresentationFormat>
  <Paragraphs>69</Paragraphs>
  <Slides>14</Slides>
  <Notes>11</Notes>
  <HiddenSlides>4</HiddenSlides>
  <MMClips>4</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Cambria Math</vt:lpstr>
      <vt:lpstr>Rubik</vt:lpstr>
      <vt:lpstr>Custom Design</vt:lpstr>
      <vt:lpstr>Let’s build better tensegrity structures faster</vt:lpstr>
      <vt:lpstr>Tensegrity provides robust, reusable, solutions to issues posed by planetary landings—and to problems closer to home.</vt:lpstr>
      <vt:lpstr>Could use a slide to talk about why tensegrity is useful (i.e. avoiding mechanical ware due to struts isolated in sea of tensile moments)</vt:lpstr>
      <vt:lpstr>Currently, tensegrity design is slow and resource intensive.</vt:lpstr>
      <vt:lpstr>Bayesian Optimization makes physical experimentation affordable.</vt:lpstr>
      <vt:lpstr>Model calibration and testing are costly, so we need to be careful about what specimens we choose.</vt:lpstr>
      <vt:lpstr>Bayesian optimization makes physical experimentation affordable, even with limited, noisy data.</vt:lpstr>
      <vt:lpstr>Multi-material additive manufacturing supplies that data fast — single-build co-fabrication, with no joining of parts.</vt:lpstr>
      <vt:lpstr>We use a drop tower and accelerometers to gather real data on these 3D-printed specimens.</vt:lpstr>
      <vt:lpstr>By connecting these ideas, we significantly accelerate the workflow to optimize tensegrity inspired structures:</vt:lpstr>
      <vt:lpstr>Reserved for results</vt:lpstr>
      <vt:lpstr>We will take this workflow and use it for some of the vast potential applications of tensegrity.</vt:lpstr>
      <vt:lpstr>PowerPoint Presentation</vt:lpstr>
      <vt:lpstr>PowerPoint Presentation</vt:lpstr>
    </vt:vector>
  </TitlesOfParts>
  <Company>University of Toronto Faculty of Arts and Science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Sterling Baird</dc:creator>
  <cp:lastModifiedBy>Marcus Madsen</cp:lastModifiedBy>
  <cp:revision>9</cp:revision>
  <dcterms:created xsi:type="dcterms:W3CDTF">2025-12-02T18:46:14Z</dcterms:created>
  <dcterms:modified xsi:type="dcterms:W3CDTF">2026-07-22T22:38:27Z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0x0101004F002C6D2083C14D880425A2D512A95A</vt:lpwstr>
  </property>
  <property fmtid="{D5CDD505-2E9C-101B-9397-08002B2CF9AE}" pid="3" name="MediaServiceImageTags">
    <vt:lpwstr/>
  </property>
</Properties>
</file>